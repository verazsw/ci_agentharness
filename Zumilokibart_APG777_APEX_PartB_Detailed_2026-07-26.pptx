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summarizes the APEX Phase 2 Part B 16-week topline data for zumilokibart (APG777), presented by Apogee Therapeutics on May 27, 2026. Zumilokibart is a next-generation anti-IL-13 antibody with an extended half-life enabling Q12W–Q24W dosing. This readout supports Phase 3 (ADventure) initiation in 2H 2026 with a planned 2029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Zumilokibart is Apogee Therapeutics' lead asset. It targets IL-13 — the same cytokine as lebrikizumab (Ebglyss) and tralokinumab (Adbry). The key differentiator is the YTE Fc modification that extends the half-life, enabling much less frequent dosing (Q12W or Q24W maintenance vs Q2W for dupilumab/lebrikizumab). Apogee was founded in 2022, has a Blackstone financing deal for commercialization. Also developing APG273 (anti-TSLP). NCT05964504.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YTE modification (M252Y/S254T/T256E in the Fc region) increases FcRn binding affinity and extends serum half-life. For lebrikizumab, dosing is Q2W induction then Q2W or Q4W maintenance. Zumilokibart's dosing convenience advantage is substantial: 2-4 annual injections vs 26 for dupilumab. However, all IL-13 agents carry conjunctivitis risk. The question is whether efficacy is maintained at these extended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STUDY DESIGN:</a:t>
            </a:r>
          </a:p>
          <a:p>
            <a:r>
              <a:t>- 347 patients randomized but 1 not dosed → 346 mITT population</a:t>
            </a:r>
          </a:p>
          <a:p>
            <a:r>
              <a:t>- Mid dose is the planned Phase 3 dose (same as Part A)</a:t>
            </a:r>
          </a:p>
          <a:p>
            <a:r>
              <a:t>- Primary analysis: Markov Chain Monte Carlo Multiple Imputation (MCMC-MI)</a:t>
            </a:r>
          </a:p>
          <a:p>
            <a:r>
              <a:t>- Rescue medication or discontinuation for lack of efficacy = non-responder</a:t>
            </a:r>
          </a:p>
          <a:p/>
          <a:p>
            <a:r>
              <a:t>BASELINE (Mid dose): Age 39.9y, Female 52.9%, Weight 76.4kg, EASI 26.0, vIGA(4) 36.5%, I-NRS 7.0, BSA 40.0%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RESULTS (all arms at Wk16):</a:t>
            </a:r>
          </a:p>
          <a:p>
            <a:r>
              <a:t>- EASI-75: Low 52.3%, Mid 65.9%, High 63.2%, PBO 23.4%</a:t>
            </a:r>
          </a:p>
          <a:p>
            <a:r>
              <a:t>- IGA 0/1: Low 31.4%, Mid 46.0%, High 42.5%, PBO 10.9%</a:t>
            </a:r>
          </a:p>
          <a:p>
            <a:r>
              <a:t>- EASI-90: Low 33.7%, Mid 47.4%, High 44.8%, PBO 9.3%</a:t>
            </a:r>
          </a:p>
          <a:p>
            <a:r>
              <a:t>- I-NRS4: Low 37.2%, Mid 50.5%, High 50.6%, PBO 13.9%</a:t>
            </a:r>
          </a:p>
          <a:p/>
          <a:p>
            <a:r>
              <a:t>NOTE: 65.9% EASI-75 is notably high for Phase 2 (N=85). Placebo rate (23.4%) higher than SOLO (12.7%), ADVOCATE (15.3%). Treatment difference (Δ=41.9) is the most reliable cross-trial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EASI-75 TIME COURSE:</a:t>
            </a:r>
          </a:p>
          <a:p>
            <a:r>
              <a:t>- Significance achieved for all treatment arms by Week 2</a:t>
            </a:r>
          </a:p>
          <a:p>
            <a:r>
              <a:t>- Mid dose: 12.2% at Wk1, 35.6% at Wk4, 52.6% at Wk8, 59.7% at Wk12, 65.9% at Wk16</a:t>
            </a:r>
          </a:p>
          <a:p>
            <a:r>
              <a:t>- High dose tracks similarly to mid dose throughout</a:t>
            </a:r>
          </a:p>
          <a:p>
            <a:r>
              <a:t>- Continuous improvement suggests potential for further gains beyond Wk16</a:t>
            </a:r>
          </a:p>
          <a:p>
            <a:r>
              <a:t>- Part A 52-week data showed continued 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COMPETITIVE PROFILE (from Apogee press release):</a:t>
            </a:r>
          </a:p>
          <a:p>
            <a:r>
              <a:t>Zumilokibart Mid Dose (N=85) vs DUPIXENT (N=521):</a:t>
            </a:r>
          </a:p>
          <a:p>
            <a:r>
              <a:t>- EASI-75: 65.9 vs 49.5 (Δ from PBO: 41.9 vs 36.8)</a:t>
            </a:r>
          </a:p>
          <a:p>
            <a:r>
              <a:t>- IGA 0/1: 46.0 vs 34.6 (Δ: 34.8 vs 27.8)</a:t>
            </a:r>
          </a:p>
          <a:p>
            <a:r>
              <a:t>- EASI-90: 47.4 vs 31.8 (Δ: 37.8 vs 25.8)</a:t>
            </a:r>
          </a:p>
          <a:p>
            <a:r>
              <a:t>- I-NRS4: 50.5 vs 38.4 (Δ: 36.7 vs 27.5)</a:t>
            </a:r>
          </a:p>
          <a:p/>
          <a:p>
            <a:r>
              <a:t>CAVEATS: Cross-trial only. Zumilokibart PBO 23.4% vs DUPIXENT PBO 12.7% (SOLO). Small N (85) inflates variability.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DETAILS:</a:t>
            </a:r>
          </a:p>
          <a:p>
            <a:r>
              <a:t>- ≥1 TEAE: Low 75.6%, Mid 60.0%, High 67.8%, PBO 67.0%</a:t>
            </a:r>
          </a:p>
          <a:p>
            <a:r>
              <a:t>- ≥1 Serious TEAE: Low 2.3%, Mid 1.2%, High 3.4%, PBO 2.3%</a:t>
            </a:r>
          </a:p>
          <a:p>
            <a:r>
              <a:t>- D/C due to TEAE: Low 1.2%, Mid 2.4%, High 3.4%, PBO 2.3%</a:t>
            </a:r>
          </a:p>
          <a:p/>
          <a:p>
            <a:r>
              <a:t>COMPARATIVE CONJUNCTIVITIS:</a:t>
            </a:r>
          </a:p>
          <a:p>
            <a:r>
              <a:t>- Lebrikizumab Ph3: ~7-8% (ADVOCATE)</a:t>
            </a:r>
          </a:p>
          <a:p>
            <a:r>
              <a:t>- Dupilumab: ~8-10% (SOLO/CAFÉ)</a:t>
            </a:r>
          </a:p>
          <a:p>
            <a:r>
              <a:t>- Tralokinumab: ~7-10% (ECZTRA)</a:t>
            </a:r>
          </a:p>
          <a:p/>
          <a:p>
            <a:r>
              <a:t>Overall well-tolerated, consistent with IL-13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Dupixent (SOLO 1&amp;2 average, NRI); Ebglyss (ADVOCATE 1&amp;2, NRI); Nemluvio (ARCADIA 1&amp;2, NRI, +TCS); Adbry (ECZTRA 1&amp;2, NRI); Amlitelimab (COAST, NRI). Note Nemluvio +TCS inflates vs monotherapy.</a:t>
            </a:r>
          </a:p>
          <a:p/>
          <a:p>
            <a:r>
              <a:t>Zumilokibart's placebo rate (23.4%) is notably higher than historical AD trials (typically 10-15%), which may inflate absolute rates. Δ vs placebo is more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critical question for Lilly: Does zumilokibart threaten lebrikizumab's market position?</a:t>
            </a:r>
          </a:p>
          <a:p/>
          <a:p>
            <a:r>
              <a:t>The dosing advantage is real and substantial (2-4 vs 13-26 injections/year).</a:t>
            </a:r>
          </a:p>
          <a:p>
            <a:r>
              <a:t>However:</a:t>
            </a:r>
          </a:p>
          <a:p>
            <a:r>
              <a:t>1. Lebrikizumab is already approved and launching</a:t>
            </a:r>
          </a:p>
          <a:p>
            <a:r>
              <a:t>2. Zumilokibart won't reach market until ~2029</a:t>
            </a:r>
          </a:p>
          <a:p>
            <a:r>
              <a:t>3. Phase 2 efficacy often doesn't fully translate to Phase 3</a:t>
            </a:r>
          </a:p>
          <a:p>
            <a:r>
              <a:t>4. Higher placebo rate may inflate absolute numbers</a:t>
            </a:r>
          </a:p>
          <a:p/>
          <a:p>
            <a:r>
              <a:t>KEY RISK: If Phase 3 confirms AND convenience drives switching → could cap lebrikizumab's peak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EASI-75:</a:t>
            </a:r>
          </a:p>
          <a:p>
            <a:r>
              <a:t>Ridge plot shows posterior distributions of PBO-adjusted treatment effects.</a:t>
            </a:r>
          </a:p>
          <a:p/>
          <a:p>
            <a:r>
              <a:t>1. Zumilokibart high dose (blue): rightmost peak (~0.45) but very wide distribution.</a:t>
            </a:r>
          </a:p>
          <a:p>
            <a:r>
              <a:t>2. Mid dose (red/pink, Part A+B): peaks ~0.38-0.40, overlapping with upadacitinib 15mg (teal) and dupilumab (green).</a:t>
            </a:r>
          </a:p>
          <a:p>
            <a:r>
              <a:t>3. Lebrikizumab 250mg Q2W (yellow/gold): peaks ~0.33-0.35.</a:t>
            </a:r>
          </a:p>
          <a:p>
            <a:r>
              <a:t>4. Abrocitinib 100mg (gray) and amlitelimab (purple) are lower.</a:t>
            </a:r>
          </a:p>
          <a:p/>
          <a:p>
            <a:r>
              <a:t>LIMITATIONS: Small sample inflates uncertainty. Phase 2 vs Phase 3 data. Different imputation methods.</a:t>
            </a:r>
          </a:p>
          <a:p/>
          <a:p>
            <a:r>
              <a:t>SOURCE: Lilly internal BNMA (Batman model), random-effects, monotherapy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BNMA INTERPRETATION — IGA 0/1:</a:t>
            </a:r>
          </a:p>
          <a:p>
            <a:r>
              <a:t>IGA 0/1 posterior densities show a more compressed landscape than EASI-75.</a:t>
            </a:r>
          </a:p>
          <a:p/>
          <a:p>
            <a:r>
              <a:t>1. Upadacitinib 15mg oral (teal) peaks highest at ~0.35 (JAK class advantage for IGA).</a:t>
            </a:r>
          </a:p>
          <a:p>
            <a:r>
              <a:t>2. Zumilokibart Part A+B mid dose (red) peaks ~0.30-0.32.</a:t>
            </a:r>
          </a:p>
          <a:p>
            <a:r>
              <a:t>3. Dupilumab (green) and Lebrikizumab (yellow) both peak ~0.27-0.29.</a:t>
            </a:r>
          </a:p>
          <a:p>
            <a:r>
              <a:t>4. Abrocitinib 100mg lower (~0.22).</a:t>
            </a:r>
          </a:p>
          <a:p/>
          <a:p>
            <a:r>
              <a:t>For IGA 0/1, separation between agents is less clear. Biologics cluster together, CIs overlap substantially. Dosing convenience may be more important than efficacy differentiation.</a:t>
            </a:r>
          </a:p>
          <a:p/>
          <a:p>
            <a:r>
              <a:t>SOURCE: Lilly internal BNMA (Batman model), random-effects, monotherapy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LEVEL: MODERATE-HIGH.</a:t>
            </a:r>
          </a:p>
          <a:p/>
          <a:p>
            <a:r>
              <a:t>BULL CASE for Apogee: Phase 3 confirms efficacy, Q24W maintenance works, 2029 launch captures convenience seekers.</a:t>
            </a:r>
          </a:p>
          <a:p>
            <a:r>
              <a:t>BEAR CASE for Apogee: Phase 3 efficacy drops to ~50-55%, Q24W underperforms, conjunctivitis worsens with longer exposure.</a:t>
            </a:r>
          </a:p>
          <a:p/>
          <a:p>
            <a:r>
              <a:t>LILLY RESPONSE OPTIONS:</a:t>
            </a:r>
          </a:p>
          <a:p>
            <a:r>
              <a:t>1. Accelerate lebrikizumab lifecycle (Q4W data emphasis, pen device)</a:t>
            </a:r>
          </a:p>
          <a:p>
            <a:r>
              <a:t>2. Emphasize real-world evidence and safety track record</a:t>
            </a:r>
          </a:p>
          <a:p>
            <a:r>
              <a:t>3. Advance rocatinlimab (different MOA) as complementary pipeline</a:t>
            </a:r>
          </a:p>
          <a:p>
            <a:r>
              <a:t>4. Monitor ADventure Phase 3 enrollment and interim data</a:t>
            </a:r>
          </a:p>
          <a:p>
            <a:r>
              <a:t>5. Consider label expansion (pediatric, asthma) to differentiate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Zumilokibart is a credible, differentiated competitor to lebrikizumab in AD. The dosing convenience is its primary advantage. Lilly has time — lebrikizumab is approved and building market share now, while zumilokibart is 3+ years from potential approval.</a:t>
            </a:r>
          </a:p>
          <a:p/>
          <a:p>
            <a:r>
              <a:t>OPEN QUESTIONS:</a:t>
            </a:r>
          </a:p>
          <a:p>
            <a:r>
              <a:t>1. Should Lilly accelerate Q4W maintenance messaging for lebrikizumab?</a:t>
            </a:r>
          </a:p>
          <a:p>
            <a:r>
              <a:t>2. What is rocatinlimab timeline relative to zumilokibart?</a:t>
            </a:r>
          </a:p>
          <a:p>
            <a:r>
              <a:t>3. Will Q24W maintenance maintain efficacy long-term?</a:t>
            </a:r>
          </a:p>
          <a:p/>
          <a:p>
            <a:r>
              <a:t>Review is required before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2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45920"/>
            <a:ext cx="97840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Competitor Landscape Update:</a:t>
            </a:r>
            <a:br/>
            <a:r>
              <a:t>Zumilokibart (APG777)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56616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 i="0">
                <a:solidFill>
                  <a:srgbClr val="F5D6B0"/>
                </a:solidFill>
                <a:latin typeface="Arial"/>
              </a:defRPr>
            </a:pPr>
            <a:r>
              <a:t>Atopic Dermatitis — APEX Phase 2 Part B 16-Week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75488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t>July 2026</a:t>
            </a:r>
            <a:br/>
            <a:r>
              <a:t>CONFIDENTIAL — For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9436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1">
                <a:solidFill>
                  <a:srgbClr val="F5D6B0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Drug Overview: Zumilokibart (APG777)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Drug Profile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Generic: zumilokibart | Code: APG777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Sponsor: Apogee Therapeutics (founded 2022; Blackstone commercialization deal)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Modality: Anti-IL-13 monoclonal antibody (YTE half-life extension)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Target: IL-13 (same target as lebrikizumab &amp; tralokinumab)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Route: Subcutaneous injection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4 loading injections (W0, W2, W4, W12) then Q12W or Q24W maintenance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Phase: Phase 2 Part B complete; Phase 3 (ADventure) planned 2H 2026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Planned launch: 2029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Mechanism of Action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IL-13 Pathway Blockade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Binds and neutralizes IL-13, a key Type 2 cytokine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IL-13 drives epidermal barrier disruption, itch, and fibrosis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Does NOT block IL-4 (unlike dupilumab which is IL-4Rα)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target as lebrikizumab and tralokinumab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IL-13-selective → may have cleaner safety (less infection risk)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Differentiators (YTE Fc Extension)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YTE Fc extension: ~4x longer half-life vs standard IgG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Only 4 dosing days in 16-week induction (vs 9 for dupilumab)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Maintenance: 2–4 annual dosing days (vs 26 for dupilumab, 13–26 for lebrikizumab)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Potential for Q24W (every 6 months) dosing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Could be first AD biologic with Q3M + Q6M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APEX Part B —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Trial Overview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2, randomized, double-blind, PBO-controlled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N=346 (mITT): Low (N=86), Mid (N=85), High (N=87), PBO (N=88)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Randomized 1:1:1:1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Moderate-to-severe AD (EASI ≥16, vIGA ≥3, BSA ≥10%)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SC at W0, W2, W4, W12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Maintenance: Q12W or Q24W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Primary: EASI-75 at Wk16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Estimand: MCMC-MI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Baseline: EASI ~26, age ~37y, BSA ~40%</a:t>
            </a:r>
          </a:p>
        </p:txBody>
      </p:sp>
      <p:pic>
        <p:nvPicPr>
          <p:cNvPr id="5" name="Picture 4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 APEX Part B presentation, May 2026. Review is required before disclosure.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Efficacy Results at Week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Primary Endpoint — Mid Dose (Planned Phase 3 Dose, N=85)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EASI-75 (primary): 65.9% vs 23.4% PBO (Δ=41.9; 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IGA 0/1: 46.0% vs 10.9% PBO (Δ=34.8; 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EASI-90: 47.4% vs 9.3% PBO (Δ=37.8; 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I-NRS ≥4 (itch): 50.5% vs 13.9% PBO (Δ=36.7; p&lt;0.001)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EASI-100: 16.5% vs 3.4% PBO (p&lt;0.01)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Dose-Response &amp; Key Observations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&amp; High doses showed similar clinical activity throughout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Low dose showed relatively lower but still significant activity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Rapid onset: significant EASI reduction by Week 1; EASI-75 significant by Week 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Part B results generally similar to Part A (confirming dose selection)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Placebo rate 23.4% — higher than historical AD trials (10–15%); Δ is more reliable for cross-trial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EASI-75 Response Over Time — All Arms</a:t>
            </a:r>
          </a:p>
        </p:txBody>
      </p:sp>
      <p:pic>
        <p:nvPicPr>
          <p:cNvPr id="4" name="Picture 3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Source: Apogee Therapeutics. Review is required before disclosure.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EASI-75 &amp; IGA 0/1 at Week 16</a:t>
            </a:r>
          </a:p>
        </p:txBody>
      </p:sp>
      <p:pic>
        <p:nvPicPr>
          <p:cNvPr id="4" name="Picture 3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only. Different populations, imputation methods. Review is required before disclosure.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Safety Summary — Through Week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Overall Safety (Mid Dose vs Placebo)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≥1 TEAE: 60.0% vs 67.0% PBO — lower than placebo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Serious TEAE: 1.2% vs 2.3%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Discontinued due to TEAE: 2.4% vs 2.3% PBO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Most common: nasopharyngitis (14.1%), headache (7.1%)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 effect of ADAs on PK, efficacy, or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Conjunctivitis (Key Class Signal)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Noninfective conjunctivitis: Low 4.7%, Mid 5.9%, High 11.5%, PBO 0.0%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Pooled conjunctivitis (all preferred terms): Mid 10.6%, Low 15.1%, High 20.7%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Dose-dependent pattern (higher at higher doses)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dose (10.6%) slightly above lebrikizumab Ph3 (~7–8%)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Low dose paradox (15.1%) — likely small-N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Landscape — AD Biologics at Week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Drug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Sponsor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MOA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EASI-75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IGA 0/1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Dosing (Maint.)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E1251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Zumilokibart (APG777)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Apogee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Q12W–Q24W 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2b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Lebrikizumab (Ebglyss)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Anti-IL-13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53.0%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Q2W/Q4W SC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Dupilumab (Dupixent)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Sanofi/Regen.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Anti-IL-4Rα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Q2W 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Nemolizumab (Nemluvio)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Galderma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Anti-IL-31Rα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42.8%*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36.7%*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Q4W SC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Tralokinumab (Adbry)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LEO Pharma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Anti-IL-13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29.1%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Q2W 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Amlitelimab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Sanofi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Anti-OX40L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~44%†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Q4W SC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Rocatinlimab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Lilly (acq.)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Anti-OX40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Q4W 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comparisons are indirect. *+TCS combination. †24-week endpoint. Review is required before disclosure.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Zumilokibart vs Lebrikizumab (Ebglyss) — Lilly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Similarities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target: IL-13 neutralization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Same indication: moderate-to-severe AD adults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Similar endpoint magnitudes (EASI-75 ~50–66%)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SC injection route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Class-associated conjunctivitis risk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Both claim improving efficacy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Differences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Dosing: Zumilokibart Q12–24W vs Lebrikizumab Q2–4W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Annual injections: 2–4 vs 13–26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Maturity: Ph2b vs Approved (Ebglyss launched)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Conjunctivitis: 10.6% (mid) vs ~8% (lebrikizumab Ph3)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3 data: 2H 2026 start; readout ~2028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Commercial: Apogee pre-revenue vs Lilly 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Cross-trial comparison only; no head-to-head data available. Review is required before disclosure.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EASI-75 at Induction Period (Week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high dose peaks ~0.45 — highest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Mid dose (Part A+B) peaks ~0.40, overlaps upadacitinib 15mg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250mg Q2W peaks ~0.35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Wide CrI reflects small Phase 2 sample (N=85)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Ranking: Mid ≈ #2–3 (overlaps upa, dupilumab)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ranks ~#4–5 for EASI-75</a:t>
            </a:r>
          </a:p>
        </p:txBody>
      </p:sp>
      <p:pic>
        <p:nvPicPr>
          <p:cNvPr id="5" name="Picture 4" descr="APG777_EASI75_Wk16_2026-07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BNMA: IGA 0/1 at Induction Period (Week 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Key Findings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Upadacitinib 15mg peaks highest (~0.35) overall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mid dose (Part A+B) peaks ~0.32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Dupilumab 600/300mg peaks ~0.28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250mg Q2W peaks ~0.28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Substantial overlap across all biologics for IGA 0/1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Zumilokibart high dose has very wide CrI</a:t>
            </a:r>
          </a:p>
        </p:txBody>
      </p:sp>
      <p:pic>
        <p:nvPicPr>
          <p:cNvPr id="5" name="Picture 4" descr="APG777_IGA01_Wk16_2026-07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Random-effects BNMA; indirect comparison only. Review is required before disclosure.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Implications for Lilly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Competitive Threat Assessment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EASI-75 Δ of 41.9 suggests potentially best-in-class efficacy among IL-13s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Dosing convenience (Q12–24W) is a major differentiator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Could set new standard of care upon approval (~2029)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Patient preference likely to favor fewer injections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Apogee's Blackstone deal funds full commercialization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8102E"/>
                </a:solidFill>
                <a:latin typeface="Arial"/>
              </a:defRPr>
            </a:pPr>
            <a:r>
              <a:t>Mitigating Factors for Lilly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Lebrikizumab approved NOW; 3+ years of commercial build before zumilokibart arrives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Phase 2→3 attrition: efficacy commonly drops ~30% in larger trials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Higher placebo rate (23.4%) may inflate absolute numbers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Conjunctivitis (10.6%) slightly above lebrikizumab (~8%)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Small N (85/arm) — wide CIs, less certainty</a:t>
            </a:r>
          </a:p>
          <a:p>
            <a:pPr>
              <a:spcAft>
                <a:spcPts val="40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t>• Lilly's label breadth (adolescents, multiple indications) + rocatinlimab (anti-OX40)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 i="1">
                <a:solidFill>
                  <a:srgbClr val="666666"/>
                </a:solidFill>
                <a:latin typeface="Arial"/>
              </a:defRPr>
            </a:pPr>
            <a:r>
              <a:t>Review is required before disclosure.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E1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Key Takeaways &amp; 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Zumilokibart mid dose achieved EASI-75 Δ=41.9 vs PBO (p&lt;0.001) — potentially best-in-class for AD biologics</a:t>
            </a:r>
            <a:br/>
            <a:r>
              <a:t>• Q12W–Q24W dosing (2–4 annual injections) is a transformational convenience advantage over all current biologics</a:t>
            </a:r>
            <a:br/>
            <a:r>
              <a:t>• BNMA places zumilokibart mid dose in the top tier alongside upadacitinib and dupilumab, with overlapping CrIs vs lebrikizumab</a:t>
            </a:r>
            <a:br/>
            <a:r>
              <a:t>• Phase 3 (ADventure) planned 2H 2026; if confirmed, represents a meaningful competitive threat to lebrikizumab by ~2029</a:t>
            </a:r>
            <a:br/>
            <a:r>
              <a:t>• Safety is manageable (conjunctivitis 10.6%); key limitation is small sample size (N=85) with wide confidence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C8102E"/>
                </a:solidFill>
                <a:latin typeface="Arial"/>
              </a:defRPr>
            </a:pPr>
            <a:r>
              <a:t>Recommended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212121"/>
                </a:solidFill>
                <a:latin typeface="Arial"/>
              </a:defRPr>
            </a:pPr>
            <a:r>
              <a:t>• Monitor ADventure Phase 3 enrollment and design details closely (2H 2026 initiation)</a:t>
            </a:r>
            <a:br/>
            <a:r>
              <a:t>• Update BNMA with Phase 3 data when available; reassess ranking</a:t>
            </a:r>
            <a:br/>
            <a:r>
              <a:t>• Evaluate lebrikizumab lifecycle strategy emphasizing established safety, label breadth, and real-world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