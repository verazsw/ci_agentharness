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compares two next-generation oral selective TYK2 inhibitors that have reported Phase 3 pivotal data in moderate-to-severe plaque psoriasis. Both represent the next wave of oral therapies positioned to challenge deucravacitinib (Sotyktu) and compete with injectable biologics on efficacy.</a:t>
            </a:r>
          </a:p>
          <a:p/>
          <a:p>
            <a:r>
              <a:t>Envudeucitinib (ESK-001, Alumis): 40 mg BID, allosteric TYK2i — ONWARD1/2 readout Jan 2026, AAD Mar 2026.</a:t>
            </a:r>
          </a:p>
          <a:p>
            <a:r>
              <a:t>Zasocitinib (TAK-279, Takeda): 30 mg QD, allosteric TYK2i — LATITUDE 3001/3002 readout Dec 2025, AAD Mar 2026.</a:t>
            </a:r>
          </a:p>
          <a:p/>
          <a:p>
            <a:r>
              <a:t>Both targeting NDA submission in 2026–2027. Potential market entry ~2027–2028.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Envudeucitinib was formerly known as ESK-001, developed by Alumis Inc. (which went public in 2024). It is NOT an AbbVie compound. Alumis is focused exclusively on autoimmune disease with TYK2 as the lead target.</a:t>
            </a:r>
          </a:p>
          <a:p/>
          <a:p>
            <a:r>
              <a:t>Key differentiator vs deucravacitinib (Sotyktu/BMS): envudeucitinib is positioned as substantially more potent with PASI-90 rates of 54-60% vs deucravacitinib's ~37% in the POETYK trials.</a:t>
            </a:r>
          </a:p>
          <a:p/>
          <a:p>
            <a:r>
              <a:t>The 40 mg BID dosing is a potential weakness vs zasocitinib QD — adherence and patient preference may favor once-daily.</a:t>
            </a:r>
          </a:p>
          <a:p/>
          <a:p>
            <a:r>
              <a:t>SOURCES: Alumis press release Mar 28, 2026; ClinicalTrials.gov NCT06586112, NCT06588738; STRIDE 52-wk OLE (PMID 41061968).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Zasocitinib was in-licensed by Takeda from Nimbus Therapeutics (acquired the TYK2 program for $6B in 2022). Originally NDI-034858. Takeda has built a massive psoriasis program around it with 6+ Phase 3 studies.</a:t>
            </a:r>
          </a:p>
          <a:p/>
          <a:p>
            <a:r>
              <a:t>Key advantage: QD dosing (vs BID for envudeucitinib and deucravacitinib). Also has a broader indication portfolio than envudeucitinib.</a:t>
            </a:r>
          </a:p>
          <a:p/>
          <a:p>
            <a:r>
              <a:t>The LATITUDE Atlas head-to-head study (NCT06973291) directly demonstrated superiority over deucravacitinib on PASI-100 at Week 16 — a significant commercial differentiator.</a:t>
            </a:r>
          </a:p>
          <a:p/>
          <a:p>
            <a:r>
              <a:t>SOURCES: Takeda press releases Dec 2025, Mar 2026, Jun 2026; ClinicalTrials.gov NCT06088043, NCT06108544, NCT06973291; Phase 2b (PMID 39167366).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allosteric TYK2 inhibitors bind the same regulatory pseudokinase (JH2) domain — a different binding site from the catalytic JH1 domain targeted by traditional JAK inhibitors. This pseudokinase-binding mechanism enables &gt;1-million-fold selectivity over JAK1/2/3.</a:t>
            </a:r>
          </a:p>
          <a:p/>
          <a:p>
            <a:r>
              <a:t>The key clinical question: why are the next-gen TYK2i more efficacious?</a:t>
            </a:r>
          </a:p>
          <a:p>
            <a:r>
              <a:t>1. Potentially greater TYK2 occupancy at their respective doses</a:t>
            </a:r>
          </a:p>
          <a:p>
            <a:r>
              <a:t>2. Different pharmacokinetic profiles (longer target engagement)</a:t>
            </a:r>
          </a:p>
          <a:p>
            <a:r>
              <a:t>3. Trial design differences (different patient populations, estimands)</a:t>
            </a:r>
          </a:p>
          <a:p/>
          <a:p>
            <a:r>
              <a:t>Deucravacitinib POETYK data: PASI-75 ~53%, PASI-90 ~37% at Wk16.</a:t>
            </a:r>
          </a:p>
          <a:p>
            <a:r>
              <a:t>Next-gen target: PASI-90 &gt;50%, approaching biologic efficacy.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TRIAL DESIGN COMPARISON:</a:t>
            </a:r>
          </a:p>
          <a:p/>
          <a:p>
            <a:r>
              <a:t>Similarities:</a:t>
            </a:r>
          </a:p>
          <a:p>
            <a:r>
              <a:t>- Both used active comparator (apremilast) + placebo</a:t>
            </a:r>
          </a:p>
          <a:p>
            <a:r>
              <a:t>- Both had PASI-75 + sPGA 0/1 as co-primaries at Week 16</a:t>
            </a:r>
          </a:p>
          <a:p>
            <a:r>
              <a:t>- Both in moderate-to-severe plaque psoriasis (PASI≥12, BSA≥10%)</a:t>
            </a:r>
          </a:p>
          <a:p/>
          <a:p>
            <a:r>
              <a:t>Differences:</a:t>
            </a:r>
          </a:p>
          <a:p>
            <a:r>
              <a:t>- Envudeucitinib: 2:1:1 randomization; shorter (24-wk double-blind)</a:t>
            </a:r>
          </a:p>
          <a:p>
            <a:r>
              <a:t>- Zasocitinib: longer studies (52–60 wk) with withdrawal/retreatment design in 3002</a:t>
            </a:r>
          </a:p>
          <a:p>
            <a:r>
              <a:t>- Zasocitinib has a dedicated H2H vs deucravacitinib (LATITUDE Atlas, N=606)</a:t>
            </a:r>
          </a:p>
          <a:p>
            <a:r>
              <a:t>- Envudeucitinib total program N=~1,774; Zasocitinib total N=~1,801 (PsO only)</a:t>
            </a:r>
          </a:p>
          <a:p/>
          <a:p>
            <a:r>
              <a:t>Both programs are large, well-powered, and designed for regulatory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ENVUDEUCITINIB EFFICACY DETAIL:</a:t>
            </a:r>
          </a:p>
          <a:p/>
          <a:p>
            <a:r>
              <a:t>The press release highlighted PASI-90 and PASI-100 rather than PASI-75 — this is a strategic choice to position above deucravacitinib and closer to biologics. The fact that PASI-90 was ~54-60% and PASI-100 ~28-29% at Wk16 suggests PASI-75 is likely &gt;70% (must be higher than PASI-90 by definition).</a:t>
            </a:r>
          </a:p>
          <a:p/>
          <a:p>
            <a:r>
              <a:t>Key comparison to deucravacitinib (POETYK):</a:t>
            </a:r>
          </a:p>
          <a:p>
            <a:r>
              <a:t>- Deucravacitinib PASI-90 Wk16: ~37%</a:t>
            </a:r>
          </a:p>
          <a:p>
            <a:r>
              <a:t>- Envudeucitinib PASI-90 Wk16: ~54-60% → substantially higher</a:t>
            </a:r>
          </a:p>
          <a:p/>
          <a:p>
            <a:r>
              <a:t>52-week STRIDE OLE data confirms durability: PASI-75 78%, PASI-90 61%, PASI-100 39% — consistent with Phase 3 Week 24 data.</a:t>
            </a:r>
          </a:p>
          <a:p/>
          <a:p>
            <a:r>
              <a:t>SAFETY: Headache, nasopharyngitis, URTI, acne most common. No TB reactivation. No new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ZASOCITINIB EFFICACY DETAIL:</a:t>
            </a:r>
          </a:p>
          <a:p/>
          <a:p>
            <a:r>
              <a:t>Key differentiator: the LATITUDE Atlas H2H study (NCT06973291, N=606) directly proved superiority over deucravacitinib (the only approved oral TYK2i). This is a powerful regulatory AND commercial message.</a:t>
            </a:r>
          </a:p>
          <a:p/>
          <a:p>
            <a:r>
              <a:t>Zasocitinib sPGA 0/1 (~70%) is biologic-class efficacy. The PASI-90 range (52-61%) positions it similarly to envudeucitinib.</a:t>
            </a:r>
          </a:p>
          <a:p/>
          <a:p>
            <a:r>
              <a:t>Apremilast comparator data (from 3001/3002):</a:t>
            </a:r>
          </a:p>
          <a:p>
            <a:r>
              <a:t>- sPGA 0/1: 32.1%/29.7% vs zasocitinib 71.4%/69.2% → massive advantage</a:t>
            </a:r>
          </a:p>
          <a:p>
            <a:r>
              <a:t>- PASI-90: 16.8%/15.9% vs zasocitinib 61.3%/51.9%</a:t>
            </a:r>
          </a:p>
          <a:p>
            <a:r>
              <a:t>- PASI-100: 2.9%/4.3% vs zasocitinib 33.4%/25.2%</a:t>
            </a:r>
          </a:p>
          <a:p/>
          <a:p>
            <a:r>
              <a:t>Body site data: Scalp sPGA 0/1 ~74-77%, Palmoplantar 69-71%, Nails significant.</a:t>
            </a:r>
          </a:p>
          <a:p/>
          <a:p>
            <a:r>
              <a:t>SAFETY: TEAEs 62.1%; URTI 10.1%, acne 6.5%, nasopharyngitis 6.2%. No new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HEAD-TO-HEAD ASSESSMENT (cross-trial only — no direct comparison exists):</a:t>
            </a:r>
          </a:p>
          <a:p/>
          <a:p>
            <a:r>
              <a:t>EFFICACY: Very similar overall. Both achieve PASI-90 ~52-61% at Wk16 — a step-change above deucravacitinib (~37%). PASI-100 also comparable (~25-33% at Wk16).</a:t>
            </a:r>
          </a:p>
          <a:p/>
          <a:p>
            <a:r>
              <a:t>DOSING: Zasocitinib has QD advantage over envudeucitinib's BID. Patient preference and adherence favor QD, especially long-term.</a:t>
            </a:r>
          </a:p>
          <a:p/>
          <a:p>
            <a:r>
              <a:t>COMMERCIAL: Takeda has global infrastructure, dermatology experience, and a larger program (6+ studies). Alumis is a smaller biotech that would need to build or partner for commercialization.</a:t>
            </a:r>
          </a:p>
          <a:p/>
          <a:p>
            <a:r>
              <a:t>H2H DATA: Zasocitinib has proven superiority over deucravacitinib (LATITUDE Atlas). Envudeucitinib does not have a H2H — this is a messaging gap.</a:t>
            </a:r>
          </a:p>
          <a:p/>
          <a:p>
            <a:r>
              <a:t>BOTH are clear threats to: deucravacitinib (efficacy gap), apremilast (efficacy gap), and biologics (convenience of oral).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ORAL LANDSCAPE HIERARCHY (emerging from Ph3 data):</a:t>
            </a:r>
          </a:p>
          <a:p/>
          <a:p>
            <a:r>
              <a:t>TIER 1 (PASI-90 &gt;50%): Zasocitinib, Envudeucitinib, Icotrokinra</a:t>
            </a:r>
          </a:p>
          <a:p>
            <a:r>
              <a:t>- These represent the next generation of oral TYK2 inhibitors</a:t>
            </a:r>
          </a:p>
          <a:p>
            <a:r>
              <a:t>- Approaching biologic-class efficacy in a pill</a:t>
            </a:r>
          </a:p>
          <a:p/>
          <a:p>
            <a:r>
              <a:t>TIER 2 (PASI-90 ~35-40%): Deucravacitinib</a:t>
            </a:r>
          </a:p>
          <a:p>
            <a:r>
              <a:t>- First-in-class, approved, but substantially lower efficacy ceiling</a:t>
            </a:r>
          </a:p>
          <a:p>
            <a:r>
              <a:t>- Vulnerable to next-gen displacement</a:t>
            </a:r>
          </a:p>
          <a:p/>
          <a:p>
            <a:r>
              <a:t>TIER 3 (PASI-90 &lt;25%): Apremilast</a:t>
            </a:r>
          </a:p>
          <a:p>
            <a:r>
              <a:t>- PDE4 inhibitor, different MOA, good safety but limited efficacy</a:t>
            </a:r>
          </a:p>
          <a:p>
            <a:r>
              <a:t>- Will retain niche for milder disease / safety-concerned patients</a:t>
            </a:r>
          </a:p>
          <a:p/>
          <a:p>
            <a:r>
              <a:t>Non-selective JAK inhibitors (tofacitinib, upadacitinib) excluded from PsO market due to safety (BBW for MACE, VTE, malignancy).</a:t>
            </a:r>
          </a:p>
          <a:p/>
          <a:p>
            <a:r>
              <a:t>Implication: Both zasocitinib and envudeucitinib could significantly displace deucravacitinib market share upon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BNMA INTERPRETATION — PASI-75 at Week 16:</a:t>
            </a:r>
          </a:p>
          <a:p/>
          <a:p>
            <a:r>
              <a:t>This ridge plot shows posterior distributions of treatment difference vs placebo (random-effects BNMA).</a:t>
            </a:r>
          </a:p>
          <a:p/>
          <a:p>
            <a:r>
              <a:t>KEY FINDINGS:</a:t>
            </a:r>
          </a:p>
          <a:p>
            <a:r>
              <a:t>1. Injectable biologics remain superior for PASI-75: bimekizumab (0.88), ixekizumab (0.82), risankizumab (0.80), secukinumab (0.78)</a:t>
            </a:r>
          </a:p>
          <a:p>
            <a:r>
              <a:t>2. Among oral TYK2i: icotrokinra (BMS) leads at ~0.63, followed by zasocitinib (~0.58) and envudeucitinib (~0.55)</a:t>
            </a:r>
          </a:p>
          <a:p>
            <a:r>
              <a:t>3. Zasocitinib and envudeucitinib overlap substantially — no clear winner between them</a:t>
            </a:r>
          </a:p>
          <a:p>
            <a:r>
              <a:t>4. Both are clearly separated from deucravacitinib (~0.48) — confirms next-gen efficacy advantage</a:t>
            </a:r>
          </a:p>
          <a:p>
            <a:r>
              <a:t>5. Apremilast (~0.26) is far below — different efficacy tier entirely</a:t>
            </a:r>
          </a:p>
          <a:p/>
          <a:p>
            <a:r>
              <a:t>LIMITATION: Indirect comparison only. Different trials, populations, imputation methods. BNMA provides relative positioning but not definitive ranking.</a:t>
            </a:r>
          </a:p>
          <a:p/>
          <a:p>
            <a:r>
              <a:t>SOURCE: Lilly internal BNMA (Batman model), random-effects NMA, NRI estimand, mixed population.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BNMA INTERPRETATION — PASI-100 at Week 16:</a:t>
            </a:r>
          </a:p>
          <a:p/>
          <a:p>
            <a:r>
              <a:t>PASI-100 (complete skin clearance) is the most stringent endpoint and shows greater differentiation between agents.</a:t>
            </a:r>
          </a:p>
          <a:p/>
          <a:p>
            <a:r>
              <a:t>KEY FINDINGS:</a:t>
            </a:r>
          </a:p>
          <a:p>
            <a:r>
              <a:t>1. Bimekizumab (IL-17A/F) dominates at ~0.62 — best-in-class for complete clearance</a:t>
            </a:r>
          </a:p>
          <a:p>
            <a:r>
              <a:t>2. IL-17A inhibitors (ixekizumab ~0.43) and IL-23 (risankizumab ~0.40) form the biologic middle tier</a:t>
            </a:r>
          </a:p>
          <a:p>
            <a:r>
              <a:t>3. Oral TYK2i cluster: icotrokinra ~0.33, envudeucitinib ~0.27, zasocitinib ~0.25</a:t>
            </a:r>
          </a:p>
          <a:p>
            <a:r>
              <a:t>4. Envudeucitinib edges slightly ahead of zasocitinib for PASI-100 — but CrIs overlap</a:t>
            </a:r>
          </a:p>
          <a:p>
            <a:r>
              <a:t>5. Deucravacitinib (~0.10) and apremilast (~0.04) are significantly lower</a:t>
            </a:r>
          </a:p>
          <a:p/>
          <a:p>
            <a:r>
              <a:t>CLINICAL IMPLICATION: For patients prioritizing complete clearance (PASI-100), biologics remain superior to oral options. However, next-gen TYK2i are approaching secukinumab-level complete clearance rates.</a:t>
            </a:r>
          </a:p>
          <a:p/>
          <a:p>
            <a:r>
              <a:t>SOURCE: Lilly internal BNMA, random-effects, NRI estimand, mixed population.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BNMA INTERPRETATION — PASI-75 at Week 24:</a:t>
            </a:r>
          </a:p>
          <a:p/>
          <a:p>
            <a:r>
              <a:t>The Week 24 data confirms durability and continued improvement for both focus compounds:</a:t>
            </a:r>
          </a:p>
          <a:p/>
          <a:p>
            <a:r>
              <a:t>KEY FINDINGS:</a:t>
            </a:r>
          </a:p>
          <a:p>
            <a:r>
              <a:t>1. Risankizumab (IL-23) surpasses all others at Wk24 (~0.92) — the long half-life and sustained IL-23 blockade enable continued improvement</a:t>
            </a:r>
          </a:p>
          <a:p>
            <a:r>
              <a:t>2. Bimekizumab maintains high efficacy (~0.88) at Wk24</a:t>
            </a:r>
          </a:p>
          <a:p>
            <a:r>
              <a:t>3. Zasocitinib improves from ~0.58 (Wk16) to ~0.62 (Wk24) — consistent with Takeda's claim of increasing responses through Wk24</a:t>
            </a:r>
          </a:p>
          <a:p>
            <a:r>
              <a:t>4. Envudeucitinib improves from ~0.55 (Wk16) to ~0.58 (Wk24) — consistent with Alumis reporting continued improvement</a:t>
            </a:r>
          </a:p>
          <a:p>
            <a:r>
              <a:t>5. The gap between biologics and oral TYK2i narrows slightly at Wk24 as oral agents continue to improve</a:t>
            </a:r>
          </a:p>
          <a:p/>
          <a:p>
            <a:r>
              <a:t>IMPLICATION: Both drugs show a durability profile — patients who respond tend to improve further. This is important for the long-term treatment paradigm.</a:t>
            </a:r>
          </a:p>
          <a:p/>
          <a:p>
            <a:r>
              <a:t>SOURCE: Lilly internal BNMA, random-effects, NRI estimand, mixed population.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BNMA INTERPRETATION — PASI-100 at Week 24:</a:t>
            </a:r>
          </a:p>
          <a:p/>
          <a:p>
            <a:r>
              <a:t>Complete clearance continues to improve for both focus compounds:</a:t>
            </a:r>
          </a:p>
          <a:p/>
          <a:p>
            <a:r>
              <a:t>KEY FINDINGS:</a:t>
            </a:r>
          </a:p>
          <a:p>
            <a:r>
              <a:t>1. Bimekizumab remains the clear leader for complete clearance at Wk24 (~0.60)</a:t>
            </a:r>
          </a:p>
          <a:p>
            <a:r>
              <a:t>2. Risankizumab and ixekizumab both strengthen their Wk24 positions vs Wk16</a:t>
            </a:r>
          </a:p>
          <a:p>
            <a:r>
              <a:t>3. Envudeucitinib shows meaningful improvement: 0.27 → 0.35 (Wk16→Wk24), consistent with the reported 29%→41% PASI-100</a:t>
            </a:r>
          </a:p>
          <a:p>
            <a:r>
              <a:t>4. Zasocitinib also improves: 0.25 → 0.33, consistent with Takeda's reported increasing responses</a:t>
            </a:r>
          </a:p>
          <a:p>
            <a:r>
              <a:t>5. Both oral TYK2i are now competitive with icotrokinra for PASI-100 at Wk24</a:t>
            </a:r>
          </a:p>
          <a:p/>
          <a:p>
            <a:r>
              <a:t>CLINICAL CONTEXT: The Wk16→Wk24 improvement trajectory for oral TYK2i mirrors what's seen with IL-23 biologics — suggesting a gradual immunological response rather than a plateau. This is important for patient counseling (set expectations for continued improvement beyond first assessment).</a:t>
            </a:r>
          </a:p>
          <a:p/>
          <a:p>
            <a:r>
              <a:t>SOURCE: Lilly internal BNMA, random-effects, NRI estimand, mixed population.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COMPARISON — TYK2i CLASS:</a:t>
            </a:r>
          </a:p>
          <a:p/>
          <a:p>
            <a:r>
              <a:t>Both drugs show the favorable safety profile expected from selective TYK2 inhibition (no JAK1/2/3 effects):</a:t>
            </a:r>
          </a:p>
          <a:p>
            <a:r>
              <a:t>- No MACE/VTE/malignancy signals (unlike pan-JAK inhibitors)</a:t>
            </a:r>
          </a:p>
          <a:p>
            <a:r>
              <a:t>- No significant cytopenias or lipid elevations</a:t>
            </a:r>
          </a:p>
          <a:p>
            <a:r>
              <a:t>- No TB reactivation</a:t>
            </a:r>
          </a:p>
          <a:p/>
          <a:p>
            <a:r>
              <a:t>COMPARISON TABLE:</a:t>
            </a:r>
          </a:p>
          <a:p>
            <a:r>
              <a:t>| AE | Envudeucitinib | Zasocitinib | Deucravacitinib |</a:t>
            </a:r>
          </a:p>
          <a:p>
            <a:r>
              <a:t>| TEAEs | Not quantified | 62.1% | ~55% (POETYK) |</a:t>
            </a:r>
          </a:p>
          <a:p>
            <a:r>
              <a:t>| URTI | Common | 10.1% | ~9% |</a:t>
            </a:r>
          </a:p>
          <a:p>
            <a:r>
              <a:t>| Acne | Common | 6.5% | ~4% |</a:t>
            </a:r>
          </a:p>
          <a:p>
            <a:r>
              <a:t>| Serious | Not quantified | 3.0% | ~2% |</a:t>
            </a:r>
          </a:p>
          <a:p/>
          <a:p>
            <a:r>
              <a:t>ACNE: Both next-gen TYK2i show slightly higher acne rates than deucravacitinib — possibly related to greater TYK2 inhibition. Manageable and transient.</a:t>
            </a:r>
          </a:p>
          <a:p/>
          <a:p>
            <a:r>
              <a:t>NOTE: Envudeucitinib press release did not provide specific AE percentages for Ph3 — only qualitative safety summary. Zasocitinib provided more granular data.</a:t>
            </a:r>
          </a:p>
          <a:p/>
          <a:p>
            <a:r>
              <a:t>OVERALL: Both drugs have clean safety profiles appropriate for a chronic skin disease indication. No dealbreaker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LILLY STRATEGIC ASSESSMENT:</a:t>
            </a:r>
          </a:p>
          <a:p/>
          <a:p>
            <a:r>
              <a:t>THREAT LEVEL: MODERATE for Taltz (ixekizumab).</a:t>
            </a:r>
          </a:p>
          <a:p/>
          <a:p>
            <a:r>
              <a:t>BULL CASE for oral TYK2i:</a:t>
            </a:r>
          </a:p>
          <a:p>
            <a:r>
              <a:t>- Patients prefer pills over injections (no injection site reactions, no cold chain)</a:t>
            </a:r>
          </a:p>
          <a:p>
            <a:r>
              <a:t>- Efficacy approaching biologics: PASI-90 ~55-60% is close to ixekizumab's ~70-75%</a:t>
            </a:r>
          </a:p>
          <a:p>
            <a:r>
              <a:t>- Payers may mandate oral TYK2i trial before biologics (step therapy)</a:t>
            </a:r>
          </a:p>
          <a:p>
            <a:r>
              <a:t>- Market expansion: patients who currently refuse treatment may accept an oral option</a:t>
            </a:r>
          </a:p>
          <a:p/>
          <a:p>
            <a:r>
              <a:t>BEAR CASE for oral TYK2i:</a:t>
            </a:r>
          </a:p>
          <a:p>
            <a:r>
              <a:t>- Biologics remain clearly superior on all PASI endpoints (especially PASI-100)</a:t>
            </a:r>
          </a:p>
          <a:p>
            <a:r>
              <a:t>- BID dosing (envudeucitinib) is a compliance burden for chronic disease</a:t>
            </a:r>
          </a:p>
          <a:p>
            <a:r>
              <a:t>- Long-term safety unknowns (still &lt;3 years of data)</a:t>
            </a:r>
          </a:p>
          <a:p>
            <a:r>
              <a:t>- Payers unlikely to restrict biologics for severe patients who need maximum efficacy</a:t>
            </a:r>
          </a:p>
          <a:p/>
          <a:p>
            <a:r>
              <a:t>LILLY ACTIONS:</a:t>
            </a:r>
          </a:p>
          <a:p>
            <a:r>
              <a:t>1. Reinforce Taltz efficacy superiority in medical affairs communications</a:t>
            </a:r>
          </a:p>
          <a:p>
            <a:r>
              <a:t>2. Monitor payer step-edit policies as TYK2i launch</a:t>
            </a:r>
          </a:p>
          <a:p>
            <a:r>
              <a:t>3. Evaluate if Lilly should have an oral psoriasis asset (BD opportunity?)</a:t>
            </a:r>
          </a:p>
          <a:p>
            <a:r>
              <a:t>4. Position Taltz for severe/refractory where oral efficacy falls short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The psoriasis oral landscape is about to shift dramatically. Zasocitinib and envudeucitinib represent a new generation of TYK2 inhibitors that approach biologic efficacy in oral form. They will primarily threaten deucravacitinib's market share and potentially delay biologic initiation for some patients.</a:t>
            </a:r>
          </a:p>
          <a:p/>
          <a:p>
            <a:r>
              <a:t>For Lilly (Taltz/ixekizumab):</a:t>
            </a:r>
          </a:p>
          <a:p>
            <a:r>
              <a:t>- Direct efficacy threat is LIMITED — biologics remain superior</a:t>
            </a:r>
          </a:p>
          <a:p>
            <a:r>
              <a:t>- Market dynamics threat is MODERATE — step therapy policies could delay biologic access</a:t>
            </a:r>
          </a:p>
          <a:p>
            <a:r>
              <a:t>- Strategic opportunity: Lilly has no oral psoriasis asset — BD/licensing could fill this gap</a:t>
            </a:r>
          </a:p>
          <a:p/>
          <a:p>
            <a:r>
              <a:t>OPEN QUESTIONS:</a:t>
            </a:r>
          </a:p>
          <a:p>
            <a:r>
              <a:t>1. Will regulators approve both, creating a competitive oral TYK2i market?</a:t>
            </a:r>
          </a:p>
          <a:p>
            <a:r>
              <a:t>2. How will payers differentiate between zasocitinib (QD) and envudeucitinib (BID)?</a:t>
            </a:r>
          </a:p>
          <a:p>
            <a:r>
              <a:t>3. Will long-term safety data (3-5 years) reveal any TYK2i class signals?</a:t>
            </a:r>
          </a:p>
          <a:p>
            <a:r>
              <a:t>4. Should Lilly evaluate an oral psoriasis asset for portfolio completeness?</a:t>
            </a:r>
          </a:p>
          <a:p/>
          <a:p>
            <a:r>
              <a:t>Review is required before disclosure.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2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645920"/>
            <a:ext cx="97840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t>Competitor Landscape Update:</a:t>
            </a:r>
            <a:br/>
            <a:r>
              <a:t>Envudeucitinib &amp; Zasocitinib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56616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 i="0">
                <a:solidFill>
                  <a:srgbClr val="F5D6B0"/>
                </a:solidFill>
                <a:latin typeface="Arial"/>
              </a:defRPr>
            </a:pPr>
            <a:r>
              <a:t>Psoriasis — Phase 3 Oral TYK2 Inhibitor Readouts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75488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July 2026</a:t>
            </a:r>
            <a:br/>
            <a:r>
              <a:t>CONFIDENTIAL — For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1">
                <a:solidFill>
                  <a:srgbClr val="F5D6B0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Drug Overview: Envudeucitinib (ESK-001)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Drug Profile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Generic: envudeucitinib | Code: ESK-001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Sponsor: Alumis Inc. (Nasdaq: ALMS), South San Francisco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Modality: Oral allosteric TYK2 inhibitor (highly selective)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Dose: 40 mg BID (tablet, no fasting requirement)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Selectivity: &gt;1-million-fold for TYK2 over JAK1/2/3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Phase: Phase 3 complete (ONWARD1 &amp; ONWARD2); NDA planned Q4 2026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Also in development: Psoriatic arthritis, vitiligo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52-week Phase 2 OLE (STRIDE): PASI-75 78%, PASI-90 61%, PASI-100 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Drug Overview: Zasocitinib (TAK-279)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Drug Profile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Generic: zasocitinib | Code: TAK-279 (formerly NDI-034858)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Sponsor: Takeda Pharmaceutical Company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Modality: Oral allosteric TYK2 inhibitor (highly selective)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Dose: 30 mg QD (once-daily tablet)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Selectivity: &gt;1-million-fold for TYK2 over other JAK family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Phase: Phase 3 complete (LATITUDE 3001, 3002, Atlas); NDA planned FY2026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Also in development: Psoriatic arthritis, UC, Crohn's, SLE, vitiligo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Head-to-head: Beat deucravacitinib on PASI-100 (LATITUDE Atlas)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Mechanism of Action: TYK2 Allosteric Inhibition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TYK2 in Psoriasis Pathogenesis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TYK2 is a JAK family kinase that mediates IL-12, IL-23, and Type I IFN signaling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IL-23/TYK2 axis is central to Th17 differentiation and IL-17 production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Selective TYK2 inhibition blocks psoriasis pathogenesis without JAK1/2/3 effects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Avoids JAK1/2/3-related risks: thrombosis, infections, cytopenias, lipid changes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Both envudeucitinib and zasocitinib bind the TYK2 pseudokinase (JH2)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Differentiation: Envudeucitinib vs Zasocitinib vs Deucravacitinib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All three are allosteric TYK2 inhibitors binding the JH2 pseudokinase domain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Envudeucitinib (Alumis): 40 mg BID — highest potency, twice-daily dosing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Zasocitinib (Takeda): 30 mg QD — once-daily convenience, proven superior to deucravacitinib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Deucravacitinib (BMS/Sotyktu): 6 mg QD — first-in-class, approved but lower efficacy ceiling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Both next-gen TYK2i target PASI-90 &gt;50% (vs ~37% for deucravacitinib)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Phase 3 Study Designs — Head-to-Head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Envudeucitinib: ONWARD1 &amp; ONWARD2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ONWARD1: N=912 | ONWARD2: N=862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Randomized 2:1:1 (drug:PBO:apremilast)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Moderate-to-severe plaque psoriasis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24-week double-blind period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Co-primary: PASI-75 + sPGA 0/1 at Wk16 vs PBO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Key secondary: vs apremilast at Wk24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Global, multicenter, 2024–2025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ONWARD3 (OLE): N=1,680 ongoing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Zasocitinib: LATITUDE 3001 &amp; 3002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3001: N=693 | 3002: N=1,108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Randomized vs PBO vs apremilast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Moderate-to-severe plaque psoriasis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3001: 52-week | 3002: 60-week (w/ withdrawal)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Co-primary: PASI-75 + sPGA 0/1 at Wk16 vs PBO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Key secondary: vs apremilast at Wk16/24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21 countries, 2023–2025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Atlas (NCT06973291): H2H vs deucravacitinib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Key Efficacy: Envudeucitinib Phase 3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ONWARD1 (N=912) &amp; ONWARD2 (N=862) — Week 16 &amp; 24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PASI-75 at Wk16: co-primary MET (p&lt;0.001 vs PBO) — exact % not publicly disclosed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PASI-90 at Wk16: 59.9% (ONWARD1) / 53.1% (ONWARD2) vs 4.8%/4.3% PBO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PASI-100 at Wk16: 29.4% (ONWARD1) / 27.7% (ONWARD2) vs 0.9%/0.9% PBO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PASI-90 at Wk24: 68.0% (ONWARD1) / 62.1% (ONWARD2)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PASI-100 at Wk24: 41.0% (ONWARD1) / 39.5% (ONWARD2)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All ranked primary and secondary endpoints met vs PBO and apremilast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Additional Outcomes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Scalp (ss-PGA 0/1): ~75% by Week 24 (baseline ss-PGA ≥3)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DLQI 0/1: ~50% by Week 12 (baseline DLQI ≥2)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Pruritus NRS: &gt;4-point improvement by Wk16; clinically meaningful itch relief by Wk2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Rapid onset: &gt;30% achieving ss-PGA 0/1 by Week 4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Sustained improvement: responses continued to increase through Wk24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Alumis press release March 28, 2026. Review is required before disclosure.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Key Efficacy: Zasocitinib Phase 3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LATITUDE 3001 (N=693) &amp; 3002 (N=1,108) — Week 16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PASI-75 at Wk16: co-primary MET (p&lt;0.001 vs PBO) — exact % not publicly disclosed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sPGA 0/1 at Wk16: 71.4% (3001) / 69.2% (3002) vs 10.7%/12.6% PBO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PASI-90 at Wk16: 61.3% (3001) / 51.9% (3002) vs 5.0%/4.0% PBO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PASI-100 at Wk16: 33.4% (3001) / 25.2% (3002) vs 0.7%/1.1% PBO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sPGA 0 at Wk16: 39.9% (3001) / 33.7% (3002) vs 0.7%/1.4% PBO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All 44 ranked secondary endpoints met (vs PBO and apremilast at Wk16/24)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LATITUDE Atlas — Head-to-Head vs Deucravacitinib (N=606)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Primary: PASI-100 at Wk16 — zasocitinib &gt;35% vs deucravacitinib ~14%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Zasocitinib achieved ~2.5× higher PASI-100 rates than deucravacitinib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All secondary endpoints met (PASI-90, sPGA 0) — statistically superior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Separation visible by Week 8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Durability (Wk40–60): &gt;90% of Wk40 PASI-75/90/sPGA 0/1 responders maintained at Wk60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Takeda press releases Dec 2025, Mar 2026, Jun 2026. Review is required before disclosure.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Envudeucitinib vs Zasocitinib — Direct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Envudeucitinib (Alumis)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Dose: 40 mg BID (twice daily)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PASI-90 Wk16: 54–60%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PASI-100 Wk16: 28–29%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PASI-100 Wk24: 40–41%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No H2H vs deucravacitinib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Smaller company (Alumis, ALMS)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NDA: Q4 2026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Pill burden: 2 tablets/day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Zasocitinib (Takeda)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Dose: 30 mg QD (once daily)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PASI-90 Wk16: 52–61%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PASI-100 Wk16: 25–33%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PASI-100 Wk24: responses increasing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H2H: 2.5× deucravacitinib on PASI-100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Large pharma (Takeda, global footprint)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NDA: FY2026 (ending Mar 2027)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Pill burden: 1 tablet/day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Cross-trial comparison only. No head-to-head data between envudeucitinib and zasocitinib. Review is required before disclosure.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Psoriasis Oral Therapy Landscape — PASI Outcomes at Week 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Drug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Sponsor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MOA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Dose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PASI-90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PASI-100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Zasocitinib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Takeda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TYK2i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30 mg QD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52–61%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25–33%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Ph3 (NDA)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Envudeucitinib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Alumis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TYK2i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40 mg BID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53–60%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28–29%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Ph3 (NDA)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Icotrokinra*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TYK2i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200 mg QD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~55%†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~30%†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3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Deucravacitinib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BMS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TYK2i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6 mg QD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~37%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~13%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Apremilast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Amgen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PDE4i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30 mg 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Upadacitinib‡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AbbVie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JAK1i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15 mg QD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Not in PsO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Tofacitinib‡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Pfizer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pan-JAK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10 mg 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Withdrawn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*Icotrokinra (BMS-986165 follow-on) data estimated from early reports. †Estimated, not confirmed. ‡Non-selective JAKi included for reference only — carry BBW. Cross-trial comparisons are indirect. Review is required before disclosure.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BNMA: PASI-75 at Week 16 (Placebo-Subtracted)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Biologics dominate: bimekizumab (~0.88), ixekizumab (~0.82), risankizumab (~0.80)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Secukinumab ~0.78 — top tier of IL-17 class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Icotrokinra 200mg QD ~0.63 — highest among oral TYK2i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Zasocitinib Ph3 dose peaks ~0.58 (green)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Envudeucitinib 40mg BID peaks ~0.55 (red/brown)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Both clearly superior to deucravacitinib (~0.48) and apremilast (~0.26)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Wide CrI on envudeucitinib suggests greater uncertainty</a:t>
            </a:r>
          </a:p>
        </p:txBody>
      </p:sp>
      <p:pic>
        <p:nvPicPr>
          <p:cNvPr id="5" name="Picture 4" descr="zasocitinib_envudeucitinib_PASI75_Wk16_2026-07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71323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Random-effects BNMA; indirect comparison only. Review is required before disclosure.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BNMA: PASI-100 at Week 16 (Placebo-Subtracted)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Bimekizumab dominates PASI-100 (~0.62) — clear separation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Ixekizumab (~0.43) and risankizumab (~0.40) form second tier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Secukinumab ~0.37 — below other IL-17s for complete clearance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Icotrokinra ~0.33 — best oral TYK2i for PASI-100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Envudeucitinib ~0.27 and zasocitinib ~0.25 — overlapping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Red arrows highlight both focus compounds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Deucravacitinib ~0.10 — substantially lower complete clearance</a:t>
            </a:r>
          </a:p>
        </p:txBody>
      </p:sp>
      <p:pic>
        <p:nvPicPr>
          <p:cNvPr id="5" name="Picture 4" descr="zasocitinib_envudeucitinib_PASI100_Wk16_2026-07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71323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Random-effects BNMA; indirect comparison only. Review is required before disclosure.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BNMA: PASI-75 at Week 24 (Placebo-Subtracted)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Risankizumab rises to #1 at Wk24 (~0.92) — sustained IL-23 effect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Bimekizumab (~0.88) and ixekizumab (~0.80) remain top tier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Secukinumab (~0.78), icotrokinra (~0.68) — durable responses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Zasocitinib ~0.62 at Wk24 (↑ from 0.58 at Wk16)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Envudeucitinib ~0.58 at Wk24 (↑ from 0.55 at Wk16)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Both show continued improvement — consistent with Ph3 data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Deucravacitinib ~0.53, apremilast ~0.26 — gap maintained</a:t>
            </a:r>
          </a:p>
        </p:txBody>
      </p:sp>
      <p:pic>
        <p:nvPicPr>
          <p:cNvPr id="5" name="Picture 4" descr="zasocitinib_envudeucitinib_PASI75_Wk24_2026-07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71323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Random-effects BNMA; indirect comparison only. Review is required before disclosure.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BNMA: PASI-100 at Week 24 (Placebo-Subtracted)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Bimekizumab sustains PASI-100 leadership (~0.60)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Risankizumab (~0.50) and ixekizumab (~0.47) strengthen at Wk24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Secukinumab ~0.40 — stable from Wk16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Envudeucitinib rises to ~0.35 at Wk24 (from ~0.27 at Wk16)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Icotrokinra ~0.34 — similar tier to envudeucitinib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Zasocitinib ~0.33 (from ~0.25 at Wk16) — catches up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Both drugs show meaningful Wk16→Wk24 PASI-100 improvement</a:t>
            </a:r>
          </a:p>
        </p:txBody>
      </p:sp>
      <p:pic>
        <p:nvPicPr>
          <p:cNvPr id="5" name="Picture 4" descr="zasocitinib_envudeucitinib_PASI100_Wk24_2026-07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71323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Random-effects BNMA; indirect comparison only. Review is required before disclosure.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Safety Comparison: TYK2 Inhibitor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Envudeucitinib Safety (ONWARD1/2, through Wk24)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Generally well tolerated; consistent with Phase 2 (STRIDE)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Most common AEs: headache, nasopharyngitis, URTI, acne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No clinically significant lab abnormalities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No TB reactivation cases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TEAEs mostly mild, transient, self-limited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D/C due to AE (52-wk STRIDE OLE): 3.7%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Zasocitinib Safety (LATITUDE 3001/2, through Wk16)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TEAEs: 62.1% (zasocitinib) vs 46.9% (PBO) vs 50.5% (apremilast)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Serious TEAEs: 3.0% vs &lt;1% PBO vs 1.5% apremilast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Most common: URTI (10.1%), acne (6.5%), nasopharyngitis (6.2%)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No new safety signals vs Phase 2b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No clinically meaningful lab parameter changes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Profile consistent across all LATITUDE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Cross-trial safety comparison is limited. Review is required before disclosure.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Implications for Lilly Psoriasis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Competitive Threat Assessment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Next-gen TYK2i (zasocitinib + envudeucitinib) approach biologic efficacy in oral form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PASI-90 &gt;50% closes the gap with ixekizumab (Taltz) for moderate psoriasis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QD oral (zasocitinib) or BID oral (envudeucitinib) vs Q2W–Q4W injections — convenience advantage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Could erode biologic initiation for new moderate-to-severe patients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Zasocitinib's H2H win vs deucravacitinib gives a strong switching narrative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Both NDA filings in 2026–2027 → market entry ~2027–2028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Mitigating Factors &amp; Lilly Positioning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Taltz/ixekizumab still superior on PASI-75/90/100 (biologic advantage persists)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Bimekizumab (UCB) is the primary biologic competitor, not oral TYK2i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TYK2i unlikely to displace biologics for severe/refractory patients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Lilly's biologic portfolio (Taltz) retains efficacy advantage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Oral therapies expand the treated population (new patients who refuse injections)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Monitor: whether payers position oral TYK2i as step therapy before biologics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Key Takeaways &amp; 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12121"/>
                </a:solidFill>
                <a:latin typeface="Arial"/>
              </a:defRPr>
            </a:pPr>
            <a:r>
              <a:t>• Two next-gen oral TYK2 inhibitors (zasocitinib QD, envudeucitinib BID) have both delivered Phase 3 PASI-90 &gt;50% — a step-change above deucravacitinib (~37%)</a:t>
            </a:r>
            <a:br/>
            <a:r>
              <a:t>• Zasocitinib has proven head-to-head superiority over deucravacitinib (LATITUDE Atlas: 2.5× PASI-100) — strongest competitive positioning</a:t>
            </a:r>
            <a:br/>
            <a:r>
              <a:t>• Both remain clearly below injectable biologics on BNMA: bimekizumab &gt; risankizumab &gt; ixekizumab &gt; secukinumab &gt;&gt; oral TYK2i</a:t>
            </a:r>
            <a:br/>
            <a:r>
              <a:t>• NDA filings expected 2026–2027 for both; market entry likely 2027–2028 will reshape the oral psoriasis landscape</a:t>
            </a:r>
            <a:br/>
            <a:r>
              <a:t>• Taltz (ixekizumab) retains biologic efficacy advantage but faces market-shaping risk if payers add oral TYK2i as step 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C8102E"/>
                </a:solidFill>
                <a:latin typeface="Arial"/>
              </a:defRPr>
            </a:pPr>
            <a:r>
              <a:t>Recommended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12121"/>
                </a:solidFill>
                <a:latin typeface="Arial"/>
              </a:defRPr>
            </a:pPr>
            <a:r>
              <a:t>• Update BNMA when full PASI-75 data disclosed (likely at/after NDA filing)</a:t>
            </a:r>
            <a:br/>
            <a:r>
              <a:t>• Monitor FDA advisory committee meetings and approval timelines for both agents</a:t>
            </a:r>
            <a:br/>
            <a:r>
              <a:t>• Assess payer landscape: will oral TYK2i be positioned as step therapy before biologics?</a:t>
            </a:r>
            <a:br/>
            <a:r>
              <a:t>• Evaluate BD opportunity in oral psoriasis space for Lilly portfolio completeness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