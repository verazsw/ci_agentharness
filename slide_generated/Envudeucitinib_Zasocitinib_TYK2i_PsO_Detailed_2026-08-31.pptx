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18" d="100"/>
          <a:sy n="118" d="100"/>
        </p:scale>
        <p:origin x="232"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wei Zhang" userId="0f45474d-4907-40bb-a141-f412f4d1abf7" providerId="ADAL" clId="{CC9045B4-D523-5420-9B91-407A3B3134DA}"/>
    <pc:docChg chg="delSld">
      <pc:chgData name="Siwei Zhang" userId="0f45474d-4907-40bb-a141-f412f4d1abf7" providerId="ADAL" clId="{CC9045B4-D523-5420-9B91-407A3B3134DA}" dt="2026-08-31T04:28:04.636" v="0" actId="2696"/>
      <pc:docMkLst>
        <pc:docMk/>
      </pc:docMkLst>
      <pc:sldChg chg="del">
        <pc:chgData name="Siwei Zhang" userId="0f45474d-4907-40bb-a141-f412f4d1abf7" providerId="ADAL" clId="{CC9045B4-D523-5420-9B91-407A3B3134DA}" dt="2026-08-31T04:28:04.636" v="0" actId="2696"/>
        <pc:sldMkLst>
          <pc:docMk/>
          <pc:sldMk cId="0"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696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deck summarizes Phase 3 data from two next-generation oral allosteric TYK2 inhibitors presented at AAD 2026: envudeucitinib (Alumis) from ONWARD1/2 and zasocitinib (Takeda) from LATITUDE-PsO-3001/3002. Both target the JH2 pseudokinase domain of TYK2 — a differentiated mechanism from deucravacitinib (BMS), which was the first TYK2i approved for psoriasis.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compounds are allosteric TYK2 inhibitors that bind the JH2 pseudokinase domain. Zasocitinib is once-daily dosing; envudeucitinib is BID (twice daily). Both used identical co-primary endpoints (PASI 75 + sPGA 0/1 at Wk16) and the same active comparator (apremilast). This makes cross-trial comparison more interpretable, though not equivalent to a head-to-head. Key question: do these next-gen TYK2i offer meaningful efficacy improvement over deucravacitinib while maintaining the favorable safety of the class?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LATITUDE program uses an approximately 3:1:1 randomization ratio (not 2:1:1 like ONWARD). The programs are remarkably similar in design — same comparator (apremilast), same co-primary endpoints, same population. 3002 includes a randomized withdrawal period starting at Wk40, which is an important differentiator for regulatory strategy and long-term durability claims.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co-primary endpoints met with high significance (p&lt;0.001 vs both PBO and apremilast). Notably, PASI 75 rates of 71–76% are substantially above what deucravacitinib achieved in POETYK PSO-1/2 (~53–55%). PASI 100 of 25–33% also surpasses deucravacitinib (~12–17%). These are competitive with some biologics (IL-23 class achieves PASI 75 ~75–90%, PASI 100 ~35–45%). Apremilast PASI rates are not reported vs PBO in the efficacy poster figures.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Overall safety profile is consistent with TYK2i class. Higher TEAE rate than PBO but events mostly mild/moderate. Acne is a notable signal (7.3% vs &lt;1% PBO) — this is a known TYK2i class effect also seen with deucravacitinib. Diarrhea was lower with zasocitinib than apremilast (3.7% vs 8.2%), reflecting PDE4 vs TYK2 mechanism. One death occurred 1 day after first dose and is almost certainly unrelated. No cytopenia signals, no MACE, laboratory parameters (lymphocytes, liver enzymes, lipids) stable.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ONWARD uses 2:1:1 randomization (vs ~3:1:1 for LATITUDE). Both programs are replicate designs with identical co-primary endpoints. Key design difference: envudeucitinib is dosed BID (40 mg twice daily) whereas zasocitinib is once daily — this may affect patient preference and adherence. Alumis is a smaller biotech compared to Takeda, and previously demonstrated favorable Phase 2 results (STRIDE). The ONWARD program is ongoing with 1-year data expected H2 2026.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primary and secondary endpoints met. PASI 75 of 70–77% is very similar to zasocitinib. PASI 100 of 27–29% is comparable. sPGA 0/1 of 57–61% is slightly lower than zasocitinib (69–71%), though different scoring practices may contribute. Very low PBO rates (4–5% PASI 75) confirm a difficult-to-treat population. ONWARD results showed continued improvement through Week 24 (PASI 75 ~75–79%, PASI 90 ~62–68%, PASI 100 ~40–41%), suggesting efficacy has not plateaued.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Envudeucitinib safety profile is favorable and consistent with the TYK2i class. Key points: no deaths, no MACE or cytopenia signals, no TB reactivation. Headache (10.3%) is the most common TEAE — higher than PBO but comparable to apremilast. Acne is a TYK2i class signal (6% vs 0.7% PBO). Diarrhea was notably lower than apremilast (1.6% vs 8.2%), a patient-relevant advantage over PDE4 inhibition. Through Week 24: low incidence of serious infections (0.7%) and malignancies (0.2%). No clinically significant laboratory abnormalities.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CAVEAT: This is a cross-trial comparison, not a head-to-head. That said, both next-gen TYK2i show remarkably similar efficacy profiles, with PASI 75 in the 70–77% range — substantially above deucravacitinib (~53–58%). This positions both compounds more competitively against IL-23 biologics (guselkumab, risankizumab) which typically achieve PASI 75 of 80–90%. Key differentiators are: (1) zasocitinib is QD vs envudeucitinib BID; (2) sPGA 0/1 numerically higher for zasocitinib. Takeda has a head-to-head trial vs deucravacitinib running (NCT06973291).</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ridge plot shows the posterior densities from a Bayesian NMA for PASI 75 at Week 16. Treatments further to the right have higher estimated PASI 75 rates. The BNMA was generated from CATWOMAN NMA summary statistics (mean and SD of relative effects vs placebo). Note that both zasocitinib and envudeucitinib data are not yet incorporated into this formal NMA — the comparison with established treatments (IL-23i, IL-17i, JAKi) provides context for their positioning.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PASI 100 is the ultimate bar — complete skin clearance. The NMA shows that while oral TYK2i are making significant gains, the top biologics (risankizumab, ixekizumab, bimekizumab) still lead. However, for an oral therapy, the PASI 100 rates of ~25–33% for the next-gen TYK2i represent a meaningful improvement over first-gen deucravacitinib (~12–17%) and position them as attractive first-line oral options before stepping up to injectable biologics.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TYK2i space in psoriasis is rapidly evolving. Deucravacitinib was the pioneer but next-gen compounds are showing substantially better efficacy (PASI 75 of 70–77% vs 53–58%). Key competitive dynamics: (1) Takeda is running a head-to-head trial of zasocitinib vs deucravacitinib — this could be pivotal for positioning; (2) Alumis is smaller but has strong data and once-daily formulation in development; (3) Both face competition from highly effective IL-23 biologics and emerging oral options. The oral route of administration remains a meaningful differentiator vs injectable biologics for many patients and payers.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Bottom line: next-gen TYK2i are real competitors. With PASI 75 of ~70–77%, they're no longer a 'compromise' oral option — they're approaching biologic-level efficacy for many patients. The class effect on acne needs monitoring but is manageable. For our portfolio, the key question is whether these oral therapies will capture biologic-naive patients who might otherwise initiate an injectable IL-13 or IL-23 treatment. The dosing advantage (oral QD or BID) vs subcutaneous injection is meaningful for patient preference and payer formulary positioning.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251B"/>
        </a:solidFill>
        <a:effectLst/>
      </p:bgPr>
    </p:bg>
    <p:spTree>
      <p:nvGrpSpPr>
        <p:cNvPr id="1" name=""/>
        <p:cNvGrpSpPr/>
        <p:nvPr/>
      </p:nvGrpSpPr>
      <p:grpSpPr>
        <a:xfrm>
          <a:off x="0" y="0"/>
          <a:ext cx="0" cy="0"/>
          <a:chOff x="0" y="0"/>
          <a:chExt cx="0" cy="0"/>
        </a:xfrm>
      </p:grpSpPr>
      <p:sp>
        <p:nvSpPr>
          <p:cNvPr id="2" name="TextBox 1"/>
          <p:cNvSpPr txBox="1"/>
          <p:nvPr/>
        </p:nvSpPr>
        <p:spPr>
          <a:xfrm>
            <a:off x="1188720" y="1645920"/>
            <a:ext cx="9784080" cy="1828800"/>
          </a:xfrm>
          <a:prstGeom prst="rect">
            <a:avLst/>
          </a:prstGeom>
          <a:noFill/>
        </p:spPr>
        <p:txBody>
          <a:bodyPr wrap="square" anchor="ctr">
            <a:spAutoFit/>
          </a:bodyPr>
          <a:lstStyle/>
          <a:p>
            <a:pPr algn="ctr">
              <a:defRPr sz="3600" b="1" i="0">
                <a:solidFill>
                  <a:srgbClr val="FFFFFF"/>
                </a:solidFill>
                <a:latin typeface="Arial"/>
              </a:defRPr>
            </a:pPr>
            <a:r>
              <a:t>Oral Allosteric TYK2 Inhibitors</a:t>
            </a:r>
            <a:br/>
            <a:r>
              <a:t>in Moderate-to-Severe Plaque Psoriasis</a:t>
            </a:r>
          </a:p>
        </p:txBody>
      </p:sp>
      <p:sp>
        <p:nvSpPr>
          <p:cNvPr id="3" name="TextBox 2"/>
          <p:cNvSpPr txBox="1"/>
          <p:nvPr/>
        </p:nvSpPr>
        <p:spPr>
          <a:xfrm>
            <a:off x="1188720" y="3566160"/>
            <a:ext cx="9784080" cy="914400"/>
          </a:xfrm>
          <a:prstGeom prst="rect">
            <a:avLst/>
          </a:prstGeom>
          <a:noFill/>
        </p:spPr>
        <p:txBody>
          <a:bodyPr wrap="square" anchor="t">
            <a:spAutoFit/>
          </a:bodyPr>
          <a:lstStyle/>
          <a:p>
            <a:pPr algn="ctr">
              <a:defRPr sz="1800" b="0" i="0">
                <a:solidFill>
                  <a:srgbClr val="F5D6B0"/>
                </a:solidFill>
                <a:latin typeface="Arial"/>
              </a:defRPr>
            </a:pPr>
            <a:r>
              <a:t>Envudeucitinib (ESK-001) &amp; Zasocitinib — Phase 3 Results</a:t>
            </a:r>
            <a:br/>
            <a:r>
              <a:t>AAD 2026 Presentations</a:t>
            </a:r>
          </a:p>
        </p:txBody>
      </p:sp>
      <p:sp>
        <p:nvSpPr>
          <p:cNvPr id="4" name="TextBox 3"/>
          <p:cNvSpPr txBox="1"/>
          <p:nvPr/>
        </p:nvSpPr>
        <p:spPr>
          <a:xfrm>
            <a:off x="1188720" y="4754880"/>
            <a:ext cx="9784080" cy="914400"/>
          </a:xfrm>
          <a:prstGeom prst="rect">
            <a:avLst/>
          </a:prstGeom>
          <a:noFill/>
        </p:spPr>
        <p:txBody>
          <a:bodyPr wrap="square" anchor="t">
            <a:spAutoFit/>
          </a:bodyPr>
          <a:lstStyle/>
          <a:p>
            <a:pPr algn="ctr">
              <a:defRPr sz="1200" b="0" i="0">
                <a:solidFill>
                  <a:srgbClr val="FFFFFF"/>
                </a:solidFill>
                <a:latin typeface="Arial"/>
              </a:defRPr>
            </a:pPr>
            <a:r>
              <a:t>August 31, 2026</a:t>
            </a:r>
            <a:br/>
            <a:r>
              <a:t>CONFIDENTIAL — For Internal Use Only</a:t>
            </a:r>
          </a:p>
        </p:txBody>
      </p:sp>
      <p:sp>
        <p:nvSpPr>
          <p:cNvPr id="5" name="TextBox 4"/>
          <p:cNvSpPr txBox="1"/>
          <p:nvPr/>
        </p:nvSpPr>
        <p:spPr>
          <a:xfrm>
            <a:off x="1188720" y="5943600"/>
            <a:ext cx="9784080" cy="457200"/>
          </a:xfrm>
          <a:prstGeom prst="rect">
            <a:avLst/>
          </a:prstGeom>
          <a:noFill/>
        </p:spPr>
        <p:txBody>
          <a:bodyPr wrap="square" anchor="t">
            <a:spAutoFit/>
          </a:bodyPr>
          <a:lstStyle/>
          <a:p>
            <a:pPr algn="ctr">
              <a:defRPr sz="900" b="0" i="1">
                <a:solidFill>
                  <a:srgbClr val="F5D6B0"/>
                </a:solidFill>
                <a:latin typeface="Arial"/>
              </a:defRPr>
            </a:pPr>
            <a:r>
              <a:t>Review is required before disclosure.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TYK2 Inhibitors: Mechanism &amp; Competitive Context</a:t>
            </a:r>
          </a:p>
        </p:txBody>
      </p:sp>
      <p:sp>
        <p:nvSpPr>
          <p:cNvPr id="4" name="TextBox 3"/>
          <p:cNvSpPr txBox="1"/>
          <p:nvPr/>
        </p:nvSpPr>
        <p:spPr>
          <a:xfrm>
            <a:off x="457200" y="1097280"/>
            <a:ext cx="11247120" cy="2560320"/>
          </a:xfrm>
          <a:prstGeom prst="rect">
            <a:avLst/>
          </a:prstGeom>
          <a:noFill/>
        </p:spPr>
        <p:txBody>
          <a:bodyPr wrap="square">
            <a:spAutoFit/>
          </a:bodyPr>
          <a:lstStyle/>
          <a:p>
            <a:pPr>
              <a:spcAft>
                <a:spcPts val="600"/>
              </a:spcAft>
              <a:defRPr sz="1600" b="1">
                <a:solidFill>
                  <a:srgbClr val="C8102E"/>
                </a:solidFill>
                <a:latin typeface="Arial"/>
              </a:defRPr>
            </a:pPr>
            <a:r>
              <a:t>TYK2 as a Therapeutic Target in Psoriasis</a:t>
            </a:r>
          </a:p>
          <a:p>
            <a:pPr>
              <a:spcAft>
                <a:spcPts val="400"/>
              </a:spcAft>
              <a:defRPr sz="1300">
                <a:solidFill>
                  <a:srgbClr val="212121"/>
                </a:solidFill>
                <a:latin typeface="Arial"/>
              </a:defRPr>
            </a:pPr>
            <a:r>
              <a:t>• TYK2 mediates signaling of IL-23, IL-12, and type I IFN — key drivers of psoriasis pathogenesis</a:t>
            </a:r>
          </a:p>
          <a:p>
            <a:pPr>
              <a:spcAft>
                <a:spcPts val="400"/>
              </a:spcAft>
              <a:defRPr sz="1300">
                <a:solidFill>
                  <a:srgbClr val="212121"/>
                </a:solidFill>
                <a:latin typeface="Arial"/>
              </a:defRPr>
            </a:pPr>
            <a:r>
              <a:t>• Allosteric TYK2 inhibitors bind the JH2 (regulatory/pseudokinase) domain, not the catalytic JH1 site</a:t>
            </a:r>
          </a:p>
          <a:p>
            <a:pPr>
              <a:spcAft>
                <a:spcPts val="400"/>
              </a:spcAft>
              <a:defRPr sz="1300">
                <a:solidFill>
                  <a:srgbClr val="212121"/>
                </a:solidFill>
                <a:latin typeface="Arial"/>
              </a:defRPr>
            </a:pPr>
            <a:r>
              <a:t>• JH2 binding provides high selectivity for TYK2 over other JAK family members (JAK1/2/3)</a:t>
            </a:r>
          </a:p>
          <a:p>
            <a:pPr>
              <a:spcAft>
                <a:spcPts val="400"/>
              </a:spcAft>
              <a:defRPr sz="1300">
                <a:solidFill>
                  <a:srgbClr val="212121"/>
                </a:solidFill>
                <a:latin typeface="Arial"/>
              </a:defRPr>
            </a:pPr>
            <a:r>
              <a:t>• Deucravacitinib (Sotyktu®, BMS) is the first-in-class approved TYK2i (2022), but next-gen compounds aim for improved potency</a:t>
            </a:r>
          </a:p>
        </p:txBody>
      </p:sp>
      <p:sp>
        <p:nvSpPr>
          <p:cNvPr id="5" name="TextBox 4"/>
          <p:cNvSpPr txBox="1"/>
          <p:nvPr/>
        </p:nvSpPr>
        <p:spPr>
          <a:xfrm>
            <a:off x="457200" y="3840480"/>
            <a:ext cx="11247120" cy="2560320"/>
          </a:xfrm>
          <a:prstGeom prst="rect">
            <a:avLst/>
          </a:prstGeom>
          <a:noFill/>
        </p:spPr>
        <p:txBody>
          <a:bodyPr wrap="square">
            <a:spAutoFit/>
          </a:bodyPr>
          <a:lstStyle/>
          <a:p>
            <a:pPr>
              <a:spcAft>
                <a:spcPts val="600"/>
              </a:spcAft>
              <a:defRPr sz="1600" b="1">
                <a:solidFill>
                  <a:srgbClr val="C8102E"/>
                </a:solidFill>
                <a:latin typeface="Arial"/>
              </a:defRPr>
            </a:pPr>
            <a:r>
              <a:t>Compounds in This Analysis</a:t>
            </a:r>
          </a:p>
          <a:p>
            <a:pPr>
              <a:spcAft>
                <a:spcPts val="400"/>
              </a:spcAft>
              <a:defRPr sz="1300">
                <a:solidFill>
                  <a:srgbClr val="212121"/>
                </a:solidFill>
                <a:latin typeface="Arial"/>
              </a:defRPr>
            </a:pPr>
            <a:r>
              <a:t>• Zasocitinib (Takeda): once-daily oral, Phase 3 LATITUDE program — 3001 (N=693) &amp; 3002 (N=1108)</a:t>
            </a:r>
          </a:p>
          <a:p>
            <a:pPr>
              <a:spcAft>
                <a:spcPts val="400"/>
              </a:spcAft>
              <a:defRPr sz="1300">
                <a:solidFill>
                  <a:srgbClr val="212121"/>
                </a:solidFill>
                <a:latin typeface="Arial"/>
              </a:defRPr>
            </a:pPr>
            <a:r>
              <a:t>• Envudeucitinib / ESK-001 (Alumis): 40 mg BID oral, Phase 3 ONWARD program — ONWARD1 (N=912) &amp; ONWARD2 (N=859)</a:t>
            </a:r>
          </a:p>
          <a:p>
            <a:pPr>
              <a:spcAft>
                <a:spcPts val="400"/>
              </a:spcAft>
              <a:defRPr sz="1300">
                <a:solidFill>
                  <a:srgbClr val="212121"/>
                </a:solidFill>
                <a:latin typeface="Arial"/>
              </a:defRPr>
            </a:pPr>
            <a:r>
              <a:t>• Both used apremilast 30 mg BID as active comparator and placebo as control</a:t>
            </a:r>
          </a:p>
          <a:p>
            <a:pPr>
              <a:spcAft>
                <a:spcPts val="400"/>
              </a:spcAft>
              <a:defRPr sz="1300">
                <a:solidFill>
                  <a:srgbClr val="212121"/>
                </a:solidFill>
                <a:latin typeface="Arial"/>
              </a:defRPr>
            </a:pPr>
            <a:r>
              <a:t>• Both evaluated co-primary endpoints: PASI 75 + sPGA 0/1 at Week 16</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Zasocitinib — Study Design: LATITUDE-PsO-3001 &amp; 3002</a:t>
            </a:r>
          </a:p>
        </p:txBody>
      </p:sp>
      <p:sp>
        <p:nvSpPr>
          <p:cNvPr id="4" name="TextBox 3"/>
          <p:cNvSpPr txBox="1"/>
          <p:nvPr/>
        </p:nvSpPr>
        <p:spPr>
          <a:xfrm>
            <a:off x="45720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Study Design</a:t>
            </a:r>
          </a:p>
          <a:p>
            <a:pPr>
              <a:spcAft>
                <a:spcPts val="400"/>
              </a:spcAft>
              <a:defRPr sz="1300">
                <a:solidFill>
                  <a:srgbClr val="212121"/>
                </a:solidFill>
                <a:latin typeface="Arial"/>
              </a:defRPr>
            </a:pPr>
            <a:r>
              <a:t>• Two Phase 3, randomized, double-blind, active comparator- and placebo-controlled studies</a:t>
            </a:r>
          </a:p>
          <a:p>
            <a:pPr>
              <a:spcAft>
                <a:spcPts val="400"/>
              </a:spcAft>
              <a:defRPr sz="1300">
                <a:solidFill>
                  <a:srgbClr val="212121"/>
                </a:solidFill>
                <a:latin typeface="Arial"/>
              </a:defRPr>
            </a:pPr>
            <a:r>
              <a:t>• LATITUDE-PsO-3001: N=693 (zasocitinib 416, apremilast 137, PBO 140)</a:t>
            </a:r>
          </a:p>
          <a:p>
            <a:pPr>
              <a:spcAft>
                <a:spcPts val="400"/>
              </a:spcAft>
              <a:defRPr sz="1300">
                <a:solidFill>
                  <a:srgbClr val="212121"/>
                </a:solidFill>
                <a:latin typeface="Arial"/>
              </a:defRPr>
            </a:pPr>
            <a:r>
              <a:t>• LATITUDE-PsO-3002: N=1108 (zasocitinib 555, apremilast 276, PBO 277)</a:t>
            </a:r>
          </a:p>
          <a:p>
            <a:pPr>
              <a:spcAft>
                <a:spcPts val="400"/>
              </a:spcAft>
              <a:defRPr sz="1300">
                <a:solidFill>
                  <a:srgbClr val="212121"/>
                </a:solidFill>
                <a:latin typeface="Arial"/>
              </a:defRPr>
            </a:pPr>
            <a:r>
              <a:t>• Randomization: approximately 3:1:1 (zasocitinib : apremilast : PBO)</a:t>
            </a:r>
          </a:p>
          <a:p>
            <a:pPr>
              <a:spcAft>
                <a:spcPts val="400"/>
              </a:spcAft>
              <a:defRPr sz="1300">
                <a:solidFill>
                  <a:srgbClr val="212121"/>
                </a:solidFill>
                <a:latin typeface="Arial"/>
              </a:defRPr>
            </a:pPr>
            <a:r>
              <a:t>• Population: adults ≥18 years with moderate-to-severe plaque psoriasis (BSA ≥10%, PASI ≥12, sPGA ≥3)</a:t>
            </a:r>
          </a:p>
          <a:p>
            <a:pPr>
              <a:spcAft>
                <a:spcPts val="400"/>
              </a:spcAft>
              <a:defRPr sz="1300">
                <a:solidFill>
                  <a:srgbClr val="212121"/>
                </a:solidFill>
                <a:latin typeface="Arial"/>
              </a:defRPr>
            </a:pPr>
            <a:r>
              <a:t>• Co-primary endpoints: PASI 75 + sPGA 0/1 at Week 16</a:t>
            </a:r>
          </a:p>
          <a:p>
            <a:pPr>
              <a:spcAft>
                <a:spcPts val="400"/>
              </a:spcAft>
              <a:defRPr sz="1300">
                <a:solidFill>
                  <a:srgbClr val="212121"/>
                </a:solidFill>
                <a:latin typeface="Arial"/>
              </a:defRPr>
            </a:pPr>
            <a:r>
              <a:t>• Key secondary: PASI 90, PASI 100, sPGA 0 at Wk16; durability through Wk24</a:t>
            </a:r>
          </a:p>
        </p:txBody>
      </p:sp>
      <p:sp>
        <p:nvSpPr>
          <p:cNvPr id="5" name="TextBox 4"/>
          <p:cNvSpPr txBox="1"/>
          <p:nvPr/>
        </p:nvSpPr>
        <p:spPr>
          <a:xfrm>
            <a:off x="621792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Key Details</a:t>
            </a:r>
          </a:p>
          <a:p>
            <a:pPr>
              <a:spcAft>
                <a:spcPts val="400"/>
              </a:spcAft>
              <a:defRPr sz="1300">
                <a:solidFill>
                  <a:srgbClr val="212121"/>
                </a:solidFill>
                <a:latin typeface="Arial"/>
              </a:defRPr>
            </a:pPr>
            <a:r>
              <a:t>• Zasocitinib: once-daily oral (dose level not publicly specified in AAD poster)</a:t>
            </a:r>
          </a:p>
          <a:p>
            <a:pPr>
              <a:spcAft>
                <a:spcPts val="400"/>
              </a:spcAft>
              <a:defRPr sz="1300">
                <a:solidFill>
                  <a:srgbClr val="212121"/>
                </a:solidFill>
                <a:latin typeface="Arial"/>
              </a:defRPr>
            </a:pPr>
            <a:r>
              <a:t>• Active comparator: apremilast 30 mg BID</a:t>
            </a:r>
          </a:p>
          <a:p>
            <a:pPr>
              <a:spcAft>
                <a:spcPts val="400"/>
              </a:spcAft>
              <a:defRPr sz="1300">
                <a:solidFill>
                  <a:srgbClr val="212121"/>
                </a:solidFill>
                <a:latin typeface="Arial"/>
              </a:defRPr>
            </a:pPr>
            <a:r>
              <a:t>• Nonresponder imputation (NRI) for binary endpoints</a:t>
            </a:r>
          </a:p>
          <a:p>
            <a:pPr>
              <a:spcAft>
                <a:spcPts val="400"/>
              </a:spcAft>
              <a:defRPr sz="1300">
                <a:solidFill>
                  <a:srgbClr val="212121"/>
                </a:solidFill>
                <a:latin typeface="Arial"/>
              </a:defRPr>
            </a:pPr>
            <a:r>
              <a:t>• Takeda-sponsored; presented at AAD March 2026</a:t>
            </a:r>
          </a:p>
          <a:p>
            <a:pPr>
              <a:spcAft>
                <a:spcPts val="400"/>
              </a:spcAft>
              <a:defRPr sz="1300">
                <a:solidFill>
                  <a:srgbClr val="212121"/>
                </a:solidFill>
                <a:latin typeface="Arial"/>
              </a:defRPr>
            </a:pPr>
            <a:r>
              <a:t>• Randomized withdrawal in 3002: responders at Wk40 re-randomized to zasocitinib or PBO</a:t>
            </a:r>
          </a:p>
          <a:p>
            <a:pPr>
              <a:spcAft>
                <a:spcPts val="400"/>
              </a:spcAft>
              <a:defRPr sz="1300">
                <a:solidFill>
                  <a:srgbClr val="212121"/>
                </a:solidFill>
                <a:latin typeface="Arial"/>
              </a:defRPr>
            </a:pPr>
            <a:r>
              <a:t>• 90%+ of Wk40 responders maintained sPGA 0/1, PASI 75, PASI 90 through Wk60 on continued treatment</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Zasocitinib — Key Efficacy Results at Week 16</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extLst>
                    <a:ext uri="{9D8B030D-6E8A-4147-A177-3AD203B41FA5}">
                      <a16:colId xmlns:a16="http://schemas.microsoft.com/office/drawing/2014/main" val="20000"/>
                    </a:ext>
                  </a:extLst>
                </a:gridCol>
                <a:gridCol w="1632857">
                  <a:extLst>
                    <a:ext uri="{9D8B030D-6E8A-4147-A177-3AD203B41FA5}">
                      <a16:colId xmlns:a16="http://schemas.microsoft.com/office/drawing/2014/main" val="20001"/>
                    </a:ext>
                  </a:extLst>
                </a:gridCol>
                <a:gridCol w="1632857">
                  <a:extLst>
                    <a:ext uri="{9D8B030D-6E8A-4147-A177-3AD203B41FA5}">
                      <a16:colId xmlns:a16="http://schemas.microsoft.com/office/drawing/2014/main" val="20002"/>
                    </a:ext>
                  </a:extLst>
                </a:gridCol>
                <a:gridCol w="1632857">
                  <a:extLst>
                    <a:ext uri="{9D8B030D-6E8A-4147-A177-3AD203B41FA5}">
                      <a16:colId xmlns:a16="http://schemas.microsoft.com/office/drawing/2014/main" val="20003"/>
                    </a:ext>
                  </a:extLst>
                </a:gridCol>
                <a:gridCol w="1632857">
                  <a:extLst>
                    <a:ext uri="{9D8B030D-6E8A-4147-A177-3AD203B41FA5}">
                      <a16:colId xmlns:a16="http://schemas.microsoft.com/office/drawing/2014/main" val="20004"/>
                    </a:ext>
                  </a:extLst>
                </a:gridCol>
                <a:gridCol w="1632857">
                  <a:extLst>
                    <a:ext uri="{9D8B030D-6E8A-4147-A177-3AD203B41FA5}">
                      <a16:colId xmlns:a16="http://schemas.microsoft.com/office/drawing/2014/main" val="20005"/>
                    </a:ext>
                  </a:extLst>
                </a:gridCol>
                <a:gridCol w="1632858">
                  <a:extLst>
                    <a:ext uri="{9D8B030D-6E8A-4147-A177-3AD203B41FA5}">
                      <a16:colId xmlns:a16="http://schemas.microsoft.com/office/drawing/2014/main" val="20006"/>
                    </a:ext>
                  </a:extLst>
                </a:gridCol>
              </a:tblGrid>
              <a:tr h="718457">
                <a:tc>
                  <a:txBody>
                    <a:bodyPr/>
                    <a:lstStyle/>
                    <a:p>
                      <a:pPr>
                        <a:defRPr sz="1000" b="1">
                          <a:solidFill>
                            <a:srgbClr val="FFFFFF"/>
                          </a:solidFill>
                          <a:latin typeface="Arial"/>
                        </a:defRPr>
                      </a:pPr>
                      <a:r>
                        <a:t>Endpoint</a:t>
                      </a:r>
                    </a:p>
                  </a:txBody>
                  <a:tcPr>
                    <a:solidFill>
                      <a:srgbClr val="E1251B"/>
                    </a:solidFill>
                  </a:tcPr>
                </a:tc>
                <a:tc>
                  <a:txBody>
                    <a:bodyPr/>
                    <a:lstStyle/>
                    <a:p>
                      <a:pPr>
                        <a:defRPr sz="1000" b="1">
                          <a:solidFill>
                            <a:srgbClr val="FFFFFF"/>
                          </a:solidFill>
                          <a:latin typeface="Arial"/>
                        </a:defRPr>
                      </a:pPr>
                      <a:r>
                        <a:t>3001: Zasocitinib</a:t>
                      </a:r>
                    </a:p>
                  </a:txBody>
                  <a:tcPr>
                    <a:solidFill>
                      <a:srgbClr val="E1251B"/>
                    </a:solidFill>
                  </a:tcPr>
                </a:tc>
                <a:tc>
                  <a:txBody>
                    <a:bodyPr/>
                    <a:lstStyle/>
                    <a:p>
                      <a:pPr>
                        <a:defRPr sz="1000" b="1">
                          <a:solidFill>
                            <a:srgbClr val="FFFFFF"/>
                          </a:solidFill>
                          <a:latin typeface="Arial"/>
                        </a:defRPr>
                      </a:pPr>
                      <a:r>
                        <a:t>3001: Apremilast</a:t>
                      </a:r>
                    </a:p>
                  </a:txBody>
                  <a:tcPr>
                    <a:solidFill>
                      <a:srgbClr val="E1251B"/>
                    </a:solidFill>
                  </a:tcPr>
                </a:tc>
                <a:tc>
                  <a:txBody>
                    <a:bodyPr/>
                    <a:lstStyle/>
                    <a:p>
                      <a:pPr>
                        <a:defRPr sz="1000" b="1">
                          <a:solidFill>
                            <a:srgbClr val="FFFFFF"/>
                          </a:solidFill>
                          <a:latin typeface="Arial"/>
                        </a:defRPr>
                      </a:pPr>
                      <a:r>
                        <a:t>3001: PBO</a:t>
                      </a:r>
                    </a:p>
                  </a:txBody>
                  <a:tcPr>
                    <a:solidFill>
                      <a:srgbClr val="E1251B"/>
                    </a:solidFill>
                  </a:tcPr>
                </a:tc>
                <a:tc>
                  <a:txBody>
                    <a:bodyPr/>
                    <a:lstStyle/>
                    <a:p>
                      <a:pPr>
                        <a:defRPr sz="1000" b="1">
                          <a:solidFill>
                            <a:srgbClr val="FFFFFF"/>
                          </a:solidFill>
                          <a:latin typeface="Arial"/>
                        </a:defRPr>
                      </a:pPr>
                      <a:r>
                        <a:t>3002: Zasocitinib</a:t>
                      </a:r>
                    </a:p>
                  </a:txBody>
                  <a:tcPr>
                    <a:solidFill>
                      <a:srgbClr val="E1251B"/>
                    </a:solidFill>
                  </a:tcPr>
                </a:tc>
                <a:tc>
                  <a:txBody>
                    <a:bodyPr/>
                    <a:lstStyle/>
                    <a:p>
                      <a:pPr>
                        <a:defRPr sz="1000" b="1">
                          <a:solidFill>
                            <a:srgbClr val="FFFFFF"/>
                          </a:solidFill>
                          <a:latin typeface="Arial"/>
                        </a:defRPr>
                      </a:pPr>
                      <a:r>
                        <a:t>3002: Apremilast</a:t>
                      </a:r>
                    </a:p>
                  </a:txBody>
                  <a:tcPr>
                    <a:solidFill>
                      <a:srgbClr val="E1251B"/>
                    </a:solidFill>
                  </a:tcPr>
                </a:tc>
                <a:tc>
                  <a:txBody>
                    <a:bodyPr/>
                    <a:lstStyle/>
                    <a:p>
                      <a:pPr>
                        <a:defRPr sz="1000" b="1">
                          <a:solidFill>
                            <a:srgbClr val="FFFFFF"/>
                          </a:solidFill>
                          <a:latin typeface="Arial"/>
                        </a:defRPr>
                      </a:pPr>
                      <a:r>
                        <a:t>3002: PBO</a:t>
                      </a:r>
                    </a:p>
                  </a:txBody>
                  <a:tcPr>
                    <a:solidFill>
                      <a:srgbClr val="E1251B"/>
                    </a:solidFill>
                  </a:tcPr>
                </a:tc>
                <a:extLst>
                  <a:ext uri="{0D108BD9-81ED-4DB2-BD59-A6C34878D82A}">
                    <a16:rowId xmlns:a16="http://schemas.microsoft.com/office/drawing/2014/main" val="10000"/>
                  </a:ext>
                </a:extLst>
              </a:tr>
              <a:tr h="718457">
                <a:tc>
                  <a:txBody>
                    <a:bodyPr/>
                    <a:lstStyle/>
                    <a:p>
                      <a:pPr>
                        <a:defRPr sz="950">
                          <a:solidFill>
                            <a:srgbClr val="212121"/>
                          </a:solidFill>
                          <a:latin typeface="Arial"/>
                        </a:defRPr>
                      </a:pPr>
                      <a:r>
                        <a:t>PASI 75ᵃ</a:t>
                      </a:r>
                    </a:p>
                  </a:txBody>
                  <a:tcPr/>
                </a:tc>
                <a:tc>
                  <a:txBody>
                    <a:bodyPr/>
                    <a:lstStyle/>
                    <a:p>
                      <a:pPr>
                        <a:defRPr sz="950">
                          <a:solidFill>
                            <a:srgbClr val="212121"/>
                          </a:solidFill>
                          <a:latin typeface="Arial"/>
                        </a:defRPr>
                      </a:pPr>
                      <a:r>
                        <a:t>76%</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12%</a:t>
                      </a:r>
                    </a:p>
                  </a:txBody>
                  <a:tcPr/>
                </a:tc>
                <a:tc>
                  <a:txBody>
                    <a:bodyPr/>
                    <a:lstStyle/>
                    <a:p>
                      <a:pPr>
                        <a:defRPr sz="950">
                          <a:solidFill>
                            <a:srgbClr val="212121"/>
                          </a:solidFill>
                          <a:latin typeface="Arial"/>
                        </a:defRPr>
                      </a:pPr>
                      <a:r>
                        <a:t>71%</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12%</a:t>
                      </a:r>
                    </a:p>
                  </a:txBody>
                  <a:tcPr/>
                </a:tc>
                <a:extLst>
                  <a:ext uri="{0D108BD9-81ED-4DB2-BD59-A6C34878D82A}">
                    <a16:rowId xmlns:a16="http://schemas.microsoft.com/office/drawing/2014/main" val="10001"/>
                  </a:ext>
                </a:extLst>
              </a:tr>
              <a:tr h="718457">
                <a:tc>
                  <a:txBody>
                    <a:bodyPr/>
                    <a:lstStyle/>
                    <a:p>
                      <a:pPr>
                        <a:defRPr sz="950">
                          <a:solidFill>
                            <a:srgbClr val="212121"/>
                          </a:solidFill>
                          <a:latin typeface="Arial"/>
                        </a:defRPr>
                      </a:pPr>
                      <a:r>
                        <a:t>sPGA 0/1ᵃ</a:t>
                      </a:r>
                    </a:p>
                  </a:txBody>
                  <a:tcPr>
                    <a:solidFill>
                      <a:srgbClr val="F5F5F5"/>
                    </a:solidFill>
                  </a:tcPr>
                </a:tc>
                <a:tc>
                  <a:txBody>
                    <a:bodyPr/>
                    <a:lstStyle/>
                    <a:p>
                      <a:pPr>
                        <a:defRPr sz="950">
                          <a:solidFill>
                            <a:srgbClr val="212121"/>
                          </a:solidFill>
                          <a:latin typeface="Arial"/>
                        </a:defRPr>
                      </a:pPr>
                      <a:r>
                        <a:t>71%</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11%</a:t>
                      </a:r>
                    </a:p>
                  </a:txBody>
                  <a:tcPr>
                    <a:solidFill>
                      <a:srgbClr val="F5F5F5"/>
                    </a:solidFill>
                  </a:tcPr>
                </a:tc>
                <a:tc>
                  <a:txBody>
                    <a:bodyPr/>
                    <a:lstStyle/>
                    <a:p>
                      <a:pPr>
                        <a:defRPr sz="950">
                          <a:solidFill>
                            <a:srgbClr val="212121"/>
                          </a:solidFill>
                          <a:latin typeface="Arial"/>
                        </a:defRPr>
                      </a:pPr>
                      <a:r>
                        <a:t>69%</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13%</a:t>
                      </a:r>
                    </a:p>
                  </a:txBody>
                  <a:tcPr>
                    <a:solidFill>
                      <a:srgbClr val="F5F5F5"/>
                    </a:solidFill>
                  </a:tcPr>
                </a:tc>
                <a:extLst>
                  <a:ext uri="{0D108BD9-81ED-4DB2-BD59-A6C34878D82A}">
                    <a16:rowId xmlns:a16="http://schemas.microsoft.com/office/drawing/2014/main" val="10002"/>
                  </a:ext>
                </a:extLst>
              </a:tr>
              <a:tr h="718457">
                <a:tc>
                  <a:txBody>
                    <a:bodyPr/>
                    <a:lstStyle/>
                    <a:p>
                      <a:pPr>
                        <a:defRPr sz="950">
                          <a:solidFill>
                            <a:srgbClr val="212121"/>
                          </a:solidFill>
                          <a:latin typeface="Arial"/>
                        </a:defRPr>
                      </a:pPr>
                      <a:r>
                        <a:t>PASI 90</a:t>
                      </a:r>
                    </a:p>
                  </a:txBody>
                  <a:tcPr/>
                </a:tc>
                <a:tc>
                  <a:txBody>
                    <a:bodyPr/>
                    <a:lstStyle/>
                    <a:p>
                      <a:pPr>
                        <a:defRPr sz="950">
                          <a:solidFill>
                            <a:srgbClr val="212121"/>
                          </a:solidFill>
                          <a:latin typeface="Arial"/>
                        </a:defRPr>
                      </a:pPr>
                      <a:r>
                        <a:t>61%</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5%</a:t>
                      </a:r>
                    </a:p>
                  </a:txBody>
                  <a:tcPr/>
                </a:tc>
                <a:tc>
                  <a:txBody>
                    <a:bodyPr/>
                    <a:lstStyle/>
                    <a:p>
                      <a:pPr>
                        <a:defRPr sz="950">
                          <a:solidFill>
                            <a:srgbClr val="212121"/>
                          </a:solidFill>
                          <a:latin typeface="Arial"/>
                        </a:defRPr>
                      </a:pPr>
                      <a:r>
                        <a:t>52%</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4%</a:t>
                      </a:r>
                    </a:p>
                  </a:txBody>
                  <a:tcPr/>
                </a:tc>
                <a:extLst>
                  <a:ext uri="{0D108BD9-81ED-4DB2-BD59-A6C34878D82A}">
                    <a16:rowId xmlns:a16="http://schemas.microsoft.com/office/drawing/2014/main" val="10003"/>
                  </a:ext>
                </a:extLst>
              </a:tr>
              <a:tr h="718457">
                <a:tc>
                  <a:txBody>
                    <a:bodyPr/>
                    <a:lstStyle/>
                    <a:p>
                      <a:pPr>
                        <a:defRPr sz="950">
                          <a:solidFill>
                            <a:srgbClr val="212121"/>
                          </a:solidFill>
                          <a:latin typeface="Arial"/>
                        </a:defRPr>
                      </a:pPr>
                      <a:r>
                        <a:t>PASI 100</a:t>
                      </a:r>
                    </a:p>
                  </a:txBody>
                  <a:tcPr>
                    <a:solidFill>
                      <a:srgbClr val="F5F5F5"/>
                    </a:solidFill>
                  </a:tcPr>
                </a:tc>
                <a:tc>
                  <a:txBody>
                    <a:bodyPr/>
                    <a:lstStyle/>
                    <a:p>
                      <a:pPr>
                        <a:defRPr sz="950">
                          <a:solidFill>
                            <a:srgbClr val="212121"/>
                          </a:solidFill>
                          <a:latin typeface="Arial"/>
                        </a:defRPr>
                      </a:pPr>
                      <a:r>
                        <a:t>33%</a:t>
                      </a:r>
                    </a:p>
                  </a:txBody>
                  <a:tcPr>
                    <a:solidFill>
                      <a:srgbClr val="F5F5F5"/>
                    </a:solidFill>
                  </a:tcPr>
                </a:tc>
                <a:tc>
                  <a:txBody>
                    <a:bodyPr/>
                    <a:lstStyle/>
                    <a:p>
                      <a:pPr>
                        <a:defRPr sz="950">
                          <a:solidFill>
                            <a:srgbClr val="212121"/>
                          </a:solidFill>
                          <a:latin typeface="Arial"/>
                        </a:defRPr>
                      </a:pPr>
                      <a:r>
                        <a:t>3%</a:t>
                      </a:r>
                    </a:p>
                  </a:txBody>
                  <a:tcPr>
                    <a:solidFill>
                      <a:srgbClr val="F5F5F5"/>
                    </a:solidFill>
                  </a:tcPr>
                </a:tc>
                <a:tc>
                  <a:txBody>
                    <a:bodyPr/>
                    <a:lstStyle/>
                    <a:p>
                      <a:pPr>
                        <a:defRPr sz="950">
                          <a:solidFill>
                            <a:srgbClr val="212121"/>
                          </a:solidFill>
                          <a:latin typeface="Arial"/>
                        </a:defRPr>
                      </a:pPr>
                      <a:r>
                        <a:t>3%</a:t>
                      </a:r>
                    </a:p>
                  </a:txBody>
                  <a:tcPr>
                    <a:solidFill>
                      <a:srgbClr val="F5F5F5"/>
                    </a:solidFill>
                  </a:tcPr>
                </a:tc>
                <a:tc>
                  <a:txBody>
                    <a:bodyPr/>
                    <a:lstStyle/>
                    <a:p>
                      <a:pPr>
                        <a:defRPr sz="950">
                          <a:solidFill>
                            <a:srgbClr val="212121"/>
                          </a:solidFill>
                          <a:latin typeface="Arial"/>
                        </a:defRPr>
                      </a:pPr>
                      <a:r>
                        <a:t>25%</a:t>
                      </a:r>
                    </a:p>
                  </a:txBody>
                  <a:tcPr>
                    <a:solidFill>
                      <a:srgbClr val="F5F5F5"/>
                    </a:solidFill>
                  </a:tcPr>
                </a:tc>
                <a:tc>
                  <a:txBody>
                    <a:bodyPr/>
                    <a:lstStyle/>
                    <a:p>
                      <a:pPr>
                        <a:defRPr sz="950">
                          <a:solidFill>
                            <a:srgbClr val="212121"/>
                          </a:solidFill>
                          <a:latin typeface="Arial"/>
                        </a:defRPr>
                      </a:pPr>
                      <a:r>
                        <a:t>4%</a:t>
                      </a:r>
                    </a:p>
                  </a:txBody>
                  <a:tcPr>
                    <a:solidFill>
                      <a:srgbClr val="F5F5F5"/>
                    </a:solidFill>
                  </a:tcPr>
                </a:tc>
                <a:tc>
                  <a:txBody>
                    <a:bodyPr/>
                    <a:lstStyle/>
                    <a:p>
                      <a:pPr>
                        <a:defRPr sz="950">
                          <a:solidFill>
                            <a:srgbClr val="212121"/>
                          </a:solidFill>
                          <a:latin typeface="Arial"/>
                        </a:defRPr>
                      </a:pPr>
                      <a:r>
                        <a:t>1%</a:t>
                      </a:r>
                    </a:p>
                  </a:txBody>
                  <a:tcPr>
                    <a:solidFill>
                      <a:srgbClr val="F5F5F5"/>
                    </a:solidFill>
                  </a:tcPr>
                </a:tc>
                <a:extLst>
                  <a:ext uri="{0D108BD9-81ED-4DB2-BD59-A6C34878D82A}">
                    <a16:rowId xmlns:a16="http://schemas.microsoft.com/office/drawing/2014/main" val="10004"/>
                  </a:ext>
                </a:extLst>
              </a:tr>
              <a:tr h="718457">
                <a:tc>
                  <a:txBody>
                    <a:bodyPr/>
                    <a:lstStyle/>
                    <a:p>
                      <a:pPr>
                        <a:defRPr sz="950">
                          <a:solidFill>
                            <a:srgbClr val="212121"/>
                          </a:solidFill>
                          <a:latin typeface="Arial"/>
                        </a:defRPr>
                      </a:pPr>
                      <a:r>
                        <a:t>sPGA 0</a:t>
                      </a:r>
                    </a:p>
                  </a:txBody>
                  <a:tcPr/>
                </a:tc>
                <a:tc>
                  <a:txBody>
                    <a:bodyPr/>
                    <a:lstStyle/>
                    <a:p>
                      <a:pPr>
                        <a:defRPr sz="950">
                          <a:solidFill>
                            <a:srgbClr val="212121"/>
                          </a:solidFill>
                          <a:latin typeface="Arial"/>
                        </a:defRPr>
                      </a:pPr>
                      <a:r>
                        <a:t>40%</a:t>
                      </a:r>
                    </a:p>
                  </a:txBody>
                  <a:tcPr/>
                </a:tc>
                <a:tc>
                  <a:txBody>
                    <a:bodyPr/>
                    <a:lstStyle/>
                    <a:p>
                      <a:pPr>
                        <a:defRPr sz="950">
                          <a:solidFill>
                            <a:srgbClr val="212121"/>
                          </a:solidFill>
                          <a:latin typeface="Arial"/>
                        </a:defRPr>
                      </a:pPr>
                      <a:r>
                        <a:t>8%</a:t>
                      </a:r>
                    </a:p>
                  </a:txBody>
                  <a:tcPr/>
                </a:tc>
                <a:tc>
                  <a:txBody>
                    <a:bodyPr/>
                    <a:lstStyle/>
                    <a:p>
                      <a:pPr>
                        <a:defRPr sz="950">
                          <a:solidFill>
                            <a:srgbClr val="212121"/>
                          </a:solidFill>
                          <a:latin typeface="Arial"/>
                        </a:defRPr>
                      </a:pPr>
                      <a:r>
                        <a:t>8%</a:t>
                      </a:r>
                    </a:p>
                  </a:txBody>
                  <a:tcPr/>
                </a:tc>
                <a:tc>
                  <a:txBody>
                    <a:bodyPr/>
                    <a:lstStyle/>
                    <a:p>
                      <a:pPr>
                        <a:defRPr sz="950">
                          <a:solidFill>
                            <a:srgbClr val="212121"/>
                          </a:solidFill>
                          <a:latin typeface="Arial"/>
                        </a:defRPr>
                      </a:pPr>
                      <a:r>
                        <a:t>34%</a:t>
                      </a:r>
                    </a:p>
                  </a:txBody>
                  <a:tcPr/>
                </a:tc>
                <a:tc>
                  <a:txBody>
                    <a:bodyPr/>
                    <a:lstStyle/>
                    <a:p>
                      <a:pPr>
                        <a:defRPr sz="950">
                          <a:solidFill>
                            <a:srgbClr val="212121"/>
                          </a:solidFill>
                          <a:latin typeface="Arial"/>
                        </a:defRPr>
                      </a:pPr>
                      <a:r>
                        <a:t>7%</a:t>
                      </a:r>
                    </a:p>
                  </a:txBody>
                  <a:tcPr/>
                </a:tc>
                <a:tc>
                  <a:txBody>
                    <a:bodyPr/>
                    <a:lstStyle/>
                    <a:p>
                      <a:pPr>
                        <a:defRPr sz="950">
                          <a:solidFill>
                            <a:srgbClr val="212121"/>
                          </a:solidFill>
                          <a:latin typeface="Arial"/>
                        </a:defRPr>
                      </a:pPr>
                      <a:r>
                        <a:t>7%</a:t>
                      </a:r>
                    </a:p>
                  </a:txBody>
                  <a:tcPr/>
                </a:tc>
                <a:extLst>
                  <a:ext uri="{0D108BD9-81ED-4DB2-BD59-A6C34878D82A}">
                    <a16:rowId xmlns:a16="http://schemas.microsoft.com/office/drawing/2014/main" val="10005"/>
                  </a:ext>
                </a:extLst>
              </a:tr>
              <a:tr h="718458">
                <a:tc>
                  <a:txBody>
                    <a:bodyPr/>
                    <a:lstStyle/>
                    <a:p>
                      <a:pPr>
                        <a:defRPr sz="950">
                          <a:solidFill>
                            <a:srgbClr val="212121"/>
                          </a:solidFill>
                          <a:latin typeface="Arial"/>
                        </a:defRPr>
                      </a:pPr>
                      <a:r>
                        <a:t>DLQI 0/1</a:t>
                      </a:r>
                    </a:p>
                  </a:txBody>
                  <a:tcPr>
                    <a:solidFill>
                      <a:srgbClr val="F5F5F5"/>
                    </a:solidFill>
                  </a:tcPr>
                </a:tc>
                <a:tc>
                  <a:txBody>
                    <a:bodyPr/>
                    <a:lstStyle/>
                    <a:p>
                      <a:pPr>
                        <a:defRPr sz="950">
                          <a:solidFill>
                            <a:srgbClr val="212121"/>
                          </a:solidFill>
                          <a:latin typeface="Arial"/>
                        </a:defRPr>
                      </a:pPr>
                      <a:r>
                        <a:t>47%</a:t>
                      </a:r>
                    </a:p>
                  </a:txBody>
                  <a:tcPr>
                    <a:solidFill>
                      <a:srgbClr val="F5F5F5"/>
                    </a:solidFill>
                  </a:tcPr>
                </a:tc>
                <a:tc>
                  <a:txBody>
                    <a:bodyPr/>
                    <a:lstStyle/>
                    <a:p>
                      <a:pPr>
                        <a:defRPr sz="950">
                          <a:solidFill>
                            <a:srgbClr val="212121"/>
                          </a:solidFill>
                          <a:latin typeface="Arial"/>
                        </a:defRPr>
                      </a:pPr>
                      <a:r>
                        <a:t>26%</a:t>
                      </a:r>
                    </a:p>
                  </a:txBody>
                  <a:tcPr>
                    <a:solidFill>
                      <a:srgbClr val="F5F5F5"/>
                    </a:solidFill>
                  </a:tcPr>
                </a:tc>
                <a:tc>
                  <a:txBody>
                    <a:bodyPr/>
                    <a:lstStyle/>
                    <a:p>
                      <a:pPr>
                        <a:defRPr sz="950">
                          <a:solidFill>
                            <a:srgbClr val="212121"/>
                          </a:solidFill>
                          <a:latin typeface="Arial"/>
                        </a:defRPr>
                      </a:pPr>
                      <a:r>
                        <a:t>8%</a:t>
                      </a:r>
                    </a:p>
                  </a:txBody>
                  <a:tcPr>
                    <a:solidFill>
                      <a:srgbClr val="F5F5F5"/>
                    </a:solidFill>
                  </a:tcPr>
                </a:tc>
                <a:tc>
                  <a:txBody>
                    <a:bodyPr/>
                    <a:lstStyle/>
                    <a:p>
                      <a:pPr>
                        <a:defRPr sz="950">
                          <a:solidFill>
                            <a:srgbClr val="212121"/>
                          </a:solidFill>
                          <a:latin typeface="Arial"/>
                        </a:defRPr>
                      </a:pPr>
                      <a:r>
                        <a:t>51%</a:t>
                      </a:r>
                    </a:p>
                  </a:txBody>
                  <a:tcPr>
                    <a:solidFill>
                      <a:srgbClr val="F5F5F5"/>
                    </a:solidFill>
                  </a:tcPr>
                </a:tc>
                <a:tc>
                  <a:txBody>
                    <a:bodyPr/>
                    <a:lstStyle/>
                    <a:p>
                      <a:pPr>
                        <a:defRPr sz="950">
                          <a:solidFill>
                            <a:srgbClr val="212121"/>
                          </a:solidFill>
                          <a:latin typeface="Arial"/>
                        </a:defRPr>
                      </a:pPr>
                      <a:r>
                        <a:t>26%</a:t>
                      </a:r>
                    </a:p>
                  </a:txBody>
                  <a:tcPr>
                    <a:solidFill>
                      <a:srgbClr val="F5F5F5"/>
                    </a:solidFill>
                  </a:tcPr>
                </a:tc>
                <a:tc>
                  <a:txBody>
                    <a:bodyPr/>
                    <a:lstStyle/>
                    <a:p>
                      <a:pPr>
                        <a:defRPr sz="950">
                          <a:solidFill>
                            <a:srgbClr val="212121"/>
                          </a:solidFill>
                          <a:latin typeface="Arial"/>
                        </a:defRPr>
                      </a:pPr>
                      <a:r>
                        <a:t>13%</a:t>
                      </a:r>
                    </a:p>
                  </a:txBody>
                  <a:tcPr>
                    <a:solidFill>
                      <a:srgbClr val="F5F5F5"/>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ᵃCo-primary endpoint. NRI. All p&lt;0.001 vs PBO and apremilast. Review is required before disclosure.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Zasocitinib — Safety Summary Through Week 24</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502920">
                <a:tc>
                  <a:txBody>
                    <a:bodyPr/>
                    <a:lstStyle/>
                    <a:p>
                      <a:pPr>
                        <a:defRPr sz="1000" b="1">
                          <a:solidFill>
                            <a:srgbClr val="FFFFFF"/>
                          </a:solidFill>
                          <a:latin typeface="Arial"/>
                        </a:defRPr>
                      </a:pPr>
                      <a:r>
                        <a:t>TEAE Category</a:t>
                      </a:r>
                    </a:p>
                  </a:txBody>
                  <a:tcPr>
                    <a:solidFill>
                      <a:srgbClr val="E1251B"/>
                    </a:solidFill>
                  </a:tcPr>
                </a:tc>
                <a:tc>
                  <a:txBody>
                    <a:bodyPr/>
                    <a:lstStyle/>
                    <a:p>
                      <a:pPr>
                        <a:defRPr sz="1000" b="1">
                          <a:solidFill>
                            <a:srgbClr val="FFFFFF"/>
                          </a:solidFill>
                          <a:latin typeface="Arial"/>
                        </a:defRPr>
                      </a:pPr>
                      <a:r>
                        <a:t>Zasocitinib (n=970)</a:t>
                      </a:r>
                    </a:p>
                  </a:txBody>
                  <a:tcPr>
                    <a:solidFill>
                      <a:srgbClr val="E1251B"/>
                    </a:solidFill>
                  </a:tcPr>
                </a:tc>
                <a:tc>
                  <a:txBody>
                    <a:bodyPr/>
                    <a:lstStyle/>
                    <a:p>
                      <a:pPr>
                        <a:defRPr sz="1000" b="1">
                          <a:solidFill>
                            <a:srgbClr val="FFFFFF"/>
                          </a:solidFill>
                          <a:latin typeface="Arial"/>
                        </a:defRPr>
                      </a:pPr>
                      <a:r>
                        <a:t>Apremilast (n=412)</a:t>
                      </a:r>
                    </a:p>
                  </a:txBody>
                  <a:tcPr>
                    <a:solidFill>
                      <a:srgbClr val="E1251B"/>
                    </a:solidFill>
                  </a:tcPr>
                </a:tc>
                <a:tc>
                  <a:txBody>
                    <a:bodyPr/>
                    <a:lstStyle/>
                    <a:p>
                      <a:pPr>
                        <a:defRPr sz="1000" b="1">
                          <a:solidFill>
                            <a:srgbClr val="FFFFFF"/>
                          </a:solidFill>
                          <a:latin typeface="Arial"/>
                        </a:defRPr>
                      </a:pPr>
                      <a:r>
                        <a:t>PBO → Wk16 (n=417)</a:t>
                      </a:r>
                    </a:p>
                  </a:txBody>
                  <a:tcPr>
                    <a:solidFill>
                      <a:srgbClr val="E1251B"/>
                    </a:solidFill>
                  </a:tcPr>
                </a:tc>
                <a:extLst>
                  <a:ext uri="{0D108BD9-81ED-4DB2-BD59-A6C34878D82A}">
                    <a16:rowId xmlns:a16="http://schemas.microsoft.com/office/drawing/2014/main" val="10000"/>
                  </a:ext>
                </a:extLst>
              </a:tr>
              <a:tr h="502920">
                <a:tc>
                  <a:txBody>
                    <a:bodyPr/>
                    <a:lstStyle/>
                    <a:p>
                      <a:pPr>
                        <a:defRPr sz="950">
                          <a:solidFill>
                            <a:srgbClr val="212121"/>
                          </a:solidFill>
                          <a:latin typeface="Arial"/>
                        </a:defRPr>
                      </a:pPr>
                      <a:r>
                        <a:t>Any TEAE</a:t>
                      </a:r>
                    </a:p>
                  </a:txBody>
                  <a:tcPr/>
                </a:tc>
                <a:tc>
                  <a:txBody>
                    <a:bodyPr/>
                    <a:lstStyle/>
                    <a:p>
                      <a:pPr>
                        <a:defRPr sz="950">
                          <a:solidFill>
                            <a:srgbClr val="212121"/>
                          </a:solidFill>
                          <a:latin typeface="Arial"/>
                        </a:defRPr>
                      </a:pPr>
                      <a:r>
                        <a:t>69.3%</a:t>
                      </a:r>
                    </a:p>
                  </a:txBody>
                  <a:tcPr/>
                </a:tc>
                <a:tc>
                  <a:txBody>
                    <a:bodyPr/>
                    <a:lstStyle/>
                    <a:p>
                      <a:pPr>
                        <a:defRPr sz="950">
                          <a:solidFill>
                            <a:srgbClr val="212121"/>
                          </a:solidFill>
                          <a:latin typeface="Arial"/>
                        </a:defRPr>
                      </a:pPr>
                      <a:r>
                        <a:t>56.5%</a:t>
                      </a:r>
                    </a:p>
                  </a:txBody>
                  <a:tcPr/>
                </a:tc>
                <a:tc>
                  <a:txBody>
                    <a:bodyPr/>
                    <a:lstStyle/>
                    <a:p>
                      <a:pPr>
                        <a:defRPr sz="950">
                          <a:solidFill>
                            <a:srgbClr val="212121"/>
                          </a:solidFill>
                          <a:latin typeface="Arial"/>
                        </a:defRPr>
                      </a:pPr>
                      <a:r>
                        <a:t>46.9%</a:t>
                      </a:r>
                    </a:p>
                  </a:txBody>
                  <a:tcPr/>
                </a:tc>
                <a:extLst>
                  <a:ext uri="{0D108BD9-81ED-4DB2-BD59-A6C34878D82A}">
                    <a16:rowId xmlns:a16="http://schemas.microsoft.com/office/drawing/2014/main" val="10001"/>
                  </a:ext>
                </a:extLst>
              </a:tr>
              <a:tr h="502920">
                <a:tc>
                  <a:txBody>
                    <a:bodyPr/>
                    <a:lstStyle/>
                    <a:p>
                      <a:pPr>
                        <a:defRPr sz="950">
                          <a:solidFill>
                            <a:srgbClr val="212121"/>
                          </a:solidFill>
                          <a:latin typeface="Arial"/>
                        </a:defRPr>
                      </a:pPr>
                      <a:r>
                        <a:t>SAE</a:t>
                      </a:r>
                    </a:p>
                  </a:txBody>
                  <a:tcPr>
                    <a:solidFill>
                      <a:srgbClr val="F5F5F5"/>
                    </a:solidFill>
                  </a:tcPr>
                </a:tc>
                <a:tc>
                  <a:txBody>
                    <a:bodyPr/>
                    <a:lstStyle/>
                    <a:p>
                      <a:pPr>
                        <a:defRPr sz="950">
                          <a:solidFill>
                            <a:srgbClr val="212121"/>
                          </a:solidFill>
                          <a:latin typeface="Arial"/>
                        </a:defRPr>
                      </a:pPr>
                      <a:r>
                        <a:t>3.6%</a:t>
                      </a:r>
                    </a:p>
                  </a:txBody>
                  <a:tcPr>
                    <a:solidFill>
                      <a:srgbClr val="F5F5F5"/>
                    </a:solidFill>
                  </a:tcPr>
                </a:tc>
                <a:tc>
                  <a:txBody>
                    <a:bodyPr/>
                    <a:lstStyle/>
                    <a:p>
                      <a:pPr>
                        <a:defRPr sz="950">
                          <a:solidFill>
                            <a:srgbClr val="212121"/>
                          </a:solidFill>
                          <a:latin typeface="Arial"/>
                        </a:defRPr>
                      </a:pPr>
                      <a:r>
                        <a:t>1.7%</a:t>
                      </a:r>
                    </a:p>
                  </a:txBody>
                  <a:tcPr>
                    <a:solidFill>
                      <a:srgbClr val="F5F5F5"/>
                    </a:solidFill>
                  </a:tcPr>
                </a:tc>
                <a:tc>
                  <a:txBody>
                    <a:bodyPr/>
                    <a:lstStyle/>
                    <a:p>
                      <a:pPr>
                        <a:defRPr sz="950">
                          <a:solidFill>
                            <a:srgbClr val="212121"/>
                          </a:solidFill>
                          <a:latin typeface="Arial"/>
                        </a:defRPr>
                      </a:pPr>
                      <a:r>
                        <a:t>&lt;1%</a:t>
                      </a:r>
                    </a:p>
                  </a:txBody>
                  <a:tcPr>
                    <a:solidFill>
                      <a:srgbClr val="F5F5F5"/>
                    </a:solidFill>
                  </a:tcPr>
                </a:tc>
                <a:extLst>
                  <a:ext uri="{0D108BD9-81ED-4DB2-BD59-A6C34878D82A}">
                    <a16:rowId xmlns:a16="http://schemas.microsoft.com/office/drawing/2014/main" val="10002"/>
                  </a:ext>
                </a:extLst>
              </a:tr>
              <a:tr h="502920">
                <a:tc>
                  <a:txBody>
                    <a:bodyPr/>
                    <a:lstStyle/>
                    <a:p>
                      <a:pPr>
                        <a:defRPr sz="950">
                          <a:solidFill>
                            <a:srgbClr val="212121"/>
                          </a:solidFill>
                          <a:latin typeface="Arial"/>
                        </a:defRPr>
                      </a:pPr>
                      <a:r>
                        <a:t>Leading to d/c</a:t>
                      </a:r>
                    </a:p>
                  </a:txBody>
                  <a:tcPr/>
                </a:tc>
                <a:tc>
                  <a:txBody>
                    <a:bodyPr/>
                    <a:lstStyle/>
                    <a:p>
                      <a:pPr>
                        <a:defRPr sz="950">
                          <a:solidFill>
                            <a:srgbClr val="212121"/>
                          </a:solidFill>
                          <a:latin typeface="Arial"/>
                        </a:defRPr>
                      </a:pPr>
                      <a:r>
                        <a:t>3.7%</a:t>
                      </a:r>
                    </a:p>
                  </a:txBody>
                  <a:tcPr/>
                </a:tc>
                <a:tc>
                  <a:txBody>
                    <a:bodyPr/>
                    <a:lstStyle/>
                    <a:p>
                      <a:pPr>
                        <a:defRPr sz="950">
                          <a:solidFill>
                            <a:srgbClr val="212121"/>
                          </a:solidFill>
                          <a:latin typeface="Arial"/>
                        </a:defRPr>
                      </a:pPr>
                      <a:r>
                        <a:t>1.3%</a:t>
                      </a:r>
                    </a:p>
                  </a:txBody>
                  <a:tcPr/>
                </a:tc>
                <a:tc>
                  <a:txBody>
                    <a:bodyPr/>
                    <a:lstStyle/>
                    <a:p>
                      <a:pPr>
                        <a:defRPr sz="950">
                          <a:solidFill>
                            <a:srgbClr val="212121"/>
                          </a:solidFill>
                          <a:latin typeface="Arial"/>
                        </a:defRPr>
                      </a:pPr>
                      <a:r>
                        <a:t>&lt;1%</a:t>
                      </a:r>
                    </a:p>
                  </a:txBody>
                  <a:tcPr/>
                </a:tc>
                <a:extLst>
                  <a:ext uri="{0D108BD9-81ED-4DB2-BD59-A6C34878D82A}">
                    <a16:rowId xmlns:a16="http://schemas.microsoft.com/office/drawing/2014/main" val="10003"/>
                  </a:ext>
                </a:extLst>
              </a:tr>
              <a:tr h="502920">
                <a:tc>
                  <a:txBody>
                    <a:bodyPr/>
                    <a:lstStyle/>
                    <a:p>
                      <a:pPr>
                        <a:defRPr sz="950">
                          <a:solidFill>
                            <a:srgbClr val="212121"/>
                          </a:solidFill>
                          <a:latin typeface="Arial"/>
                        </a:defRPr>
                      </a:pPr>
                      <a:r>
                        <a:t>Death</a:t>
                      </a:r>
                    </a:p>
                  </a:txBody>
                  <a:tcPr>
                    <a:solidFill>
                      <a:srgbClr val="F5F5F5"/>
                    </a:solidFill>
                  </a:tcPr>
                </a:tc>
                <a:tc>
                  <a:txBody>
                    <a:bodyPr/>
                    <a:lstStyle/>
                    <a:p>
                      <a:pPr>
                        <a:defRPr sz="950">
                          <a:solidFill>
                            <a:srgbClr val="212121"/>
                          </a:solidFill>
                          <a:latin typeface="Arial"/>
                        </a:defRPr>
                      </a:pPr>
                      <a:r>
                        <a:t>&lt;1% (1ᵈ)</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tc>
                  <a:txBody>
                    <a:bodyPr/>
                    <a:lstStyle/>
                    <a:p>
                      <a:pPr>
                        <a:defRPr sz="950">
                          <a:solidFill>
                            <a:srgbClr val="212121"/>
                          </a:solidFill>
                          <a:latin typeface="Arial"/>
                        </a:defRPr>
                      </a:pPr>
                      <a:r>
                        <a:t>0</a:t>
                      </a:r>
                    </a:p>
                  </a:txBody>
                  <a:tcPr>
                    <a:solidFill>
                      <a:srgbClr val="F5F5F5"/>
                    </a:solidFill>
                  </a:tcPr>
                </a:tc>
                <a:extLst>
                  <a:ext uri="{0D108BD9-81ED-4DB2-BD59-A6C34878D82A}">
                    <a16:rowId xmlns:a16="http://schemas.microsoft.com/office/drawing/2014/main" val="10004"/>
                  </a:ext>
                </a:extLst>
              </a:tr>
              <a:tr h="502920">
                <a:tc>
                  <a:txBody>
                    <a:bodyPr/>
                    <a:lstStyle/>
                    <a:p>
                      <a:pPr>
                        <a:defRPr sz="950">
                          <a:solidFill>
                            <a:srgbClr val="212121"/>
                          </a:solidFill>
                          <a:latin typeface="Arial"/>
                        </a:defRPr>
                      </a:pPr>
                      <a:r>
                        <a:t>Most frequent: URTI</a:t>
                      </a:r>
                    </a:p>
                  </a:txBody>
                  <a:tcPr/>
                </a:tc>
                <a:tc>
                  <a:txBody>
                    <a:bodyPr/>
                    <a:lstStyle/>
                    <a:p>
                      <a:pPr>
                        <a:defRPr sz="950">
                          <a:solidFill>
                            <a:srgbClr val="212121"/>
                          </a:solidFill>
                          <a:latin typeface="Arial"/>
                        </a:defRPr>
                      </a:pPr>
                      <a:r>
                        <a:t>12.5%</a:t>
                      </a:r>
                    </a:p>
                  </a:txBody>
                  <a:tcPr/>
                </a:tc>
                <a:tc>
                  <a:txBody>
                    <a:bodyPr/>
                    <a:lstStyle/>
                    <a:p>
                      <a:pPr>
                        <a:defRPr sz="950">
                          <a:solidFill>
                            <a:srgbClr val="212121"/>
                          </a:solidFill>
                          <a:latin typeface="Arial"/>
                        </a:defRPr>
                      </a:pPr>
                      <a:r>
                        <a:t>7.4%</a:t>
                      </a:r>
                    </a:p>
                  </a:txBody>
                  <a:tcPr/>
                </a:tc>
                <a:tc>
                  <a:txBody>
                    <a:bodyPr/>
                    <a:lstStyle/>
                    <a:p>
                      <a:pPr>
                        <a:defRPr sz="950">
                          <a:solidFill>
                            <a:srgbClr val="212121"/>
                          </a:solidFill>
                          <a:latin typeface="Arial"/>
                        </a:defRPr>
                      </a:pPr>
                      <a:r>
                        <a:t>3.2%</a:t>
                      </a:r>
                    </a:p>
                  </a:txBody>
                  <a:tcPr/>
                </a:tc>
                <a:extLst>
                  <a:ext uri="{0D108BD9-81ED-4DB2-BD59-A6C34878D82A}">
                    <a16:rowId xmlns:a16="http://schemas.microsoft.com/office/drawing/2014/main" val="10005"/>
                  </a:ext>
                </a:extLst>
              </a:tr>
              <a:tr h="502920">
                <a:tc>
                  <a:txBody>
                    <a:bodyPr/>
                    <a:lstStyle/>
                    <a:p>
                      <a:pPr>
                        <a:defRPr sz="950">
                          <a:solidFill>
                            <a:srgbClr val="212121"/>
                          </a:solidFill>
                          <a:latin typeface="Arial"/>
                        </a:defRPr>
                      </a:pPr>
                      <a:r>
                        <a:t>Acne</a:t>
                      </a:r>
                    </a:p>
                  </a:txBody>
                  <a:tcPr>
                    <a:solidFill>
                      <a:srgbClr val="F5F5F5"/>
                    </a:solidFill>
                  </a:tcPr>
                </a:tc>
                <a:tc>
                  <a:txBody>
                    <a:bodyPr/>
                    <a:lstStyle/>
                    <a:p>
                      <a:pPr>
                        <a:defRPr sz="950">
                          <a:solidFill>
                            <a:srgbClr val="212121"/>
                          </a:solidFill>
                          <a:latin typeface="Arial"/>
                        </a:defRPr>
                      </a:pPr>
                      <a:r>
                        <a:t>7.3%</a:t>
                      </a:r>
                    </a:p>
                  </a:txBody>
                  <a:tcPr>
                    <a:solidFill>
                      <a:srgbClr val="F5F5F5"/>
                    </a:solidFill>
                  </a:tcPr>
                </a:tc>
                <a:tc>
                  <a:txBody>
                    <a:bodyPr/>
                    <a:lstStyle/>
                    <a:p>
                      <a:pPr>
                        <a:defRPr sz="950">
                          <a:solidFill>
                            <a:srgbClr val="212121"/>
                          </a:solidFill>
                          <a:latin typeface="Arial"/>
                        </a:defRPr>
                      </a:pPr>
                      <a:r>
                        <a:t>&lt;1%</a:t>
                      </a:r>
                    </a:p>
                  </a:txBody>
                  <a:tcPr>
                    <a:solidFill>
                      <a:srgbClr val="F5F5F5"/>
                    </a:solidFill>
                  </a:tcPr>
                </a:tc>
                <a:tc>
                  <a:txBody>
                    <a:bodyPr/>
                    <a:lstStyle/>
                    <a:p>
                      <a:pPr>
                        <a:defRPr sz="950">
                          <a:solidFill>
                            <a:srgbClr val="212121"/>
                          </a:solidFill>
                          <a:latin typeface="Arial"/>
                        </a:defRPr>
                      </a:pPr>
                      <a:r>
                        <a:t>&lt;1%</a:t>
                      </a:r>
                    </a:p>
                  </a:txBody>
                  <a:tcPr>
                    <a:solidFill>
                      <a:srgbClr val="F5F5F5"/>
                    </a:solidFill>
                  </a:tcPr>
                </a:tc>
                <a:extLst>
                  <a:ext uri="{0D108BD9-81ED-4DB2-BD59-A6C34878D82A}">
                    <a16:rowId xmlns:a16="http://schemas.microsoft.com/office/drawing/2014/main" val="10006"/>
                  </a:ext>
                </a:extLst>
              </a:tr>
              <a:tr h="502920">
                <a:tc>
                  <a:txBody>
                    <a:bodyPr/>
                    <a:lstStyle/>
                    <a:p>
                      <a:pPr>
                        <a:defRPr sz="950">
                          <a:solidFill>
                            <a:srgbClr val="212121"/>
                          </a:solidFill>
                          <a:latin typeface="Arial"/>
                        </a:defRPr>
                      </a:pPr>
                      <a:r>
                        <a:t>Nasopharyngitis</a:t>
                      </a:r>
                    </a:p>
                  </a:txBody>
                  <a:tcPr/>
                </a:tc>
                <a:tc>
                  <a:txBody>
                    <a:bodyPr/>
                    <a:lstStyle/>
                    <a:p>
                      <a:pPr>
                        <a:defRPr sz="950">
                          <a:solidFill>
                            <a:srgbClr val="212121"/>
                          </a:solidFill>
                          <a:latin typeface="Arial"/>
                        </a:defRPr>
                      </a:pPr>
                      <a:r>
                        <a:t>8.3%</a:t>
                      </a:r>
                    </a:p>
                  </a:txBody>
                  <a:tcPr/>
                </a:tc>
                <a:tc>
                  <a:txBody>
                    <a:bodyPr/>
                    <a:lstStyle/>
                    <a:p>
                      <a:pPr>
                        <a:defRPr sz="950">
                          <a:solidFill>
                            <a:srgbClr val="212121"/>
                          </a:solidFill>
                          <a:latin typeface="Arial"/>
                        </a:defRPr>
                      </a:pPr>
                      <a:r>
                        <a:t>7.9%</a:t>
                      </a:r>
                    </a:p>
                  </a:txBody>
                  <a:tcPr/>
                </a:tc>
                <a:tc>
                  <a:txBody>
                    <a:bodyPr/>
                    <a:lstStyle/>
                    <a:p>
                      <a:pPr>
                        <a:defRPr sz="950">
                          <a:solidFill>
                            <a:srgbClr val="212121"/>
                          </a:solidFill>
                          <a:latin typeface="Arial"/>
                        </a:defRPr>
                      </a:pPr>
                      <a:r>
                        <a:t>4.7%</a:t>
                      </a:r>
                    </a:p>
                  </a:txBody>
                  <a:tcPr/>
                </a:tc>
                <a:extLst>
                  <a:ext uri="{0D108BD9-81ED-4DB2-BD59-A6C34878D82A}">
                    <a16:rowId xmlns:a16="http://schemas.microsoft.com/office/drawing/2014/main" val="10007"/>
                  </a:ext>
                </a:extLst>
              </a:tr>
              <a:tr h="502920">
                <a:tc>
                  <a:txBody>
                    <a:bodyPr/>
                    <a:lstStyle/>
                    <a:p>
                      <a:pPr>
                        <a:defRPr sz="950">
                          <a:solidFill>
                            <a:srgbClr val="212121"/>
                          </a:solidFill>
                          <a:latin typeface="Arial"/>
                        </a:defRPr>
                      </a:pPr>
                      <a:r>
                        <a:t>Diarrhea</a:t>
                      </a:r>
                    </a:p>
                  </a:txBody>
                  <a:tcPr>
                    <a:solidFill>
                      <a:srgbClr val="F5F5F5"/>
                    </a:solidFill>
                  </a:tcPr>
                </a:tc>
                <a:tc>
                  <a:txBody>
                    <a:bodyPr/>
                    <a:lstStyle/>
                    <a:p>
                      <a:pPr>
                        <a:defRPr sz="950">
                          <a:solidFill>
                            <a:srgbClr val="212121"/>
                          </a:solidFill>
                          <a:latin typeface="Arial"/>
                        </a:defRPr>
                      </a:pPr>
                      <a:r>
                        <a:t>3.7%</a:t>
                      </a:r>
                    </a:p>
                  </a:txBody>
                  <a:tcPr>
                    <a:solidFill>
                      <a:srgbClr val="F5F5F5"/>
                    </a:solidFill>
                  </a:tcPr>
                </a:tc>
                <a:tc>
                  <a:txBody>
                    <a:bodyPr/>
                    <a:lstStyle/>
                    <a:p>
                      <a:pPr>
                        <a:defRPr sz="950">
                          <a:solidFill>
                            <a:srgbClr val="212121"/>
                          </a:solidFill>
                          <a:latin typeface="Arial"/>
                        </a:defRPr>
                      </a:pPr>
                      <a:r>
                        <a:t>8.2%</a:t>
                      </a:r>
                    </a:p>
                  </a:txBody>
                  <a:tcPr>
                    <a:solidFill>
                      <a:srgbClr val="F5F5F5"/>
                    </a:solidFill>
                  </a:tcPr>
                </a:tc>
                <a:tc>
                  <a:txBody>
                    <a:bodyPr/>
                    <a:lstStyle/>
                    <a:p>
                      <a:pPr>
                        <a:defRPr sz="950">
                          <a:solidFill>
                            <a:srgbClr val="212121"/>
                          </a:solidFill>
                          <a:latin typeface="Arial"/>
                        </a:defRPr>
                      </a:pPr>
                      <a:r>
                        <a:t>1.8%</a:t>
                      </a:r>
                    </a:p>
                  </a:txBody>
                  <a:tcPr>
                    <a:solidFill>
                      <a:srgbClr val="F5F5F5"/>
                    </a:solidFill>
                  </a:tcPr>
                </a:tc>
                <a:extLst>
                  <a:ext uri="{0D108BD9-81ED-4DB2-BD59-A6C34878D82A}">
                    <a16:rowId xmlns:a16="http://schemas.microsoft.com/office/drawing/2014/main" val="10008"/>
                  </a:ext>
                </a:extLst>
              </a:tr>
              <a:tr h="502920">
                <a:tc>
                  <a:txBody>
                    <a:bodyPr/>
                    <a:lstStyle/>
                    <a:p>
                      <a:pPr>
                        <a:defRPr sz="950">
                          <a:solidFill>
                            <a:srgbClr val="212121"/>
                          </a:solidFill>
                          <a:latin typeface="Arial"/>
                        </a:defRPr>
                      </a:pPr>
                      <a:r>
                        <a:t>Headache</a:t>
                      </a:r>
                    </a:p>
                  </a:txBody>
                  <a:tcPr/>
                </a:tc>
                <a:tc>
                  <a:txBody>
                    <a:bodyPr/>
                    <a:lstStyle/>
                    <a:p>
                      <a:pPr>
                        <a:defRPr sz="950">
                          <a:solidFill>
                            <a:srgbClr val="212121"/>
                          </a:solidFill>
                          <a:latin typeface="Arial"/>
                        </a:defRPr>
                      </a:pPr>
                      <a:r>
                        <a:t>3.3%</a:t>
                      </a:r>
                    </a:p>
                  </a:txBody>
                  <a:tcPr/>
                </a:tc>
                <a:tc>
                  <a:txBody>
                    <a:bodyPr/>
                    <a:lstStyle/>
                    <a:p>
                      <a:pPr>
                        <a:defRPr sz="950">
                          <a:solidFill>
                            <a:srgbClr val="212121"/>
                          </a:solidFill>
                          <a:latin typeface="Arial"/>
                        </a:defRPr>
                      </a:pPr>
                      <a:r>
                        <a:t>6.8%</a:t>
                      </a:r>
                    </a:p>
                  </a:txBody>
                  <a:tcPr/>
                </a:tc>
                <a:tc>
                  <a:txBody>
                    <a:bodyPr/>
                    <a:lstStyle/>
                    <a:p>
                      <a:pPr>
                        <a:defRPr sz="950">
                          <a:solidFill>
                            <a:srgbClr val="212121"/>
                          </a:solidFill>
                          <a:latin typeface="Arial"/>
                        </a:defRPr>
                      </a:pPr>
                      <a:r>
                        <a:t>1.9%</a:t>
                      </a:r>
                    </a:p>
                  </a:txBody>
                  <a:tcPr/>
                </a:tc>
                <a:extLst>
                  <a:ext uri="{0D108BD9-81ED-4DB2-BD59-A6C34878D82A}">
                    <a16:rowId xmlns:a16="http://schemas.microsoft.com/office/drawing/2014/main" val="10009"/>
                  </a:ext>
                </a:extLst>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Pooled 3001 + 3002. ᵈDeath occurred 1 day after first dose (unrelated to treatment). Lab parameters showed no clinically meaningful trends. Review is required before disclosure.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Envudeucitinib — Study Design: ONWARD1 &amp; ONWARD2</a:t>
            </a:r>
          </a:p>
        </p:txBody>
      </p:sp>
      <p:sp>
        <p:nvSpPr>
          <p:cNvPr id="4" name="TextBox 3"/>
          <p:cNvSpPr txBox="1"/>
          <p:nvPr/>
        </p:nvSpPr>
        <p:spPr>
          <a:xfrm>
            <a:off x="45720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Study Design</a:t>
            </a:r>
          </a:p>
          <a:p>
            <a:pPr>
              <a:spcAft>
                <a:spcPts val="400"/>
              </a:spcAft>
              <a:defRPr sz="1300">
                <a:solidFill>
                  <a:srgbClr val="212121"/>
                </a:solidFill>
                <a:latin typeface="Arial"/>
              </a:defRPr>
            </a:pPr>
            <a:r>
              <a:t>• Two Phase 3, randomized, double-blind, active comparator- and placebo-controlled replicate studies</a:t>
            </a:r>
          </a:p>
          <a:p>
            <a:pPr>
              <a:spcAft>
                <a:spcPts val="400"/>
              </a:spcAft>
              <a:defRPr sz="1300">
                <a:solidFill>
                  <a:srgbClr val="212121"/>
                </a:solidFill>
                <a:latin typeface="Arial"/>
              </a:defRPr>
            </a:pPr>
            <a:r>
              <a:t>• ONWARD1 (NCT06586112): N=912 (envudeucitinib 459, PBO 230, apremilast 223)</a:t>
            </a:r>
          </a:p>
          <a:p>
            <a:pPr>
              <a:spcAft>
                <a:spcPts val="400"/>
              </a:spcAft>
              <a:defRPr sz="1300">
                <a:solidFill>
                  <a:srgbClr val="212121"/>
                </a:solidFill>
                <a:latin typeface="Arial"/>
              </a:defRPr>
            </a:pPr>
            <a:r>
              <a:t>• ONWARD2 (NCT06588738): N=859 (envudeucitinib 433, PBO 211, apremilast 215)</a:t>
            </a:r>
          </a:p>
          <a:p>
            <a:pPr>
              <a:spcAft>
                <a:spcPts val="400"/>
              </a:spcAft>
              <a:defRPr sz="1300">
                <a:solidFill>
                  <a:srgbClr val="212121"/>
                </a:solidFill>
                <a:latin typeface="Arial"/>
              </a:defRPr>
            </a:pPr>
            <a:r>
              <a:t>• Randomization: 2:1:1 (envudeucitinib : PBO : apremilast)</a:t>
            </a:r>
          </a:p>
          <a:p>
            <a:pPr>
              <a:spcAft>
                <a:spcPts val="400"/>
              </a:spcAft>
              <a:defRPr sz="1300">
                <a:solidFill>
                  <a:srgbClr val="212121"/>
                </a:solidFill>
                <a:latin typeface="Arial"/>
              </a:defRPr>
            </a:pPr>
            <a:r>
              <a:t>• PBO patients switch to envudeucitinib at Week 16</a:t>
            </a:r>
          </a:p>
          <a:p>
            <a:pPr>
              <a:spcAft>
                <a:spcPts val="400"/>
              </a:spcAft>
              <a:defRPr sz="1300">
                <a:solidFill>
                  <a:srgbClr val="212121"/>
                </a:solidFill>
                <a:latin typeface="Arial"/>
              </a:defRPr>
            </a:pPr>
            <a:r>
              <a:t>• Population: adults ≥18 years, weight &gt;40 kg, plaque psoriasis ≥6 months, BSA ≥10%, PASI ≥12, sPGA ≥3</a:t>
            </a:r>
          </a:p>
        </p:txBody>
      </p:sp>
      <p:sp>
        <p:nvSpPr>
          <p:cNvPr id="5" name="TextBox 4"/>
          <p:cNvSpPr txBox="1"/>
          <p:nvPr/>
        </p:nvSpPr>
        <p:spPr>
          <a:xfrm>
            <a:off x="6217920" y="1097280"/>
            <a:ext cx="5303520" cy="5029200"/>
          </a:xfrm>
          <a:prstGeom prst="rect">
            <a:avLst/>
          </a:prstGeom>
          <a:noFill/>
        </p:spPr>
        <p:txBody>
          <a:bodyPr wrap="square">
            <a:spAutoFit/>
          </a:bodyPr>
          <a:lstStyle/>
          <a:p>
            <a:pPr>
              <a:spcAft>
                <a:spcPts val="600"/>
              </a:spcAft>
              <a:defRPr sz="1600" b="1">
                <a:solidFill>
                  <a:srgbClr val="C8102E"/>
                </a:solidFill>
                <a:latin typeface="Arial"/>
              </a:defRPr>
            </a:pPr>
            <a:r>
              <a:t>Key Details</a:t>
            </a:r>
          </a:p>
          <a:p>
            <a:pPr>
              <a:spcAft>
                <a:spcPts val="400"/>
              </a:spcAft>
              <a:defRPr sz="1300">
                <a:solidFill>
                  <a:srgbClr val="212121"/>
                </a:solidFill>
                <a:latin typeface="Arial"/>
              </a:defRPr>
            </a:pPr>
            <a:r>
              <a:t>• Envudeucitinib 40 mg BID oral (twice daily)</a:t>
            </a:r>
          </a:p>
          <a:p>
            <a:pPr>
              <a:spcAft>
                <a:spcPts val="400"/>
              </a:spcAft>
              <a:defRPr sz="1300">
                <a:solidFill>
                  <a:srgbClr val="212121"/>
                </a:solidFill>
                <a:latin typeface="Arial"/>
              </a:defRPr>
            </a:pPr>
            <a:r>
              <a:t>• Active comparator: apremilast 30 mg BID</a:t>
            </a:r>
          </a:p>
          <a:p>
            <a:pPr>
              <a:spcAft>
                <a:spcPts val="400"/>
              </a:spcAft>
              <a:defRPr sz="1300">
                <a:solidFill>
                  <a:srgbClr val="212121"/>
                </a:solidFill>
                <a:latin typeface="Arial"/>
              </a:defRPr>
            </a:pPr>
            <a:r>
              <a:t>• Co-primary endpoints: PASI 75 + sPGA 0/1 at Week 16 (vs PBO)</a:t>
            </a:r>
          </a:p>
          <a:p>
            <a:pPr>
              <a:spcAft>
                <a:spcPts val="400"/>
              </a:spcAft>
              <a:defRPr sz="1300">
                <a:solidFill>
                  <a:srgbClr val="212121"/>
                </a:solidFill>
                <a:latin typeface="Arial"/>
              </a:defRPr>
            </a:pPr>
            <a:r>
              <a:t>• Key secondary: PASI 90/100, sPGA 0, itch NRS, DLQI 0/1, ss-PGA 0/1</a:t>
            </a:r>
          </a:p>
          <a:p>
            <a:pPr>
              <a:spcAft>
                <a:spcPts val="400"/>
              </a:spcAft>
              <a:defRPr sz="1300">
                <a:solidFill>
                  <a:srgbClr val="212121"/>
                </a:solidFill>
                <a:latin typeface="Arial"/>
              </a:defRPr>
            </a:pPr>
            <a:r>
              <a:t>• NRI for binary endpoints; MMRM for continuous</a:t>
            </a:r>
          </a:p>
          <a:p>
            <a:pPr>
              <a:spcAft>
                <a:spcPts val="400"/>
              </a:spcAft>
              <a:defRPr sz="1300">
                <a:solidFill>
                  <a:srgbClr val="212121"/>
                </a:solidFill>
                <a:latin typeface="Arial"/>
              </a:defRPr>
            </a:pPr>
            <a:r>
              <a:t>• Alumis-sponsored; AAD March 2026</a:t>
            </a:r>
          </a:p>
          <a:p>
            <a:pPr>
              <a:spcAft>
                <a:spcPts val="400"/>
              </a:spcAft>
              <a:defRPr sz="1300">
                <a:solidFill>
                  <a:srgbClr val="212121"/>
                </a:solidFill>
                <a:latin typeface="Arial"/>
              </a:defRPr>
            </a:pPr>
            <a:r>
              <a:t>• Once-daily formulation and pediatric plan under development</a:t>
            </a:r>
          </a:p>
        </p:txBody>
      </p:sp>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Review is required before disclosure.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Envudeucitinib — Key Efficacy Results at Week 16</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extLst>
                    <a:ext uri="{9D8B030D-6E8A-4147-A177-3AD203B41FA5}">
                      <a16:colId xmlns:a16="http://schemas.microsoft.com/office/drawing/2014/main" val="20000"/>
                    </a:ext>
                  </a:extLst>
                </a:gridCol>
                <a:gridCol w="1632857">
                  <a:extLst>
                    <a:ext uri="{9D8B030D-6E8A-4147-A177-3AD203B41FA5}">
                      <a16:colId xmlns:a16="http://schemas.microsoft.com/office/drawing/2014/main" val="20001"/>
                    </a:ext>
                  </a:extLst>
                </a:gridCol>
                <a:gridCol w="1632857">
                  <a:extLst>
                    <a:ext uri="{9D8B030D-6E8A-4147-A177-3AD203B41FA5}">
                      <a16:colId xmlns:a16="http://schemas.microsoft.com/office/drawing/2014/main" val="20002"/>
                    </a:ext>
                  </a:extLst>
                </a:gridCol>
                <a:gridCol w="1632857">
                  <a:extLst>
                    <a:ext uri="{9D8B030D-6E8A-4147-A177-3AD203B41FA5}">
                      <a16:colId xmlns:a16="http://schemas.microsoft.com/office/drawing/2014/main" val="20003"/>
                    </a:ext>
                  </a:extLst>
                </a:gridCol>
                <a:gridCol w="1632857">
                  <a:extLst>
                    <a:ext uri="{9D8B030D-6E8A-4147-A177-3AD203B41FA5}">
                      <a16:colId xmlns:a16="http://schemas.microsoft.com/office/drawing/2014/main" val="20004"/>
                    </a:ext>
                  </a:extLst>
                </a:gridCol>
                <a:gridCol w="1632857">
                  <a:extLst>
                    <a:ext uri="{9D8B030D-6E8A-4147-A177-3AD203B41FA5}">
                      <a16:colId xmlns:a16="http://schemas.microsoft.com/office/drawing/2014/main" val="20005"/>
                    </a:ext>
                  </a:extLst>
                </a:gridCol>
                <a:gridCol w="1632858">
                  <a:extLst>
                    <a:ext uri="{9D8B030D-6E8A-4147-A177-3AD203B41FA5}">
                      <a16:colId xmlns:a16="http://schemas.microsoft.com/office/drawing/2014/main" val="20006"/>
                    </a:ext>
                  </a:extLst>
                </a:gridCol>
              </a:tblGrid>
              <a:tr h="718457">
                <a:tc>
                  <a:txBody>
                    <a:bodyPr/>
                    <a:lstStyle/>
                    <a:p>
                      <a:pPr>
                        <a:defRPr sz="1000" b="1">
                          <a:solidFill>
                            <a:srgbClr val="FFFFFF"/>
                          </a:solidFill>
                          <a:latin typeface="Arial"/>
                        </a:defRPr>
                      </a:pPr>
                      <a:r>
                        <a:t>Endpoint</a:t>
                      </a:r>
                    </a:p>
                  </a:txBody>
                  <a:tcPr>
                    <a:solidFill>
                      <a:srgbClr val="E1251B"/>
                    </a:solidFill>
                  </a:tcPr>
                </a:tc>
                <a:tc>
                  <a:txBody>
                    <a:bodyPr/>
                    <a:lstStyle/>
                    <a:p>
                      <a:pPr>
                        <a:defRPr sz="1000" b="1">
                          <a:solidFill>
                            <a:srgbClr val="FFFFFF"/>
                          </a:solidFill>
                          <a:latin typeface="Arial"/>
                        </a:defRPr>
                      </a:pPr>
                      <a:r>
                        <a:t>OW1: Envudeucitinib</a:t>
                      </a:r>
                    </a:p>
                  </a:txBody>
                  <a:tcPr>
                    <a:solidFill>
                      <a:srgbClr val="E1251B"/>
                    </a:solidFill>
                  </a:tcPr>
                </a:tc>
                <a:tc>
                  <a:txBody>
                    <a:bodyPr/>
                    <a:lstStyle/>
                    <a:p>
                      <a:pPr>
                        <a:defRPr sz="1000" b="1">
                          <a:solidFill>
                            <a:srgbClr val="FFFFFF"/>
                          </a:solidFill>
                          <a:latin typeface="Arial"/>
                        </a:defRPr>
                      </a:pPr>
                      <a:r>
                        <a:t>OW1: Apremilast</a:t>
                      </a:r>
                    </a:p>
                  </a:txBody>
                  <a:tcPr>
                    <a:solidFill>
                      <a:srgbClr val="E1251B"/>
                    </a:solidFill>
                  </a:tcPr>
                </a:tc>
                <a:tc>
                  <a:txBody>
                    <a:bodyPr/>
                    <a:lstStyle/>
                    <a:p>
                      <a:pPr>
                        <a:defRPr sz="1000" b="1">
                          <a:solidFill>
                            <a:srgbClr val="FFFFFF"/>
                          </a:solidFill>
                          <a:latin typeface="Arial"/>
                        </a:defRPr>
                      </a:pPr>
                      <a:r>
                        <a:t>OW1: PBO</a:t>
                      </a:r>
                    </a:p>
                  </a:txBody>
                  <a:tcPr>
                    <a:solidFill>
                      <a:srgbClr val="E1251B"/>
                    </a:solidFill>
                  </a:tcPr>
                </a:tc>
                <a:tc>
                  <a:txBody>
                    <a:bodyPr/>
                    <a:lstStyle/>
                    <a:p>
                      <a:pPr>
                        <a:defRPr sz="1000" b="1">
                          <a:solidFill>
                            <a:srgbClr val="FFFFFF"/>
                          </a:solidFill>
                          <a:latin typeface="Arial"/>
                        </a:defRPr>
                      </a:pPr>
                      <a:r>
                        <a:t>OW2: Envudeucitinib</a:t>
                      </a:r>
                    </a:p>
                  </a:txBody>
                  <a:tcPr>
                    <a:solidFill>
                      <a:srgbClr val="E1251B"/>
                    </a:solidFill>
                  </a:tcPr>
                </a:tc>
                <a:tc>
                  <a:txBody>
                    <a:bodyPr/>
                    <a:lstStyle/>
                    <a:p>
                      <a:pPr>
                        <a:defRPr sz="1000" b="1">
                          <a:solidFill>
                            <a:srgbClr val="FFFFFF"/>
                          </a:solidFill>
                          <a:latin typeface="Arial"/>
                        </a:defRPr>
                      </a:pPr>
                      <a:r>
                        <a:t>OW2: Apremilast</a:t>
                      </a:r>
                    </a:p>
                  </a:txBody>
                  <a:tcPr>
                    <a:solidFill>
                      <a:srgbClr val="E1251B"/>
                    </a:solidFill>
                  </a:tcPr>
                </a:tc>
                <a:tc>
                  <a:txBody>
                    <a:bodyPr/>
                    <a:lstStyle/>
                    <a:p>
                      <a:pPr>
                        <a:defRPr sz="1000" b="1">
                          <a:solidFill>
                            <a:srgbClr val="FFFFFF"/>
                          </a:solidFill>
                          <a:latin typeface="Arial"/>
                        </a:defRPr>
                      </a:pPr>
                      <a:r>
                        <a:t>OW2: PBO</a:t>
                      </a:r>
                    </a:p>
                  </a:txBody>
                  <a:tcPr>
                    <a:solidFill>
                      <a:srgbClr val="E1251B"/>
                    </a:solidFill>
                  </a:tcPr>
                </a:tc>
                <a:extLst>
                  <a:ext uri="{0D108BD9-81ED-4DB2-BD59-A6C34878D82A}">
                    <a16:rowId xmlns:a16="http://schemas.microsoft.com/office/drawing/2014/main" val="10000"/>
                  </a:ext>
                </a:extLst>
              </a:tr>
              <a:tr h="718457">
                <a:tc>
                  <a:txBody>
                    <a:bodyPr/>
                    <a:lstStyle/>
                    <a:p>
                      <a:pPr>
                        <a:defRPr sz="950">
                          <a:solidFill>
                            <a:srgbClr val="212121"/>
                          </a:solidFill>
                          <a:latin typeface="Arial"/>
                        </a:defRPr>
                      </a:pPr>
                      <a:r>
                        <a:t>PASI 75ᵃ</a:t>
                      </a:r>
                    </a:p>
                  </a:txBody>
                  <a:tcPr/>
                </a:tc>
                <a:tc>
                  <a:txBody>
                    <a:bodyPr/>
                    <a:lstStyle/>
                    <a:p>
                      <a:pPr>
                        <a:defRPr sz="950">
                          <a:solidFill>
                            <a:srgbClr val="212121"/>
                          </a:solidFill>
                          <a:latin typeface="Arial"/>
                        </a:defRPr>
                      </a:pPr>
                      <a:r>
                        <a:t>76.5%</a:t>
                      </a:r>
                    </a:p>
                  </a:txBody>
                  <a:tcPr/>
                </a:tc>
                <a:tc>
                  <a:txBody>
                    <a:bodyPr/>
                    <a:lstStyle/>
                    <a:p>
                      <a:pPr>
                        <a:defRPr sz="950">
                          <a:solidFill>
                            <a:srgbClr val="212121"/>
                          </a:solidFill>
                          <a:latin typeface="Arial"/>
                        </a:defRPr>
                      </a:pPr>
                      <a:r>
                        <a:t>18.7%</a:t>
                      </a:r>
                    </a:p>
                  </a:txBody>
                  <a:tcPr/>
                </a:tc>
                <a:tc>
                  <a:txBody>
                    <a:bodyPr/>
                    <a:lstStyle/>
                    <a:p>
                      <a:pPr>
                        <a:defRPr sz="950">
                          <a:solidFill>
                            <a:srgbClr val="212121"/>
                          </a:solidFill>
                          <a:latin typeface="Arial"/>
                        </a:defRPr>
                      </a:pPr>
                      <a:r>
                        <a:t>4.8%</a:t>
                      </a:r>
                    </a:p>
                  </a:txBody>
                  <a:tcPr/>
                </a:tc>
                <a:tc>
                  <a:txBody>
                    <a:bodyPr/>
                    <a:lstStyle/>
                    <a:p>
                      <a:pPr>
                        <a:defRPr sz="950">
                          <a:solidFill>
                            <a:srgbClr val="212121"/>
                          </a:solidFill>
                          <a:latin typeface="Arial"/>
                        </a:defRPr>
                      </a:pPr>
                      <a:r>
                        <a:t>70.4%</a:t>
                      </a:r>
                    </a:p>
                  </a:txBody>
                  <a:tcPr/>
                </a:tc>
                <a:tc>
                  <a:txBody>
                    <a:bodyPr/>
                    <a:lstStyle/>
                    <a:p>
                      <a:pPr>
                        <a:defRPr sz="950">
                          <a:solidFill>
                            <a:srgbClr val="212121"/>
                          </a:solidFill>
                          <a:latin typeface="Arial"/>
                        </a:defRPr>
                      </a:pPr>
                      <a:r>
                        <a:t>13.7%</a:t>
                      </a:r>
                    </a:p>
                  </a:txBody>
                  <a:tcPr/>
                </a:tc>
                <a:tc>
                  <a:txBody>
                    <a:bodyPr/>
                    <a:lstStyle/>
                    <a:p>
                      <a:pPr>
                        <a:defRPr sz="950">
                          <a:solidFill>
                            <a:srgbClr val="212121"/>
                          </a:solidFill>
                          <a:latin typeface="Arial"/>
                        </a:defRPr>
                      </a:pPr>
                      <a:r>
                        <a:t>4.3%</a:t>
                      </a:r>
                    </a:p>
                  </a:txBody>
                  <a:tcPr/>
                </a:tc>
                <a:extLst>
                  <a:ext uri="{0D108BD9-81ED-4DB2-BD59-A6C34878D82A}">
                    <a16:rowId xmlns:a16="http://schemas.microsoft.com/office/drawing/2014/main" val="10001"/>
                  </a:ext>
                </a:extLst>
              </a:tr>
              <a:tr h="718457">
                <a:tc>
                  <a:txBody>
                    <a:bodyPr/>
                    <a:lstStyle/>
                    <a:p>
                      <a:pPr>
                        <a:defRPr sz="950">
                          <a:solidFill>
                            <a:srgbClr val="212121"/>
                          </a:solidFill>
                          <a:latin typeface="Arial"/>
                        </a:defRPr>
                      </a:pPr>
                      <a:r>
                        <a:t>sPGA 0/1ᵃ</a:t>
                      </a:r>
                    </a:p>
                  </a:txBody>
                  <a:tcPr>
                    <a:solidFill>
                      <a:srgbClr val="F5F5F5"/>
                    </a:solidFill>
                  </a:tcPr>
                </a:tc>
                <a:tc>
                  <a:txBody>
                    <a:bodyPr/>
                    <a:lstStyle/>
                    <a:p>
                      <a:pPr>
                        <a:defRPr sz="950">
                          <a:solidFill>
                            <a:srgbClr val="212121"/>
                          </a:solidFill>
                          <a:latin typeface="Arial"/>
                        </a:defRPr>
                      </a:pPr>
                      <a:r>
                        <a:t>61.0%</a:t>
                      </a:r>
                    </a:p>
                  </a:txBody>
                  <a:tcPr>
                    <a:solidFill>
                      <a:srgbClr val="F5F5F5"/>
                    </a:solidFill>
                  </a:tcPr>
                </a:tc>
                <a:tc>
                  <a:txBody>
                    <a:bodyPr/>
                    <a:lstStyle/>
                    <a:p>
                      <a:pPr>
                        <a:defRPr sz="950">
                          <a:solidFill>
                            <a:srgbClr val="212121"/>
                          </a:solidFill>
                          <a:latin typeface="Arial"/>
                        </a:defRPr>
                      </a:pPr>
                      <a:r>
                        <a:t>26.5%</a:t>
                      </a:r>
                    </a:p>
                  </a:txBody>
                  <a:tcPr>
                    <a:solidFill>
                      <a:srgbClr val="F5F5F5"/>
                    </a:solidFill>
                  </a:tcPr>
                </a:tc>
                <a:tc>
                  <a:txBody>
                    <a:bodyPr/>
                    <a:lstStyle/>
                    <a:p>
                      <a:pPr>
                        <a:defRPr sz="950">
                          <a:solidFill>
                            <a:srgbClr val="212121"/>
                          </a:solidFill>
                          <a:latin typeface="Arial"/>
                        </a:defRPr>
                      </a:pPr>
                      <a:r>
                        <a:t>10.0%</a:t>
                      </a:r>
                    </a:p>
                  </a:txBody>
                  <a:tcPr>
                    <a:solidFill>
                      <a:srgbClr val="F5F5F5"/>
                    </a:solidFill>
                  </a:tcPr>
                </a:tc>
                <a:tc>
                  <a:txBody>
                    <a:bodyPr/>
                    <a:lstStyle/>
                    <a:p>
                      <a:pPr>
                        <a:defRPr sz="950">
                          <a:solidFill>
                            <a:srgbClr val="212121"/>
                          </a:solidFill>
                          <a:latin typeface="Arial"/>
                        </a:defRPr>
                      </a:pPr>
                      <a:r>
                        <a:t>57.3%</a:t>
                      </a:r>
                    </a:p>
                  </a:txBody>
                  <a:tcPr>
                    <a:solidFill>
                      <a:srgbClr val="F5F5F5"/>
                    </a:solidFill>
                  </a:tcPr>
                </a:tc>
                <a:tc>
                  <a:txBody>
                    <a:bodyPr/>
                    <a:lstStyle/>
                    <a:p>
                      <a:pPr>
                        <a:defRPr sz="950">
                          <a:solidFill>
                            <a:srgbClr val="212121"/>
                          </a:solidFill>
                          <a:latin typeface="Arial"/>
                        </a:defRPr>
                      </a:pPr>
                      <a:r>
                        <a:t>27.4%</a:t>
                      </a:r>
                    </a:p>
                  </a:txBody>
                  <a:tcPr>
                    <a:solidFill>
                      <a:srgbClr val="F5F5F5"/>
                    </a:solidFill>
                  </a:tcPr>
                </a:tc>
                <a:tc>
                  <a:txBody>
                    <a:bodyPr/>
                    <a:lstStyle/>
                    <a:p>
                      <a:pPr>
                        <a:defRPr sz="950">
                          <a:solidFill>
                            <a:srgbClr val="212121"/>
                          </a:solidFill>
                          <a:latin typeface="Arial"/>
                        </a:defRPr>
                      </a:pPr>
                      <a:r>
                        <a:t>5.7%</a:t>
                      </a:r>
                    </a:p>
                  </a:txBody>
                  <a:tcPr>
                    <a:solidFill>
                      <a:srgbClr val="F5F5F5"/>
                    </a:solidFill>
                  </a:tcPr>
                </a:tc>
                <a:extLst>
                  <a:ext uri="{0D108BD9-81ED-4DB2-BD59-A6C34878D82A}">
                    <a16:rowId xmlns:a16="http://schemas.microsoft.com/office/drawing/2014/main" val="10002"/>
                  </a:ext>
                </a:extLst>
              </a:tr>
              <a:tr h="718457">
                <a:tc>
                  <a:txBody>
                    <a:bodyPr/>
                    <a:lstStyle/>
                    <a:p>
                      <a:pPr>
                        <a:defRPr sz="950">
                          <a:solidFill>
                            <a:srgbClr val="212121"/>
                          </a:solidFill>
                          <a:latin typeface="Arial"/>
                        </a:defRPr>
                      </a:pPr>
                      <a:r>
                        <a:t>PASI 90</a:t>
                      </a:r>
                    </a:p>
                  </a:txBody>
                  <a:tcPr/>
                </a:tc>
                <a:tc>
                  <a:txBody>
                    <a:bodyPr/>
                    <a:lstStyle/>
                    <a:p>
                      <a:pPr>
                        <a:defRPr sz="950">
                          <a:solidFill>
                            <a:srgbClr val="212121"/>
                          </a:solidFill>
                          <a:latin typeface="Arial"/>
                        </a:defRPr>
                      </a:pPr>
                      <a:r>
                        <a:t>59.9%</a:t>
                      </a:r>
                    </a:p>
                  </a:txBody>
                  <a:tcPr/>
                </a:tc>
                <a:tc>
                  <a:txBody>
                    <a:bodyPr/>
                    <a:lstStyle/>
                    <a:p>
                      <a:pPr>
                        <a:defRPr sz="950">
                          <a:solidFill>
                            <a:srgbClr val="212121"/>
                          </a:solidFill>
                          <a:latin typeface="Arial"/>
                        </a:defRPr>
                      </a:pPr>
                      <a:r>
                        <a:t>21.5%</a:t>
                      </a:r>
                    </a:p>
                  </a:txBody>
                  <a:tcPr/>
                </a:tc>
                <a:tc>
                  <a:txBody>
                    <a:bodyPr/>
                    <a:lstStyle/>
                    <a:p>
                      <a:pPr>
                        <a:defRPr sz="950">
                          <a:solidFill>
                            <a:srgbClr val="212121"/>
                          </a:solidFill>
                          <a:latin typeface="Arial"/>
                        </a:defRPr>
                      </a:pPr>
                      <a:r>
                        <a:t>0.9%</a:t>
                      </a:r>
                    </a:p>
                  </a:txBody>
                  <a:tcPr/>
                </a:tc>
                <a:tc>
                  <a:txBody>
                    <a:bodyPr/>
                    <a:lstStyle/>
                    <a:p>
                      <a:pPr>
                        <a:defRPr sz="950">
                          <a:solidFill>
                            <a:srgbClr val="212121"/>
                          </a:solidFill>
                          <a:latin typeface="Arial"/>
                        </a:defRPr>
                      </a:pPr>
                      <a:r>
                        <a:t>53.1%</a:t>
                      </a:r>
                    </a:p>
                  </a:txBody>
                  <a:tcPr/>
                </a:tc>
                <a:tc>
                  <a:txBody>
                    <a:bodyPr/>
                    <a:lstStyle/>
                    <a:p>
                      <a:pPr>
                        <a:defRPr sz="950">
                          <a:solidFill>
                            <a:srgbClr val="212121"/>
                          </a:solidFill>
                          <a:latin typeface="Arial"/>
                        </a:defRPr>
                      </a:pPr>
                      <a:r>
                        <a:t>20.9%</a:t>
                      </a:r>
                    </a:p>
                  </a:txBody>
                  <a:tcPr/>
                </a:tc>
                <a:tc>
                  <a:txBody>
                    <a:bodyPr/>
                    <a:lstStyle/>
                    <a:p>
                      <a:pPr>
                        <a:defRPr sz="950">
                          <a:solidFill>
                            <a:srgbClr val="212121"/>
                          </a:solidFill>
                          <a:latin typeface="Arial"/>
                        </a:defRPr>
                      </a:pPr>
                      <a:r>
                        <a:t>0.9%</a:t>
                      </a:r>
                    </a:p>
                  </a:txBody>
                  <a:tcPr/>
                </a:tc>
                <a:extLst>
                  <a:ext uri="{0D108BD9-81ED-4DB2-BD59-A6C34878D82A}">
                    <a16:rowId xmlns:a16="http://schemas.microsoft.com/office/drawing/2014/main" val="10003"/>
                  </a:ext>
                </a:extLst>
              </a:tr>
              <a:tr h="718457">
                <a:tc>
                  <a:txBody>
                    <a:bodyPr/>
                    <a:lstStyle/>
                    <a:p>
                      <a:pPr>
                        <a:defRPr sz="950">
                          <a:solidFill>
                            <a:srgbClr val="212121"/>
                          </a:solidFill>
                          <a:latin typeface="Arial"/>
                        </a:defRPr>
                      </a:pPr>
                      <a:r>
                        <a:t>PASI 100</a:t>
                      </a:r>
                    </a:p>
                  </a:txBody>
                  <a:tcPr>
                    <a:solidFill>
                      <a:srgbClr val="F5F5F5"/>
                    </a:solidFill>
                  </a:tcPr>
                </a:tc>
                <a:tc>
                  <a:txBody>
                    <a:bodyPr/>
                    <a:lstStyle/>
                    <a:p>
                      <a:pPr>
                        <a:defRPr sz="950">
                          <a:solidFill>
                            <a:srgbClr val="212121"/>
                          </a:solidFill>
                          <a:latin typeface="Arial"/>
                        </a:defRPr>
                      </a:pPr>
                      <a:r>
                        <a:t>29.4%</a:t>
                      </a:r>
                    </a:p>
                  </a:txBody>
                  <a:tcPr>
                    <a:solidFill>
                      <a:srgbClr val="F5F5F5"/>
                    </a:solidFill>
                  </a:tcPr>
                </a:tc>
                <a:tc>
                  <a:txBody>
                    <a:bodyPr/>
                    <a:lstStyle/>
                    <a:p>
                      <a:pPr>
                        <a:defRPr sz="950">
                          <a:solidFill>
                            <a:srgbClr val="212121"/>
                          </a:solidFill>
                          <a:latin typeface="Arial"/>
                        </a:defRPr>
                      </a:pPr>
                      <a:r>
                        <a:t>4.0%</a:t>
                      </a:r>
                    </a:p>
                  </a:txBody>
                  <a:tcPr>
                    <a:solidFill>
                      <a:srgbClr val="F5F5F5"/>
                    </a:solidFill>
                  </a:tcPr>
                </a:tc>
                <a:tc>
                  <a:txBody>
                    <a:bodyPr/>
                    <a:lstStyle/>
                    <a:p>
                      <a:pPr>
                        <a:defRPr sz="950">
                          <a:solidFill>
                            <a:srgbClr val="212121"/>
                          </a:solidFill>
                          <a:latin typeface="Arial"/>
                        </a:defRPr>
                      </a:pPr>
                      <a:r>
                        <a:t>0.9%</a:t>
                      </a:r>
                    </a:p>
                  </a:txBody>
                  <a:tcPr>
                    <a:solidFill>
                      <a:srgbClr val="F5F5F5"/>
                    </a:solidFill>
                  </a:tcPr>
                </a:tc>
                <a:tc>
                  <a:txBody>
                    <a:bodyPr/>
                    <a:lstStyle/>
                    <a:p>
                      <a:pPr>
                        <a:defRPr sz="950">
                          <a:solidFill>
                            <a:srgbClr val="212121"/>
                          </a:solidFill>
                          <a:latin typeface="Arial"/>
                        </a:defRPr>
                      </a:pPr>
                      <a:r>
                        <a:t>27.7%</a:t>
                      </a:r>
                    </a:p>
                  </a:txBody>
                  <a:tcPr>
                    <a:solidFill>
                      <a:srgbClr val="F5F5F5"/>
                    </a:solidFill>
                  </a:tcPr>
                </a:tc>
                <a:tc>
                  <a:txBody>
                    <a:bodyPr/>
                    <a:lstStyle/>
                    <a:p>
                      <a:pPr>
                        <a:defRPr sz="950">
                          <a:solidFill>
                            <a:srgbClr val="212121"/>
                          </a:solidFill>
                          <a:latin typeface="Arial"/>
                        </a:defRPr>
                      </a:pPr>
                      <a:r>
                        <a:t>7.9%</a:t>
                      </a:r>
                    </a:p>
                  </a:txBody>
                  <a:tcPr>
                    <a:solidFill>
                      <a:srgbClr val="F5F5F5"/>
                    </a:solidFill>
                  </a:tcPr>
                </a:tc>
                <a:tc>
                  <a:txBody>
                    <a:bodyPr/>
                    <a:lstStyle/>
                    <a:p>
                      <a:pPr>
                        <a:defRPr sz="950">
                          <a:solidFill>
                            <a:srgbClr val="212121"/>
                          </a:solidFill>
                          <a:latin typeface="Arial"/>
                        </a:defRPr>
                      </a:pPr>
                      <a:r>
                        <a:t>0.9%</a:t>
                      </a:r>
                    </a:p>
                  </a:txBody>
                  <a:tcPr>
                    <a:solidFill>
                      <a:srgbClr val="F5F5F5"/>
                    </a:solidFill>
                  </a:tcPr>
                </a:tc>
                <a:extLst>
                  <a:ext uri="{0D108BD9-81ED-4DB2-BD59-A6C34878D82A}">
                    <a16:rowId xmlns:a16="http://schemas.microsoft.com/office/drawing/2014/main" val="10004"/>
                  </a:ext>
                </a:extLst>
              </a:tr>
              <a:tr h="718457">
                <a:tc>
                  <a:txBody>
                    <a:bodyPr/>
                    <a:lstStyle/>
                    <a:p>
                      <a:pPr>
                        <a:defRPr sz="950">
                          <a:solidFill>
                            <a:srgbClr val="212121"/>
                          </a:solidFill>
                          <a:latin typeface="Arial"/>
                        </a:defRPr>
                      </a:pPr>
                      <a:r>
                        <a:t>sPGA 0</a:t>
                      </a:r>
                    </a:p>
                  </a:txBody>
                  <a:tcPr/>
                </a:tc>
                <a:tc>
                  <a:txBody>
                    <a:bodyPr/>
                    <a:lstStyle/>
                    <a:p>
                      <a:pPr>
                        <a:defRPr sz="950">
                          <a:solidFill>
                            <a:srgbClr val="212121"/>
                          </a:solidFill>
                          <a:latin typeface="Arial"/>
                        </a:defRPr>
                      </a:pPr>
                      <a:r>
                        <a:t>30.3%</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4.0%</a:t>
                      </a:r>
                    </a:p>
                  </a:txBody>
                  <a:tcPr/>
                </a:tc>
                <a:tc>
                  <a:txBody>
                    <a:bodyPr/>
                    <a:lstStyle/>
                    <a:p>
                      <a:pPr>
                        <a:defRPr sz="950">
                          <a:solidFill>
                            <a:srgbClr val="212121"/>
                          </a:solidFill>
                          <a:latin typeface="Arial"/>
                        </a:defRPr>
                      </a:pPr>
                      <a:r>
                        <a:t>29.3%</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1.4%</a:t>
                      </a:r>
                    </a:p>
                  </a:txBody>
                  <a:tcPr/>
                </a:tc>
                <a:extLst>
                  <a:ext uri="{0D108BD9-81ED-4DB2-BD59-A6C34878D82A}">
                    <a16:rowId xmlns:a16="http://schemas.microsoft.com/office/drawing/2014/main" val="10005"/>
                  </a:ext>
                </a:extLst>
              </a:tr>
              <a:tr h="718458">
                <a:tc>
                  <a:txBody>
                    <a:bodyPr/>
                    <a:lstStyle/>
                    <a:p>
                      <a:pPr>
                        <a:defRPr sz="950">
                          <a:solidFill>
                            <a:srgbClr val="212121"/>
                          </a:solidFill>
                          <a:latin typeface="Arial"/>
                        </a:defRPr>
                      </a:pPr>
                      <a:r>
                        <a:t>DLQI 0/1</a:t>
                      </a:r>
                    </a:p>
                  </a:txBody>
                  <a:tcPr>
                    <a:solidFill>
                      <a:srgbClr val="F5F5F5"/>
                    </a:solidFill>
                  </a:tcPr>
                </a:tc>
                <a:tc>
                  <a:txBody>
                    <a:bodyPr/>
                    <a:lstStyle/>
                    <a:p>
                      <a:pPr>
                        <a:defRPr sz="950">
                          <a:solidFill>
                            <a:srgbClr val="212121"/>
                          </a:solidFill>
                          <a:latin typeface="Arial"/>
                        </a:defRPr>
                      </a:pPr>
                      <a:r>
                        <a:t>57.5%</a:t>
                      </a:r>
                    </a:p>
                  </a:txBody>
                  <a:tcPr>
                    <a:solidFill>
                      <a:srgbClr val="F5F5F5"/>
                    </a:solidFill>
                  </a:tcPr>
                </a:tc>
                <a:tc>
                  <a:txBody>
                    <a:bodyPr/>
                    <a:lstStyle/>
                    <a:p>
                      <a:pPr>
                        <a:defRPr sz="950">
                          <a:solidFill>
                            <a:srgbClr val="212121"/>
                          </a:solidFill>
                          <a:latin typeface="Arial"/>
                        </a:defRPr>
                      </a:pPr>
                      <a:r>
                        <a:t>36.2%</a:t>
                      </a:r>
                    </a:p>
                  </a:txBody>
                  <a:tcPr>
                    <a:solidFill>
                      <a:srgbClr val="F5F5F5"/>
                    </a:solidFill>
                  </a:tcPr>
                </a:tc>
                <a:tc>
                  <a:txBody>
                    <a:bodyPr/>
                    <a:lstStyle/>
                    <a:p>
                      <a:pPr>
                        <a:defRPr sz="950">
                          <a:solidFill>
                            <a:srgbClr val="212121"/>
                          </a:solidFill>
                          <a:latin typeface="Arial"/>
                        </a:defRPr>
                      </a:pPr>
                      <a:r>
                        <a:t>15.2%</a:t>
                      </a:r>
                    </a:p>
                  </a:txBody>
                  <a:tcPr>
                    <a:solidFill>
                      <a:srgbClr val="F5F5F5"/>
                    </a:solidFill>
                  </a:tcPr>
                </a:tc>
                <a:tc>
                  <a:txBody>
                    <a:bodyPr/>
                    <a:lstStyle/>
                    <a:p>
                      <a:pPr>
                        <a:defRPr sz="950">
                          <a:solidFill>
                            <a:srgbClr val="212121"/>
                          </a:solidFill>
                          <a:latin typeface="Arial"/>
                        </a:defRPr>
                      </a:pPr>
                      <a:r>
                        <a:t>56.0%</a:t>
                      </a:r>
                    </a:p>
                  </a:txBody>
                  <a:tcPr>
                    <a:solidFill>
                      <a:srgbClr val="F5F5F5"/>
                    </a:solidFill>
                  </a:tcPr>
                </a:tc>
                <a:tc>
                  <a:txBody>
                    <a:bodyPr/>
                    <a:lstStyle/>
                    <a:p>
                      <a:pPr>
                        <a:defRPr sz="950">
                          <a:solidFill>
                            <a:srgbClr val="212121"/>
                          </a:solidFill>
                          <a:latin typeface="Arial"/>
                        </a:defRPr>
                      </a:pPr>
                      <a:r>
                        <a:t>35.9%</a:t>
                      </a:r>
                    </a:p>
                  </a:txBody>
                  <a:tcPr>
                    <a:solidFill>
                      <a:srgbClr val="F5F5F5"/>
                    </a:solidFill>
                  </a:tcPr>
                </a:tc>
                <a:tc>
                  <a:txBody>
                    <a:bodyPr/>
                    <a:lstStyle/>
                    <a:p>
                      <a:pPr>
                        <a:defRPr sz="950">
                          <a:solidFill>
                            <a:srgbClr val="212121"/>
                          </a:solidFill>
                          <a:latin typeface="Arial"/>
                        </a:defRPr>
                      </a:pPr>
                      <a:r>
                        <a:t>11.6%</a:t>
                      </a:r>
                    </a:p>
                  </a:txBody>
                  <a:tcPr>
                    <a:solidFill>
                      <a:srgbClr val="F5F5F5"/>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ᵃCo-primary endpoint. NRI. ***P&lt;0.0001 vs PBO and apremilast. Review is required before disclosure.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Envudeucitinib — Pooled Safety Summary Through Week 16</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0000"/>
                    </a:ext>
                  </a:extLst>
                </a:gridCol>
                <a:gridCol w="2857500">
                  <a:extLst>
                    <a:ext uri="{9D8B030D-6E8A-4147-A177-3AD203B41FA5}">
                      <a16:colId xmlns:a16="http://schemas.microsoft.com/office/drawing/2014/main" val="20001"/>
                    </a:ext>
                  </a:extLst>
                </a:gridCol>
                <a:gridCol w="2857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457200">
                <a:tc>
                  <a:txBody>
                    <a:bodyPr/>
                    <a:lstStyle/>
                    <a:p>
                      <a:pPr>
                        <a:defRPr sz="1000" b="1">
                          <a:solidFill>
                            <a:srgbClr val="FFFFFF"/>
                          </a:solidFill>
                          <a:latin typeface="Arial"/>
                        </a:defRPr>
                      </a:pPr>
                      <a:r>
                        <a:t>TEAE Category</a:t>
                      </a:r>
                    </a:p>
                  </a:txBody>
                  <a:tcPr>
                    <a:solidFill>
                      <a:srgbClr val="E1251B"/>
                    </a:solidFill>
                  </a:tcPr>
                </a:tc>
                <a:tc>
                  <a:txBody>
                    <a:bodyPr/>
                    <a:lstStyle/>
                    <a:p>
                      <a:pPr>
                        <a:defRPr sz="1000" b="1">
                          <a:solidFill>
                            <a:srgbClr val="FFFFFF"/>
                          </a:solidFill>
                          <a:latin typeface="Arial"/>
                        </a:defRPr>
                      </a:pPr>
                      <a:r>
                        <a:t>Envudeucitinib 40 mg BID (n=890)</a:t>
                      </a:r>
                    </a:p>
                  </a:txBody>
                  <a:tcPr>
                    <a:solidFill>
                      <a:srgbClr val="E1251B"/>
                    </a:solidFill>
                  </a:tcPr>
                </a:tc>
                <a:tc>
                  <a:txBody>
                    <a:bodyPr/>
                    <a:lstStyle/>
                    <a:p>
                      <a:pPr>
                        <a:defRPr sz="1000" b="1">
                          <a:solidFill>
                            <a:srgbClr val="FFFFFF"/>
                          </a:solidFill>
                          <a:latin typeface="Arial"/>
                        </a:defRPr>
                      </a:pPr>
                      <a:r>
                        <a:t>PBO (n=441)</a:t>
                      </a:r>
                    </a:p>
                  </a:txBody>
                  <a:tcPr>
                    <a:solidFill>
                      <a:srgbClr val="E1251B"/>
                    </a:solidFill>
                  </a:tcPr>
                </a:tc>
                <a:tc>
                  <a:txBody>
                    <a:bodyPr/>
                    <a:lstStyle/>
                    <a:p>
                      <a:pPr>
                        <a:defRPr sz="1000" b="1">
                          <a:solidFill>
                            <a:srgbClr val="FFFFFF"/>
                          </a:solidFill>
                          <a:latin typeface="Arial"/>
                        </a:defRPr>
                      </a:pPr>
                      <a:r>
                        <a:t>Apremilast 30 mg BID (n=438)</a:t>
                      </a:r>
                    </a:p>
                  </a:txBody>
                  <a:tcPr>
                    <a:solidFill>
                      <a:srgbClr val="E1251B"/>
                    </a:solidFill>
                  </a:tcPr>
                </a:tc>
                <a:extLst>
                  <a:ext uri="{0D108BD9-81ED-4DB2-BD59-A6C34878D82A}">
                    <a16:rowId xmlns:a16="http://schemas.microsoft.com/office/drawing/2014/main" val="10000"/>
                  </a:ext>
                </a:extLst>
              </a:tr>
              <a:tr h="457200">
                <a:tc>
                  <a:txBody>
                    <a:bodyPr/>
                    <a:lstStyle/>
                    <a:p>
                      <a:pPr>
                        <a:defRPr sz="950">
                          <a:solidFill>
                            <a:srgbClr val="212121"/>
                          </a:solidFill>
                          <a:latin typeface="Arial"/>
                        </a:defRPr>
                      </a:pPr>
                      <a:r>
                        <a:t>≥1 TEAE</a:t>
                      </a:r>
                    </a:p>
                  </a:txBody>
                  <a:tcPr/>
                </a:tc>
                <a:tc>
                  <a:txBody>
                    <a:bodyPr/>
                    <a:lstStyle/>
                    <a:p>
                      <a:pPr>
                        <a:defRPr sz="950">
                          <a:solidFill>
                            <a:srgbClr val="212121"/>
                          </a:solidFill>
                          <a:latin typeface="Arial"/>
                        </a:defRPr>
                      </a:pPr>
                      <a:r>
                        <a:t>524 (58.9%)</a:t>
                      </a:r>
                    </a:p>
                  </a:txBody>
                  <a:tcPr/>
                </a:tc>
                <a:tc>
                  <a:txBody>
                    <a:bodyPr/>
                    <a:lstStyle/>
                    <a:p>
                      <a:pPr>
                        <a:defRPr sz="950">
                          <a:solidFill>
                            <a:srgbClr val="212121"/>
                          </a:solidFill>
                          <a:latin typeface="Arial"/>
                        </a:defRPr>
                      </a:pPr>
                      <a:r>
                        <a:t>166 (37.6%)</a:t>
                      </a:r>
                    </a:p>
                  </a:txBody>
                  <a:tcPr/>
                </a:tc>
                <a:tc>
                  <a:txBody>
                    <a:bodyPr/>
                    <a:lstStyle/>
                    <a:p>
                      <a:pPr>
                        <a:defRPr sz="950">
                          <a:solidFill>
                            <a:srgbClr val="212121"/>
                          </a:solidFill>
                          <a:latin typeface="Arial"/>
                        </a:defRPr>
                      </a:pPr>
                      <a:r>
                        <a:t>223 (50.9%)</a:t>
                      </a:r>
                    </a:p>
                  </a:txBody>
                  <a:tcPr/>
                </a:tc>
                <a:extLst>
                  <a:ext uri="{0D108BD9-81ED-4DB2-BD59-A6C34878D82A}">
                    <a16:rowId xmlns:a16="http://schemas.microsoft.com/office/drawing/2014/main" val="10001"/>
                  </a:ext>
                </a:extLst>
              </a:tr>
              <a:tr h="457200">
                <a:tc>
                  <a:txBody>
                    <a:bodyPr/>
                    <a:lstStyle/>
                    <a:p>
                      <a:pPr>
                        <a:defRPr sz="950">
                          <a:solidFill>
                            <a:srgbClr val="212121"/>
                          </a:solidFill>
                          <a:latin typeface="Arial"/>
                        </a:defRPr>
                      </a:pPr>
                      <a:r>
                        <a:t>≥1 SAE</a:t>
                      </a:r>
                    </a:p>
                  </a:txBody>
                  <a:tcPr>
                    <a:solidFill>
                      <a:srgbClr val="F5F5F5"/>
                    </a:solidFill>
                  </a:tcPr>
                </a:tc>
                <a:tc>
                  <a:txBody>
                    <a:bodyPr/>
                    <a:lstStyle/>
                    <a:p>
                      <a:pPr>
                        <a:defRPr sz="950">
                          <a:solidFill>
                            <a:srgbClr val="212121"/>
                          </a:solidFill>
                          <a:latin typeface="Arial"/>
                        </a:defRPr>
                      </a:pPr>
                      <a:r>
                        <a:t>19 (2.1%)</a:t>
                      </a:r>
                    </a:p>
                  </a:txBody>
                  <a:tcPr>
                    <a:solidFill>
                      <a:srgbClr val="F5F5F5"/>
                    </a:solidFill>
                  </a:tcPr>
                </a:tc>
                <a:tc>
                  <a:txBody>
                    <a:bodyPr/>
                    <a:lstStyle/>
                    <a:p>
                      <a:pPr>
                        <a:defRPr sz="950">
                          <a:solidFill>
                            <a:srgbClr val="212121"/>
                          </a:solidFill>
                          <a:latin typeface="Arial"/>
                        </a:defRPr>
                      </a:pPr>
                      <a:r>
                        <a:t>5 (1.1%)</a:t>
                      </a:r>
                    </a:p>
                  </a:txBody>
                  <a:tcPr>
                    <a:solidFill>
                      <a:srgbClr val="F5F5F5"/>
                    </a:solidFill>
                  </a:tcPr>
                </a:tc>
                <a:tc>
                  <a:txBody>
                    <a:bodyPr/>
                    <a:lstStyle/>
                    <a:p>
                      <a:pPr>
                        <a:defRPr sz="950">
                          <a:solidFill>
                            <a:srgbClr val="212121"/>
                          </a:solidFill>
                          <a:latin typeface="Arial"/>
                        </a:defRPr>
                      </a:pPr>
                      <a:r>
                        <a:t>5 (1.1%)</a:t>
                      </a:r>
                    </a:p>
                  </a:txBody>
                  <a:tcPr>
                    <a:solidFill>
                      <a:srgbClr val="F5F5F5"/>
                    </a:solidFill>
                  </a:tcPr>
                </a:tc>
                <a:extLst>
                  <a:ext uri="{0D108BD9-81ED-4DB2-BD59-A6C34878D82A}">
                    <a16:rowId xmlns:a16="http://schemas.microsoft.com/office/drawing/2014/main" val="10002"/>
                  </a:ext>
                </a:extLst>
              </a:tr>
              <a:tr h="457200">
                <a:tc>
                  <a:txBody>
                    <a:bodyPr/>
                    <a:lstStyle/>
                    <a:p>
                      <a:pPr>
                        <a:defRPr sz="950">
                          <a:solidFill>
                            <a:srgbClr val="212121"/>
                          </a:solidFill>
                          <a:latin typeface="Arial"/>
                        </a:defRPr>
                      </a:pPr>
                      <a:r>
                        <a:t>TEAE → d/c</a:t>
                      </a:r>
                    </a:p>
                  </a:txBody>
                  <a:tcPr/>
                </a:tc>
                <a:tc>
                  <a:txBody>
                    <a:bodyPr/>
                    <a:lstStyle/>
                    <a:p>
                      <a:pPr>
                        <a:defRPr sz="950">
                          <a:solidFill>
                            <a:srgbClr val="212121"/>
                          </a:solidFill>
                          <a:latin typeface="Arial"/>
                        </a:defRPr>
                      </a:pPr>
                      <a:r>
                        <a:t>30 (3.4%)</a:t>
                      </a:r>
                    </a:p>
                  </a:txBody>
                  <a:tcPr/>
                </a:tc>
                <a:tc>
                  <a:txBody>
                    <a:bodyPr/>
                    <a:lstStyle/>
                    <a:p>
                      <a:pPr>
                        <a:defRPr sz="950">
                          <a:solidFill>
                            <a:srgbClr val="212121"/>
                          </a:solidFill>
                          <a:latin typeface="Arial"/>
                        </a:defRPr>
                      </a:pPr>
                      <a:r>
                        <a:t>7 (1.6%)</a:t>
                      </a:r>
                    </a:p>
                  </a:txBody>
                  <a:tcPr/>
                </a:tc>
                <a:tc>
                  <a:txBody>
                    <a:bodyPr/>
                    <a:lstStyle/>
                    <a:p>
                      <a:pPr>
                        <a:defRPr sz="950">
                          <a:solidFill>
                            <a:srgbClr val="212121"/>
                          </a:solidFill>
                          <a:latin typeface="Arial"/>
                        </a:defRPr>
                      </a:pPr>
                      <a:r>
                        <a:t>9 (2.1%)</a:t>
                      </a:r>
                    </a:p>
                  </a:txBody>
                  <a:tcPr/>
                </a:tc>
                <a:extLst>
                  <a:ext uri="{0D108BD9-81ED-4DB2-BD59-A6C34878D82A}">
                    <a16:rowId xmlns:a16="http://schemas.microsoft.com/office/drawing/2014/main" val="10003"/>
                  </a:ext>
                </a:extLst>
              </a:tr>
              <a:tr h="457200">
                <a:tc>
                  <a:txBody>
                    <a:bodyPr/>
                    <a:lstStyle/>
                    <a:p>
                      <a:pPr>
                        <a:defRPr sz="950">
                          <a:solidFill>
                            <a:srgbClr val="212121"/>
                          </a:solidFill>
                          <a:latin typeface="Arial"/>
                        </a:defRPr>
                      </a:pPr>
                      <a:r>
                        <a:t>TEAE grade ≥3</a:t>
                      </a:r>
                    </a:p>
                  </a:txBody>
                  <a:tcPr>
                    <a:solidFill>
                      <a:srgbClr val="F5F5F5"/>
                    </a:solidFill>
                  </a:tcPr>
                </a:tc>
                <a:tc>
                  <a:txBody>
                    <a:bodyPr/>
                    <a:lstStyle/>
                    <a:p>
                      <a:pPr>
                        <a:defRPr sz="950">
                          <a:solidFill>
                            <a:srgbClr val="212121"/>
                          </a:solidFill>
                          <a:latin typeface="Arial"/>
                        </a:defRPr>
                      </a:pPr>
                      <a:r>
                        <a:t>42 (4.7%)</a:t>
                      </a:r>
                    </a:p>
                  </a:txBody>
                  <a:tcPr>
                    <a:solidFill>
                      <a:srgbClr val="F5F5F5"/>
                    </a:solidFill>
                  </a:tcPr>
                </a:tc>
                <a:tc>
                  <a:txBody>
                    <a:bodyPr/>
                    <a:lstStyle/>
                    <a:p>
                      <a:pPr>
                        <a:defRPr sz="950">
                          <a:solidFill>
                            <a:srgbClr val="212121"/>
                          </a:solidFill>
                          <a:latin typeface="Arial"/>
                        </a:defRPr>
                      </a:pPr>
                      <a:r>
                        <a:t>14 (3.2%)</a:t>
                      </a:r>
                    </a:p>
                  </a:txBody>
                  <a:tcPr>
                    <a:solidFill>
                      <a:srgbClr val="F5F5F5"/>
                    </a:solidFill>
                  </a:tcPr>
                </a:tc>
                <a:tc>
                  <a:txBody>
                    <a:bodyPr/>
                    <a:lstStyle/>
                    <a:p>
                      <a:pPr>
                        <a:defRPr sz="950">
                          <a:solidFill>
                            <a:srgbClr val="212121"/>
                          </a:solidFill>
                          <a:latin typeface="Arial"/>
                        </a:defRPr>
                      </a:pPr>
                      <a:r>
                        <a:t>18 (4.1%)</a:t>
                      </a:r>
                    </a:p>
                  </a:txBody>
                  <a:tcPr>
                    <a:solidFill>
                      <a:srgbClr val="F5F5F5"/>
                    </a:solidFill>
                  </a:tcPr>
                </a:tc>
                <a:extLst>
                  <a:ext uri="{0D108BD9-81ED-4DB2-BD59-A6C34878D82A}">
                    <a16:rowId xmlns:a16="http://schemas.microsoft.com/office/drawing/2014/main" val="10004"/>
                  </a:ext>
                </a:extLst>
              </a:tr>
              <a:tr h="457200">
                <a:tc>
                  <a:txBody>
                    <a:bodyPr/>
                    <a:lstStyle/>
                    <a:p>
                      <a:pPr>
                        <a:defRPr sz="950">
                          <a:solidFill>
                            <a:srgbClr val="212121"/>
                          </a:solidFill>
                          <a:latin typeface="Arial"/>
                        </a:defRPr>
                      </a:pPr>
                      <a:r>
                        <a:t>Headache</a:t>
                      </a:r>
                    </a:p>
                  </a:txBody>
                  <a:tcPr/>
                </a:tc>
                <a:tc>
                  <a:txBody>
                    <a:bodyPr/>
                    <a:lstStyle/>
                    <a:p>
                      <a:pPr>
                        <a:defRPr sz="950">
                          <a:solidFill>
                            <a:srgbClr val="212121"/>
                          </a:solidFill>
                          <a:latin typeface="Arial"/>
                        </a:defRPr>
                      </a:pPr>
                      <a:r>
                        <a:t>92 (10.3%)</a:t>
                      </a:r>
                    </a:p>
                  </a:txBody>
                  <a:tcPr/>
                </a:tc>
                <a:tc>
                  <a:txBody>
                    <a:bodyPr/>
                    <a:lstStyle/>
                    <a:p>
                      <a:pPr>
                        <a:defRPr sz="950">
                          <a:solidFill>
                            <a:srgbClr val="212121"/>
                          </a:solidFill>
                          <a:latin typeface="Arial"/>
                        </a:defRPr>
                      </a:pPr>
                      <a:r>
                        <a:t>11 (2.5%)</a:t>
                      </a:r>
                    </a:p>
                  </a:txBody>
                  <a:tcPr/>
                </a:tc>
                <a:tc>
                  <a:txBody>
                    <a:bodyPr/>
                    <a:lstStyle/>
                    <a:p>
                      <a:pPr>
                        <a:defRPr sz="950">
                          <a:solidFill>
                            <a:srgbClr val="212121"/>
                          </a:solidFill>
                          <a:latin typeface="Arial"/>
                        </a:defRPr>
                      </a:pPr>
                      <a:r>
                        <a:t>40 (9.1%)</a:t>
                      </a:r>
                    </a:p>
                  </a:txBody>
                  <a:tcPr/>
                </a:tc>
                <a:extLst>
                  <a:ext uri="{0D108BD9-81ED-4DB2-BD59-A6C34878D82A}">
                    <a16:rowId xmlns:a16="http://schemas.microsoft.com/office/drawing/2014/main" val="10005"/>
                  </a:ext>
                </a:extLst>
              </a:tr>
              <a:tr h="457200">
                <a:tc>
                  <a:txBody>
                    <a:bodyPr/>
                    <a:lstStyle/>
                    <a:p>
                      <a:pPr>
                        <a:defRPr sz="950">
                          <a:solidFill>
                            <a:srgbClr val="212121"/>
                          </a:solidFill>
                          <a:latin typeface="Arial"/>
                        </a:defRPr>
                      </a:pPr>
                      <a:r>
                        <a:t>Nasopharyngitis</a:t>
                      </a:r>
                    </a:p>
                  </a:txBody>
                  <a:tcPr>
                    <a:solidFill>
                      <a:srgbClr val="F5F5F5"/>
                    </a:solidFill>
                  </a:tcPr>
                </a:tc>
                <a:tc>
                  <a:txBody>
                    <a:bodyPr/>
                    <a:lstStyle/>
                    <a:p>
                      <a:pPr>
                        <a:defRPr sz="950">
                          <a:solidFill>
                            <a:srgbClr val="212121"/>
                          </a:solidFill>
                          <a:latin typeface="Arial"/>
                        </a:defRPr>
                      </a:pPr>
                      <a:r>
                        <a:t>64 (7.2%)</a:t>
                      </a:r>
                    </a:p>
                  </a:txBody>
                  <a:tcPr>
                    <a:solidFill>
                      <a:srgbClr val="F5F5F5"/>
                    </a:solidFill>
                  </a:tcPr>
                </a:tc>
                <a:tc>
                  <a:txBody>
                    <a:bodyPr/>
                    <a:lstStyle/>
                    <a:p>
                      <a:pPr>
                        <a:defRPr sz="950">
                          <a:solidFill>
                            <a:srgbClr val="212121"/>
                          </a:solidFill>
                          <a:latin typeface="Arial"/>
                        </a:defRPr>
                      </a:pPr>
                      <a:r>
                        <a:t>21 (4.8%)</a:t>
                      </a:r>
                    </a:p>
                  </a:txBody>
                  <a:tcPr>
                    <a:solidFill>
                      <a:srgbClr val="F5F5F5"/>
                    </a:solidFill>
                  </a:tcPr>
                </a:tc>
                <a:tc>
                  <a:txBody>
                    <a:bodyPr/>
                    <a:lstStyle/>
                    <a:p>
                      <a:pPr>
                        <a:defRPr sz="950">
                          <a:solidFill>
                            <a:srgbClr val="212121"/>
                          </a:solidFill>
                          <a:latin typeface="Arial"/>
                        </a:defRPr>
                      </a:pPr>
                      <a:r>
                        <a:t>16 (3.7%)</a:t>
                      </a:r>
                    </a:p>
                  </a:txBody>
                  <a:tcPr>
                    <a:solidFill>
                      <a:srgbClr val="F5F5F5"/>
                    </a:solidFill>
                  </a:tcPr>
                </a:tc>
                <a:extLst>
                  <a:ext uri="{0D108BD9-81ED-4DB2-BD59-A6C34878D82A}">
                    <a16:rowId xmlns:a16="http://schemas.microsoft.com/office/drawing/2014/main" val="10006"/>
                  </a:ext>
                </a:extLst>
              </a:tr>
              <a:tr h="457200">
                <a:tc>
                  <a:txBody>
                    <a:bodyPr/>
                    <a:lstStyle/>
                    <a:p>
                      <a:pPr>
                        <a:defRPr sz="950">
                          <a:solidFill>
                            <a:srgbClr val="212121"/>
                          </a:solidFill>
                          <a:latin typeface="Arial"/>
                        </a:defRPr>
                      </a:pPr>
                      <a:r>
                        <a:t>Acne</a:t>
                      </a:r>
                    </a:p>
                  </a:txBody>
                  <a:tcPr/>
                </a:tc>
                <a:tc>
                  <a:txBody>
                    <a:bodyPr/>
                    <a:lstStyle/>
                    <a:p>
                      <a:pPr>
                        <a:defRPr sz="950">
                          <a:solidFill>
                            <a:srgbClr val="212121"/>
                          </a:solidFill>
                          <a:latin typeface="Arial"/>
                        </a:defRPr>
                      </a:pPr>
                      <a:r>
                        <a:t>53 (6.0%)</a:t>
                      </a:r>
                    </a:p>
                  </a:txBody>
                  <a:tcPr/>
                </a:tc>
                <a:tc>
                  <a:txBody>
                    <a:bodyPr/>
                    <a:lstStyle/>
                    <a:p>
                      <a:pPr>
                        <a:defRPr sz="950">
                          <a:solidFill>
                            <a:srgbClr val="212121"/>
                          </a:solidFill>
                          <a:latin typeface="Arial"/>
                        </a:defRPr>
                      </a:pPr>
                      <a:r>
                        <a:t>3 (0.7%)</a:t>
                      </a:r>
                    </a:p>
                  </a:txBody>
                  <a:tcPr/>
                </a:tc>
                <a:tc>
                  <a:txBody>
                    <a:bodyPr/>
                    <a:lstStyle/>
                    <a:p>
                      <a:pPr>
                        <a:defRPr sz="950">
                          <a:solidFill>
                            <a:srgbClr val="212121"/>
                          </a:solidFill>
                          <a:latin typeface="Arial"/>
                        </a:defRPr>
                      </a:pPr>
                      <a:r>
                        <a:t>3 (0.7%)</a:t>
                      </a:r>
                    </a:p>
                  </a:txBody>
                  <a:tcPr/>
                </a:tc>
                <a:extLst>
                  <a:ext uri="{0D108BD9-81ED-4DB2-BD59-A6C34878D82A}">
                    <a16:rowId xmlns:a16="http://schemas.microsoft.com/office/drawing/2014/main" val="10007"/>
                  </a:ext>
                </a:extLst>
              </a:tr>
              <a:tr h="457200">
                <a:tc>
                  <a:txBody>
                    <a:bodyPr/>
                    <a:lstStyle/>
                    <a:p>
                      <a:pPr>
                        <a:defRPr sz="950">
                          <a:solidFill>
                            <a:srgbClr val="212121"/>
                          </a:solidFill>
                          <a:latin typeface="Arial"/>
                        </a:defRPr>
                      </a:pPr>
                      <a:r>
                        <a:t>URTI</a:t>
                      </a:r>
                    </a:p>
                  </a:txBody>
                  <a:tcPr>
                    <a:solidFill>
                      <a:srgbClr val="F5F5F5"/>
                    </a:solidFill>
                  </a:tcPr>
                </a:tc>
                <a:tc>
                  <a:txBody>
                    <a:bodyPr/>
                    <a:lstStyle/>
                    <a:p>
                      <a:pPr>
                        <a:defRPr sz="950">
                          <a:solidFill>
                            <a:srgbClr val="212121"/>
                          </a:solidFill>
                          <a:latin typeface="Arial"/>
                        </a:defRPr>
                      </a:pPr>
                      <a:r>
                        <a:t>43 (4.8%)</a:t>
                      </a:r>
                    </a:p>
                  </a:txBody>
                  <a:tcPr>
                    <a:solidFill>
                      <a:srgbClr val="F5F5F5"/>
                    </a:solidFill>
                  </a:tcPr>
                </a:tc>
                <a:tc>
                  <a:txBody>
                    <a:bodyPr/>
                    <a:lstStyle/>
                    <a:p>
                      <a:pPr>
                        <a:defRPr sz="950">
                          <a:solidFill>
                            <a:srgbClr val="212121"/>
                          </a:solidFill>
                          <a:latin typeface="Arial"/>
                        </a:defRPr>
                      </a:pPr>
                      <a:r>
                        <a:t>7 (1.6%)</a:t>
                      </a:r>
                    </a:p>
                  </a:txBody>
                  <a:tcPr>
                    <a:solidFill>
                      <a:srgbClr val="F5F5F5"/>
                    </a:solidFill>
                  </a:tcPr>
                </a:tc>
                <a:tc>
                  <a:txBody>
                    <a:bodyPr/>
                    <a:lstStyle/>
                    <a:p>
                      <a:pPr>
                        <a:defRPr sz="950">
                          <a:solidFill>
                            <a:srgbClr val="212121"/>
                          </a:solidFill>
                          <a:latin typeface="Arial"/>
                        </a:defRPr>
                      </a:pPr>
                      <a:r>
                        <a:t>16 (3.7%)</a:t>
                      </a:r>
                    </a:p>
                  </a:txBody>
                  <a:tcPr>
                    <a:solidFill>
                      <a:srgbClr val="F5F5F5"/>
                    </a:solidFill>
                  </a:tcPr>
                </a:tc>
                <a:extLst>
                  <a:ext uri="{0D108BD9-81ED-4DB2-BD59-A6C34878D82A}">
                    <a16:rowId xmlns:a16="http://schemas.microsoft.com/office/drawing/2014/main" val="10008"/>
                  </a:ext>
                </a:extLst>
              </a:tr>
              <a:tr h="457200">
                <a:tc>
                  <a:txBody>
                    <a:bodyPr/>
                    <a:lstStyle/>
                    <a:p>
                      <a:pPr>
                        <a:defRPr sz="950">
                          <a:solidFill>
                            <a:srgbClr val="212121"/>
                          </a:solidFill>
                          <a:latin typeface="Arial"/>
                        </a:defRPr>
                      </a:pPr>
                      <a:r>
                        <a:t>Nausea</a:t>
                      </a:r>
                    </a:p>
                  </a:txBody>
                  <a:tcPr/>
                </a:tc>
                <a:tc>
                  <a:txBody>
                    <a:bodyPr/>
                    <a:lstStyle/>
                    <a:p>
                      <a:pPr>
                        <a:defRPr sz="950">
                          <a:solidFill>
                            <a:srgbClr val="212121"/>
                          </a:solidFill>
                          <a:latin typeface="Arial"/>
                        </a:defRPr>
                      </a:pPr>
                      <a:r>
                        <a:t>20 (2.2%)</a:t>
                      </a:r>
                    </a:p>
                  </a:txBody>
                  <a:tcPr/>
                </a:tc>
                <a:tc>
                  <a:txBody>
                    <a:bodyPr/>
                    <a:lstStyle/>
                    <a:p>
                      <a:pPr>
                        <a:defRPr sz="950">
                          <a:solidFill>
                            <a:srgbClr val="212121"/>
                          </a:solidFill>
                          <a:latin typeface="Arial"/>
                        </a:defRPr>
                      </a:pPr>
                      <a:r>
                        <a:t>4 (0.9%)</a:t>
                      </a:r>
                    </a:p>
                  </a:txBody>
                  <a:tcPr/>
                </a:tc>
                <a:tc>
                  <a:txBody>
                    <a:bodyPr/>
                    <a:lstStyle/>
                    <a:p>
                      <a:pPr>
                        <a:defRPr sz="950">
                          <a:solidFill>
                            <a:srgbClr val="212121"/>
                          </a:solidFill>
                          <a:latin typeface="Arial"/>
                        </a:defRPr>
                      </a:pPr>
                      <a:r>
                        <a:t>23 (5.3%)</a:t>
                      </a:r>
                    </a:p>
                  </a:txBody>
                  <a:tcPr/>
                </a:tc>
                <a:extLst>
                  <a:ext uri="{0D108BD9-81ED-4DB2-BD59-A6C34878D82A}">
                    <a16:rowId xmlns:a16="http://schemas.microsoft.com/office/drawing/2014/main" val="10009"/>
                  </a:ext>
                </a:extLst>
              </a:tr>
              <a:tr h="457200">
                <a:tc>
                  <a:txBody>
                    <a:bodyPr/>
                    <a:lstStyle/>
                    <a:p>
                      <a:pPr>
                        <a:defRPr sz="950">
                          <a:solidFill>
                            <a:srgbClr val="212121"/>
                          </a:solidFill>
                          <a:latin typeface="Arial"/>
                        </a:defRPr>
                      </a:pPr>
                      <a:r>
                        <a:t>Diarrhea</a:t>
                      </a:r>
                    </a:p>
                  </a:txBody>
                  <a:tcPr>
                    <a:solidFill>
                      <a:srgbClr val="F5F5F5"/>
                    </a:solidFill>
                  </a:tcPr>
                </a:tc>
                <a:tc>
                  <a:txBody>
                    <a:bodyPr/>
                    <a:lstStyle/>
                    <a:p>
                      <a:pPr>
                        <a:defRPr sz="950">
                          <a:solidFill>
                            <a:srgbClr val="212121"/>
                          </a:solidFill>
                          <a:latin typeface="Arial"/>
                        </a:defRPr>
                      </a:pPr>
                      <a:r>
                        <a:t>14 (1.6%)</a:t>
                      </a:r>
                    </a:p>
                  </a:txBody>
                  <a:tcPr>
                    <a:solidFill>
                      <a:srgbClr val="F5F5F5"/>
                    </a:solidFill>
                  </a:tcPr>
                </a:tc>
                <a:tc>
                  <a:txBody>
                    <a:bodyPr/>
                    <a:lstStyle/>
                    <a:p>
                      <a:pPr>
                        <a:defRPr sz="950">
                          <a:solidFill>
                            <a:srgbClr val="212121"/>
                          </a:solidFill>
                          <a:latin typeface="Arial"/>
                        </a:defRPr>
                      </a:pPr>
                      <a:r>
                        <a:t>11 (2.5%)</a:t>
                      </a:r>
                    </a:p>
                  </a:txBody>
                  <a:tcPr>
                    <a:solidFill>
                      <a:srgbClr val="F5F5F5"/>
                    </a:solidFill>
                  </a:tcPr>
                </a:tc>
                <a:tc>
                  <a:txBody>
                    <a:bodyPr/>
                    <a:lstStyle/>
                    <a:p>
                      <a:pPr>
                        <a:defRPr sz="950">
                          <a:solidFill>
                            <a:srgbClr val="212121"/>
                          </a:solidFill>
                          <a:latin typeface="Arial"/>
                        </a:defRPr>
                      </a:pPr>
                      <a:r>
                        <a:t>36 (8.2%)</a:t>
                      </a:r>
                    </a:p>
                  </a:txBody>
                  <a:tcPr>
                    <a:solidFill>
                      <a:srgbClr val="F5F5F5"/>
                    </a:solidFill>
                  </a:tcPr>
                </a:tc>
                <a:extLst>
                  <a:ext uri="{0D108BD9-81ED-4DB2-BD59-A6C34878D82A}">
                    <a16:rowId xmlns:a16="http://schemas.microsoft.com/office/drawing/2014/main" val="10010"/>
                  </a:ext>
                </a:extLst>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Pooled ONWARD1 + ONWARD2 through Week 16. No deaths, no MACE, no cytopenia, no TB reactivation. Review is required before disclosure.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Cross-Trial Comparison: Zasocitinib vs Envudeucitinib at Week 16</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628650">
                <a:tc>
                  <a:txBody>
                    <a:bodyPr/>
                    <a:lstStyle/>
                    <a:p>
                      <a:pPr>
                        <a:defRPr sz="1000" b="1">
                          <a:solidFill>
                            <a:srgbClr val="FFFFFF"/>
                          </a:solidFill>
                          <a:latin typeface="Arial"/>
                        </a:defRPr>
                      </a:pPr>
                      <a:r>
                        <a:t>Endpoint</a:t>
                      </a:r>
                    </a:p>
                  </a:txBody>
                  <a:tcPr>
                    <a:solidFill>
                      <a:srgbClr val="E1251B"/>
                    </a:solidFill>
                  </a:tcPr>
                </a:tc>
                <a:tc>
                  <a:txBody>
                    <a:bodyPr/>
                    <a:lstStyle/>
                    <a:p>
                      <a:pPr>
                        <a:defRPr sz="1000" b="1">
                          <a:solidFill>
                            <a:srgbClr val="FFFFFF"/>
                          </a:solidFill>
                          <a:latin typeface="Arial"/>
                        </a:defRPr>
                      </a:pPr>
                      <a:r>
                        <a:t>Zasocitinib (3001/3002)</a:t>
                      </a:r>
                    </a:p>
                  </a:txBody>
                  <a:tcPr>
                    <a:solidFill>
                      <a:srgbClr val="E1251B"/>
                    </a:solidFill>
                  </a:tcPr>
                </a:tc>
                <a:tc>
                  <a:txBody>
                    <a:bodyPr/>
                    <a:lstStyle/>
                    <a:p>
                      <a:pPr>
                        <a:defRPr sz="1000" b="1">
                          <a:solidFill>
                            <a:srgbClr val="FFFFFF"/>
                          </a:solidFill>
                          <a:latin typeface="Arial"/>
                        </a:defRPr>
                      </a:pPr>
                      <a:r>
                        <a:t>Envudeucitinib (OW1/OW2)</a:t>
                      </a:r>
                    </a:p>
                  </a:txBody>
                  <a:tcPr>
                    <a:solidFill>
                      <a:srgbClr val="E1251B"/>
                    </a:solidFill>
                  </a:tcPr>
                </a:tc>
                <a:tc>
                  <a:txBody>
                    <a:bodyPr/>
                    <a:lstStyle/>
                    <a:p>
                      <a:pPr>
                        <a:defRPr sz="1000" b="1">
                          <a:solidFill>
                            <a:srgbClr val="FFFFFF"/>
                          </a:solidFill>
                          <a:latin typeface="Arial"/>
                        </a:defRPr>
                      </a:pPr>
                      <a:r>
                        <a:t>Deucravacitinib (POETYK ref)</a:t>
                      </a:r>
                    </a:p>
                  </a:txBody>
                  <a:tcPr>
                    <a:solidFill>
                      <a:srgbClr val="E1251B"/>
                    </a:solidFill>
                  </a:tcPr>
                </a:tc>
                <a:tc>
                  <a:txBody>
                    <a:bodyPr/>
                    <a:lstStyle/>
                    <a:p>
                      <a:pPr>
                        <a:defRPr sz="1000" b="1">
                          <a:solidFill>
                            <a:srgbClr val="FFFFFF"/>
                          </a:solidFill>
                          <a:latin typeface="Arial"/>
                        </a:defRPr>
                      </a:pPr>
                      <a:r>
                        <a:t>Comment</a:t>
                      </a:r>
                    </a:p>
                  </a:txBody>
                  <a:tcPr>
                    <a:solidFill>
                      <a:srgbClr val="E1251B"/>
                    </a:solidFill>
                  </a:tcPr>
                </a:tc>
                <a:extLst>
                  <a:ext uri="{0D108BD9-81ED-4DB2-BD59-A6C34878D82A}">
                    <a16:rowId xmlns:a16="http://schemas.microsoft.com/office/drawing/2014/main" val="10000"/>
                  </a:ext>
                </a:extLst>
              </a:tr>
              <a:tr h="628650">
                <a:tc>
                  <a:txBody>
                    <a:bodyPr/>
                    <a:lstStyle/>
                    <a:p>
                      <a:pPr>
                        <a:defRPr sz="950">
                          <a:solidFill>
                            <a:srgbClr val="212121"/>
                          </a:solidFill>
                          <a:latin typeface="Arial"/>
                        </a:defRPr>
                      </a:pPr>
                      <a:r>
                        <a:t>PASI 75</a:t>
                      </a:r>
                    </a:p>
                  </a:txBody>
                  <a:tcPr/>
                </a:tc>
                <a:tc>
                  <a:txBody>
                    <a:bodyPr/>
                    <a:lstStyle/>
                    <a:p>
                      <a:pPr>
                        <a:defRPr sz="950">
                          <a:solidFill>
                            <a:srgbClr val="212121"/>
                          </a:solidFill>
                          <a:latin typeface="Arial"/>
                        </a:defRPr>
                      </a:pPr>
                      <a:r>
                        <a:t>76% / 71%</a:t>
                      </a:r>
                    </a:p>
                  </a:txBody>
                  <a:tcPr/>
                </a:tc>
                <a:tc>
                  <a:txBody>
                    <a:bodyPr/>
                    <a:lstStyle/>
                    <a:p>
                      <a:pPr>
                        <a:defRPr sz="950">
                          <a:solidFill>
                            <a:srgbClr val="212121"/>
                          </a:solidFill>
                          <a:latin typeface="Arial"/>
                        </a:defRPr>
                      </a:pPr>
                      <a:r>
                        <a:t>76.5% / 70.4%</a:t>
                      </a:r>
                    </a:p>
                  </a:txBody>
                  <a:tcPr/>
                </a:tc>
                <a:tc>
                  <a:txBody>
                    <a:bodyPr/>
                    <a:lstStyle/>
                    <a:p>
                      <a:pPr>
                        <a:defRPr sz="950">
                          <a:solidFill>
                            <a:srgbClr val="212121"/>
                          </a:solidFill>
                          <a:latin typeface="Arial"/>
                        </a:defRPr>
                      </a:pPr>
                      <a:r>
                        <a:t>~53–58%</a:t>
                      </a:r>
                    </a:p>
                  </a:txBody>
                  <a:tcPr/>
                </a:tc>
                <a:tc>
                  <a:txBody>
                    <a:bodyPr/>
                    <a:lstStyle/>
                    <a:p>
                      <a:pPr>
                        <a:defRPr sz="950">
                          <a:solidFill>
                            <a:srgbClr val="212121"/>
                          </a:solidFill>
                          <a:latin typeface="Arial"/>
                        </a:defRPr>
                      </a:pPr>
                      <a:r>
                        <a:t>Both next-gen TYK2i &gt;&gt; deucravacitinib</a:t>
                      </a:r>
                    </a:p>
                  </a:txBody>
                  <a:tcPr/>
                </a:tc>
                <a:extLst>
                  <a:ext uri="{0D108BD9-81ED-4DB2-BD59-A6C34878D82A}">
                    <a16:rowId xmlns:a16="http://schemas.microsoft.com/office/drawing/2014/main" val="10001"/>
                  </a:ext>
                </a:extLst>
              </a:tr>
              <a:tr h="628650">
                <a:tc>
                  <a:txBody>
                    <a:bodyPr/>
                    <a:lstStyle/>
                    <a:p>
                      <a:pPr>
                        <a:defRPr sz="950">
                          <a:solidFill>
                            <a:srgbClr val="212121"/>
                          </a:solidFill>
                          <a:latin typeface="Arial"/>
                        </a:defRPr>
                      </a:pPr>
                      <a:r>
                        <a:t>PASI 90</a:t>
                      </a:r>
                    </a:p>
                  </a:txBody>
                  <a:tcPr>
                    <a:solidFill>
                      <a:srgbClr val="F5F5F5"/>
                    </a:solidFill>
                  </a:tcPr>
                </a:tc>
                <a:tc>
                  <a:txBody>
                    <a:bodyPr/>
                    <a:lstStyle/>
                    <a:p>
                      <a:pPr>
                        <a:defRPr sz="950">
                          <a:solidFill>
                            <a:srgbClr val="212121"/>
                          </a:solidFill>
                          <a:latin typeface="Arial"/>
                        </a:defRPr>
                      </a:pPr>
                      <a:r>
                        <a:t>61% / 52%</a:t>
                      </a:r>
                    </a:p>
                  </a:txBody>
                  <a:tcPr>
                    <a:solidFill>
                      <a:srgbClr val="F5F5F5"/>
                    </a:solidFill>
                  </a:tcPr>
                </a:tc>
                <a:tc>
                  <a:txBody>
                    <a:bodyPr/>
                    <a:lstStyle/>
                    <a:p>
                      <a:pPr>
                        <a:defRPr sz="950">
                          <a:solidFill>
                            <a:srgbClr val="212121"/>
                          </a:solidFill>
                          <a:latin typeface="Arial"/>
                        </a:defRPr>
                      </a:pPr>
                      <a:r>
                        <a:t>59.9% / 53.1%</a:t>
                      </a:r>
                    </a:p>
                  </a:txBody>
                  <a:tcPr>
                    <a:solidFill>
                      <a:srgbClr val="F5F5F5"/>
                    </a:solidFill>
                  </a:tcPr>
                </a:tc>
                <a:tc>
                  <a:txBody>
                    <a:bodyPr/>
                    <a:lstStyle/>
                    <a:p>
                      <a:pPr>
                        <a:defRPr sz="950">
                          <a:solidFill>
                            <a:srgbClr val="212121"/>
                          </a:solidFill>
                          <a:latin typeface="Arial"/>
                        </a:defRPr>
                      </a:pPr>
                      <a:r>
                        <a:t>~27–36%</a:t>
                      </a:r>
                    </a:p>
                  </a:txBody>
                  <a:tcPr>
                    <a:solidFill>
                      <a:srgbClr val="F5F5F5"/>
                    </a:solidFill>
                  </a:tcPr>
                </a:tc>
                <a:tc>
                  <a:txBody>
                    <a:bodyPr/>
                    <a:lstStyle/>
                    <a:p>
                      <a:pPr>
                        <a:defRPr sz="950">
                          <a:solidFill>
                            <a:srgbClr val="212121"/>
                          </a:solidFill>
                          <a:latin typeface="Arial"/>
                        </a:defRPr>
                      </a:pPr>
                      <a:r>
                        <a:t>Comparable; both roughly double deucravacitinib</a:t>
                      </a:r>
                    </a:p>
                  </a:txBody>
                  <a:tcPr>
                    <a:solidFill>
                      <a:srgbClr val="F5F5F5"/>
                    </a:solidFill>
                  </a:tcPr>
                </a:tc>
                <a:extLst>
                  <a:ext uri="{0D108BD9-81ED-4DB2-BD59-A6C34878D82A}">
                    <a16:rowId xmlns:a16="http://schemas.microsoft.com/office/drawing/2014/main" val="10002"/>
                  </a:ext>
                </a:extLst>
              </a:tr>
              <a:tr h="628650">
                <a:tc>
                  <a:txBody>
                    <a:bodyPr/>
                    <a:lstStyle/>
                    <a:p>
                      <a:pPr>
                        <a:defRPr sz="950">
                          <a:solidFill>
                            <a:srgbClr val="212121"/>
                          </a:solidFill>
                          <a:latin typeface="Arial"/>
                        </a:defRPr>
                      </a:pPr>
                      <a:r>
                        <a:t>PASI 100</a:t>
                      </a:r>
                    </a:p>
                  </a:txBody>
                  <a:tcPr/>
                </a:tc>
                <a:tc>
                  <a:txBody>
                    <a:bodyPr/>
                    <a:lstStyle/>
                    <a:p>
                      <a:pPr>
                        <a:defRPr sz="950">
                          <a:solidFill>
                            <a:srgbClr val="212121"/>
                          </a:solidFill>
                          <a:latin typeface="Arial"/>
                        </a:defRPr>
                      </a:pPr>
                      <a:r>
                        <a:t>33% / 25%</a:t>
                      </a:r>
                    </a:p>
                  </a:txBody>
                  <a:tcPr/>
                </a:tc>
                <a:tc>
                  <a:txBody>
                    <a:bodyPr/>
                    <a:lstStyle/>
                    <a:p>
                      <a:pPr>
                        <a:defRPr sz="950">
                          <a:solidFill>
                            <a:srgbClr val="212121"/>
                          </a:solidFill>
                          <a:latin typeface="Arial"/>
                        </a:defRPr>
                      </a:pPr>
                      <a:r>
                        <a:t>29.4% / 27.7%</a:t>
                      </a:r>
                    </a:p>
                  </a:txBody>
                  <a:tcPr/>
                </a:tc>
                <a:tc>
                  <a:txBody>
                    <a:bodyPr/>
                    <a:lstStyle/>
                    <a:p>
                      <a:pPr>
                        <a:defRPr sz="950">
                          <a:solidFill>
                            <a:srgbClr val="212121"/>
                          </a:solidFill>
                          <a:latin typeface="Arial"/>
                        </a:defRPr>
                      </a:pPr>
                      <a:r>
                        <a:t>~12–17%</a:t>
                      </a:r>
                    </a:p>
                  </a:txBody>
                  <a:tcPr/>
                </a:tc>
                <a:tc>
                  <a:txBody>
                    <a:bodyPr/>
                    <a:lstStyle/>
                    <a:p>
                      <a:pPr>
                        <a:defRPr sz="950">
                          <a:solidFill>
                            <a:srgbClr val="212121"/>
                          </a:solidFill>
                          <a:latin typeface="Arial"/>
                        </a:defRPr>
                      </a:pPr>
                      <a:r>
                        <a:t>Both substantially higher</a:t>
                      </a:r>
                    </a:p>
                  </a:txBody>
                  <a:tcPr/>
                </a:tc>
                <a:extLst>
                  <a:ext uri="{0D108BD9-81ED-4DB2-BD59-A6C34878D82A}">
                    <a16:rowId xmlns:a16="http://schemas.microsoft.com/office/drawing/2014/main" val="10003"/>
                  </a:ext>
                </a:extLst>
              </a:tr>
              <a:tr h="628650">
                <a:tc>
                  <a:txBody>
                    <a:bodyPr/>
                    <a:lstStyle/>
                    <a:p>
                      <a:pPr>
                        <a:defRPr sz="950">
                          <a:solidFill>
                            <a:srgbClr val="212121"/>
                          </a:solidFill>
                          <a:latin typeface="Arial"/>
                        </a:defRPr>
                      </a:pPr>
                      <a:r>
                        <a:t>sPGA 0/1</a:t>
                      </a:r>
                    </a:p>
                  </a:txBody>
                  <a:tcPr>
                    <a:solidFill>
                      <a:srgbClr val="F5F5F5"/>
                    </a:solidFill>
                  </a:tcPr>
                </a:tc>
                <a:tc>
                  <a:txBody>
                    <a:bodyPr/>
                    <a:lstStyle/>
                    <a:p>
                      <a:pPr>
                        <a:defRPr sz="950">
                          <a:solidFill>
                            <a:srgbClr val="212121"/>
                          </a:solidFill>
                          <a:latin typeface="Arial"/>
                        </a:defRPr>
                      </a:pPr>
                      <a:r>
                        <a:t>71% / 69%</a:t>
                      </a:r>
                    </a:p>
                  </a:txBody>
                  <a:tcPr>
                    <a:solidFill>
                      <a:srgbClr val="F5F5F5"/>
                    </a:solidFill>
                  </a:tcPr>
                </a:tc>
                <a:tc>
                  <a:txBody>
                    <a:bodyPr/>
                    <a:lstStyle/>
                    <a:p>
                      <a:pPr>
                        <a:defRPr sz="950">
                          <a:solidFill>
                            <a:srgbClr val="212121"/>
                          </a:solidFill>
                          <a:latin typeface="Arial"/>
                        </a:defRPr>
                      </a:pPr>
                      <a:r>
                        <a:t>61.0% / 57.3%</a:t>
                      </a:r>
                    </a:p>
                  </a:txBody>
                  <a:tcPr>
                    <a:solidFill>
                      <a:srgbClr val="F5F5F5"/>
                    </a:solidFill>
                  </a:tcPr>
                </a:tc>
                <a:tc>
                  <a:txBody>
                    <a:bodyPr/>
                    <a:lstStyle/>
                    <a:p>
                      <a:pPr>
                        <a:defRPr sz="950">
                          <a:solidFill>
                            <a:srgbClr val="212121"/>
                          </a:solidFill>
                          <a:latin typeface="Arial"/>
                        </a:defRPr>
                      </a:pPr>
                      <a:r>
                        <a:t>~54%</a:t>
                      </a:r>
                    </a:p>
                  </a:txBody>
                  <a:tcPr>
                    <a:solidFill>
                      <a:srgbClr val="F5F5F5"/>
                    </a:solidFill>
                  </a:tcPr>
                </a:tc>
                <a:tc>
                  <a:txBody>
                    <a:bodyPr/>
                    <a:lstStyle/>
                    <a:p>
                      <a:pPr>
                        <a:defRPr sz="950">
                          <a:solidFill>
                            <a:srgbClr val="212121"/>
                          </a:solidFill>
                          <a:latin typeface="Arial"/>
                        </a:defRPr>
                      </a:pPr>
                      <a:r>
                        <a:t>Zasocitinib numerically higher; scoring may differ</a:t>
                      </a:r>
                    </a:p>
                  </a:txBody>
                  <a:tcPr>
                    <a:solidFill>
                      <a:srgbClr val="F5F5F5"/>
                    </a:solidFill>
                  </a:tcPr>
                </a:tc>
                <a:extLst>
                  <a:ext uri="{0D108BD9-81ED-4DB2-BD59-A6C34878D82A}">
                    <a16:rowId xmlns:a16="http://schemas.microsoft.com/office/drawing/2014/main" val="10004"/>
                  </a:ext>
                </a:extLst>
              </a:tr>
              <a:tr h="628650">
                <a:tc>
                  <a:txBody>
                    <a:bodyPr/>
                    <a:lstStyle/>
                    <a:p>
                      <a:pPr>
                        <a:defRPr sz="950">
                          <a:solidFill>
                            <a:srgbClr val="212121"/>
                          </a:solidFill>
                          <a:latin typeface="Arial"/>
                        </a:defRPr>
                      </a:pPr>
                      <a:r>
                        <a:t>Dosing</a:t>
                      </a:r>
                    </a:p>
                  </a:txBody>
                  <a:tcPr/>
                </a:tc>
                <a:tc>
                  <a:txBody>
                    <a:bodyPr/>
                    <a:lstStyle/>
                    <a:p>
                      <a:pPr>
                        <a:defRPr sz="950">
                          <a:solidFill>
                            <a:srgbClr val="212121"/>
                          </a:solidFill>
                          <a:latin typeface="Arial"/>
                        </a:defRPr>
                      </a:pPr>
                      <a:r>
                        <a:t>Once daily</a:t>
                      </a:r>
                    </a:p>
                  </a:txBody>
                  <a:tcPr/>
                </a:tc>
                <a:tc>
                  <a:txBody>
                    <a:bodyPr/>
                    <a:lstStyle/>
                    <a:p>
                      <a:pPr>
                        <a:defRPr sz="950">
                          <a:solidFill>
                            <a:srgbClr val="212121"/>
                          </a:solidFill>
                          <a:latin typeface="Arial"/>
                        </a:defRPr>
                      </a:pPr>
                      <a:r>
                        <a:t>40 mg BID</a:t>
                      </a:r>
                    </a:p>
                  </a:txBody>
                  <a:tcPr/>
                </a:tc>
                <a:tc>
                  <a:txBody>
                    <a:bodyPr/>
                    <a:lstStyle/>
                    <a:p>
                      <a:pPr>
                        <a:defRPr sz="950">
                          <a:solidFill>
                            <a:srgbClr val="212121"/>
                          </a:solidFill>
                          <a:latin typeface="Arial"/>
                        </a:defRPr>
                      </a:pPr>
                      <a:r>
                        <a:t>6 mg QD</a:t>
                      </a:r>
                    </a:p>
                  </a:txBody>
                  <a:tcPr/>
                </a:tc>
                <a:tc>
                  <a:txBody>
                    <a:bodyPr/>
                    <a:lstStyle/>
                    <a:p>
                      <a:pPr>
                        <a:defRPr sz="950">
                          <a:solidFill>
                            <a:srgbClr val="212121"/>
                          </a:solidFill>
                          <a:latin typeface="Arial"/>
                        </a:defRPr>
                      </a:pPr>
                      <a:r>
                        <a:t>QD may have adherence advantage</a:t>
                      </a:r>
                    </a:p>
                  </a:txBody>
                  <a:tcPr/>
                </a:tc>
                <a:extLst>
                  <a:ext uri="{0D108BD9-81ED-4DB2-BD59-A6C34878D82A}">
                    <a16:rowId xmlns:a16="http://schemas.microsoft.com/office/drawing/2014/main" val="10005"/>
                  </a:ext>
                </a:extLst>
              </a:tr>
              <a:tr h="628650">
                <a:tc>
                  <a:txBody>
                    <a:bodyPr/>
                    <a:lstStyle/>
                    <a:p>
                      <a:pPr>
                        <a:defRPr sz="950">
                          <a:solidFill>
                            <a:srgbClr val="212121"/>
                          </a:solidFill>
                          <a:latin typeface="Arial"/>
                        </a:defRPr>
                      </a:pPr>
                      <a:r>
                        <a:t>Any TEAE (Wk16)</a:t>
                      </a:r>
                    </a:p>
                  </a:txBody>
                  <a:tcPr>
                    <a:solidFill>
                      <a:srgbClr val="F5F5F5"/>
                    </a:solidFill>
                  </a:tcPr>
                </a:tc>
                <a:tc>
                  <a:txBody>
                    <a:bodyPr/>
                    <a:lstStyle/>
                    <a:p>
                      <a:pPr>
                        <a:defRPr sz="950">
                          <a:solidFill>
                            <a:srgbClr val="212121"/>
                          </a:solidFill>
                          <a:latin typeface="Arial"/>
                        </a:defRPr>
                      </a:pPr>
                      <a:r>
                        <a:t>~62%</a:t>
                      </a:r>
                    </a:p>
                  </a:txBody>
                  <a:tcPr>
                    <a:solidFill>
                      <a:srgbClr val="F5F5F5"/>
                    </a:solidFill>
                  </a:tcPr>
                </a:tc>
                <a:tc>
                  <a:txBody>
                    <a:bodyPr/>
                    <a:lstStyle/>
                    <a:p>
                      <a:pPr>
                        <a:defRPr sz="950">
                          <a:solidFill>
                            <a:srgbClr val="212121"/>
                          </a:solidFill>
                          <a:latin typeface="Arial"/>
                        </a:defRPr>
                      </a:pPr>
                      <a:r>
                        <a:t>58.9%</a:t>
                      </a:r>
                    </a:p>
                  </a:txBody>
                  <a:tcPr>
                    <a:solidFill>
                      <a:srgbClr val="F5F5F5"/>
                    </a:solidFill>
                  </a:tcPr>
                </a:tc>
                <a:tc>
                  <a:txBody>
                    <a:bodyPr/>
                    <a:lstStyle/>
                    <a:p>
                      <a:pPr>
                        <a:defRPr sz="950">
                          <a:solidFill>
                            <a:srgbClr val="212121"/>
                          </a:solidFill>
                          <a:latin typeface="Arial"/>
                        </a:defRPr>
                      </a:pPr>
                      <a:r>
                        <a:t>~55%</a:t>
                      </a:r>
                    </a:p>
                  </a:txBody>
                  <a:tcPr>
                    <a:solidFill>
                      <a:srgbClr val="F5F5F5"/>
                    </a:solidFill>
                  </a:tcPr>
                </a:tc>
                <a:tc>
                  <a:txBody>
                    <a:bodyPr/>
                    <a:lstStyle/>
                    <a:p>
                      <a:pPr>
                        <a:defRPr sz="950">
                          <a:solidFill>
                            <a:srgbClr val="212121"/>
                          </a:solidFill>
                          <a:latin typeface="Arial"/>
                        </a:defRPr>
                      </a:pPr>
                      <a:r>
                        <a:t>Similar across class</a:t>
                      </a:r>
                    </a:p>
                  </a:txBody>
                  <a:tcPr>
                    <a:solidFill>
                      <a:srgbClr val="F5F5F5"/>
                    </a:solidFill>
                  </a:tcPr>
                </a:tc>
                <a:extLst>
                  <a:ext uri="{0D108BD9-81ED-4DB2-BD59-A6C34878D82A}">
                    <a16:rowId xmlns:a16="http://schemas.microsoft.com/office/drawing/2014/main" val="10006"/>
                  </a:ext>
                </a:extLst>
              </a:tr>
              <a:tr h="628650">
                <a:tc>
                  <a:txBody>
                    <a:bodyPr/>
                    <a:lstStyle/>
                    <a:p>
                      <a:pPr>
                        <a:defRPr sz="950">
                          <a:solidFill>
                            <a:srgbClr val="212121"/>
                          </a:solidFill>
                          <a:latin typeface="Arial"/>
                        </a:defRPr>
                      </a:pPr>
                      <a:r>
                        <a:t>Acne</a:t>
                      </a:r>
                    </a:p>
                  </a:txBody>
                  <a:tcPr/>
                </a:tc>
                <a:tc>
                  <a:txBody>
                    <a:bodyPr/>
                    <a:lstStyle/>
                    <a:p>
                      <a:pPr>
                        <a:defRPr sz="950">
                          <a:solidFill>
                            <a:srgbClr val="212121"/>
                          </a:solidFill>
                          <a:latin typeface="Arial"/>
                        </a:defRPr>
                      </a:pPr>
                      <a:r>
                        <a:t>~7%</a:t>
                      </a:r>
                    </a:p>
                  </a:txBody>
                  <a:tcPr/>
                </a:tc>
                <a:tc>
                  <a:txBody>
                    <a:bodyPr/>
                    <a:lstStyle/>
                    <a:p>
                      <a:pPr>
                        <a:defRPr sz="950">
                          <a:solidFill>
                            <a:srgbClr val="212121"/>
                          </a:solidFill>
                          <a:latin typeface="Arial"/>
                        </a:defRPr>
                      </a:pPr>
                      <a:r>
                        <a:t>6.0%</a:t>
                      </a:r>
                    </a:p>
                  </a:txBody>
                  <a:tcPr/>
                </a:tc>
                <a:tc>
                  <a:txBody>
                    <a:bodyPr/>
                    <a:lstStyle/>
                    <a:p>
                      <a:pPr>
                        <a:defRPr sz="950">
                          <a:solidFill>
                            <a:srgbClr val="212121"/>
                          </a:solidFill>
                          <a:latin typeface="Arial"/>
                        </a:defRPr>
                      </a:pPr>
                      <a:r>
                        <a:t>~8–16%</a:t>
                      </a:r>
                    </a:p>
                  </a:txBody>
                  <a:tcPr/>
                </a:tc>
                <a:tc>
                  <a:txBody>
                    <a:bodyPr/>
                    <a:lstStyle/>
                    <a:p>
                      <a:pPr>
                        <a:defRPr sz="950">
                          <a:solidFill>
                            <a:srgbClr val="212121"/>
                          </a:solidFill>
                          <a:latin typeface="Arial"/>
                        </a:defRPr>
                      </a:pPr>
                      <a:r>
                        <a:t>TYK2i class effect</a:t>
                      </a:r>
                    </a:p>
                  </a:txBody>
                  <a:tcPr/>
                </a:tc>
                <a:extLst>
                  <a:ext uri="{0D108BD9-81ED-4DB2-BD59-A6C34878D82A}">
                    <a16:rowId xmlns:a16="http://schemas.microsoft.com/office/drawing/2014/main" val="10007"/>
                  </a:ext>
                </a:extLst>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 Cross-trial comparison only — not a head-to-head study. Differences in design, population, and analysis methods limit direct comparison. Review is required before disclosure.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BNMA: PASI 75 at Week 16 — Multi-Treatment Comparison</a:t>
            </a:r>
          </a:p>
        </p:txBody>
      </p:sp>
      <p:sp>
        <p:nvSpPr>
          <p:cNvPr id="4" name="TextBox 3"/>
          <p:cNvSpPr txBox="1"/>
          <p:nvPr/>
        </p:nvSpPr>
        <p:spPr>
          <a:xfrm>
            <a:off x="457200" y="1097280"/>
            <a:ext cx="4114800" cy="5029200"/>
          </a:xfrm>
          <a:prstGeom prst="rect">
            <a:avLst/>
          </a:prstGeom>
          <a:noFill/>
        </p:spPr>
        <p:txBody>
          <a:bodyPr wrap="square">
            <a:spAutoFit/>
          </a:bodyPr>
          <a:lstStyle/>
          <a:p>
            <a:pPr>
              <a:spcAft>
                <a:spcPts val="600"/>
              </a:spcAft>
              <a:defRPr sz="1600" b="1">
                <a:solidFill>
                  <a:srgbClr val="C8102E"/>
                </a:solidFill>
                <a:latin typeface="Arial"/>
              </a:defRPr>
            </a:pPr>
            <a:r>
              <a:t>Key Findings</a:t>
            </a:r>
          </a:p>
          <a:p>
            <a:pPr>
              <a:spcAft>
                <a:spcPts val="400"/>
              </a:spcAft>
              <a:defRPr sz="1300">
                <a:solidFill>
                  <a:srgbClr val="212121"/>
                </a:solidFill>
                <a:latin typeface="Arial"/>
              </a:defRPr>
            </a:pPr>
            <a:r>
              <a:t>• Bayesian network meta-analysis of PASI 75 at Week 16 across psoriasis monotherapy trials</a:t>
            </a:r>
          </a:p>
          <a:p>
            <a:pPr>
              <a:spcAft>
                <a:spcPts val="400"/>
              </a:spcAft>
              <a:defRPr sz="1300">
                <a:solidFill>
                  <a:srgbClr val="212121"/>
                </a:solidFill>
                <a:latin typeface="Arial"/>
              </a:defRPr>
            </a:pPr>
            <a:r>
              <a:t>• TYK2 inhibitors (deucravacitinib) included as common comparator linking indirect evidence</a:t>
            </a:r>
          </a:p>
          <a:p>
            <a:pPr>
              <a:spcAft>
                <a:spcPts val="400"/>
              </a:spcAft>
              <a:defRPr sz="1300">
                <a:solidFill>
                  <a:srgbClr val="212121"/>
                </a:solidFill>
                <a:latin typeface="Arial"/>
              </a:defRPr>
            </a:pPr>
            <a:r>
              <a:t>• Results show posterior density of PBO-adjusted log-odds ratios for each treatment</a:t>
            </a:r>
          </a:p>
          <a:p>
            <a:pPr>
              <a:spcAft>
                <a:spcPts val="400"/>
              </a:spcAft>
              <a:defRPr sz="1300">
                <a:solidFill>
                  <a:srgbClr val="212121"/>
                </a:solidFill>
                <a:latin typeface="Arial"/>
              </a:defRPr>
            </a:pPr>
            <a:r>
              <a:t>• Higher values indicate greater probability of PASI 75 response vs placebo</a:t>
            </a:r>
          </a:p>
          <a:p>
            <a:pPr>
              <a:spcAft>
                <a:spcPts val="400"/>
              </a:spcAft>
              <a:defRPr sz="1300">
                <a:solidFill>
                  <a:srgbClr val="212121"/>
                </a:solidFill>
                <a:latin typeface="Arial"/>
              </a:defRPr>
            </a:pPr>
            <a:r>
              <a:t>• BNMA synthesized from CATWOMAN NMA output (logit model, summary statistics)</a:t>
            </a:r>
          </a:p>
          <a:p>
            <a:pPr>
              <a:spcAft>
                <a:spcPts val="400"/>
              </a:spcAft>
              <a:defRPr sz="1300">
                <a:solidFill>
                  <a:srgbClr val="212121"/>
                </a:solidFill>
                <a:latin typeface="Arial"/>
              </a:defRPr>
            </a:pPr>
            <a:r>
              <a:t>• ⚠️ Indirect comparison — confidence intervals reflect network uncertainty</a:t>
            </a:r>
          </a:p>
        </p:txBody>
      </p:sp>
      <p:pic>
        <p:nvPicPr>
          <p:cNvPr id="5" name="Picture 4" descr="PASI75_Wk16_BNMA_ridge_2026-08-31.png"/>
          <p:cNvPicPr>
            <a:picLocks noChangeAspect="1"/>
          </p:cNvPicPr>
          <p:nvPr/>
        </p:nvPicPr>
        <p:blipFill>
          <a:blip r:embed="rId3"/>
          <a:stretch>
            <a:fillRect/>
          </a:stretch>
        </p:blipFill>
        <p:spPr>
          <a:xfrm>
            <a:off x="4754880" y="1097280"/>
            <a:ext cx="7132320" cy="5029200"/>
          </a:xfrm>
          <a:prstGeom prst="rect">
            <a:avLst/>
          </a:prstGeom>
        </p:spPr>
      </p:pic>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Random-effects BNMA; indirect comparison only. Review is required before disclosure.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BNMA: PASI 100 at Week 16 — Multi-Treatment Comparison</a:t>
            </a:r>
          </a:p>
        </p:txBody>
      </p:sp>
      <p:sp>
        <p:nvSpPr>
          <p:cNvPr id="4" name="TextBox 3"/>
          <p:cNvSpPr txBox="1"/>
          <p:nvPr/>
        </p:nvSpPr>
        <p:spPr>
          <a:xfrm>
            <a:off x="457200" y="1097280"/>
            <a:ext cx="4114800" cy="5029200"/>
          </a:xfrm>
          <a:prstGeom prst="rect">
            <a:avLst/>
          </a:prstGeom>
          <a:noFill/>
        </p:spPr>
        <p:txBody>
          <a:bodyPr wrap="square">
            <a:spAutoFit/>
          </a:bodyPr>
          <a:lstStyle/>
          <a:p>
            <a:pPr>
              <a:spcAft>
                <a:spcPts val="600"/>
              </a:spcAft>
              <a:defRPr sz="1600" b="1">
                <a:solidFill>
                  <a:srgbClr val="C8102E"/>
                </a:solidFill>
                <a:latin typeface="Arial"/>
              </a:defRPr>
            </a:pPr>
            <a:r>
              <a:t>Key Findings</a:t>
            </a:r>
          </a:p>
          <a:p>
            <a:pPr>
              <a:spcAft>
                <a:spcPts val="400"/>
              </a:spcAft>
              <a:defRPr sz="1300">
                <a:solidFill>
                  <a:srgbClr val="212121"/>
                </a:solidFill>
                <a:latin typeface="Arial"/>
              </a:defRPr>
            </a:pPr>
            <a:r>
              <a:t>• PASI 100 (complete skin clearance) is a key high-bar endpoint in psoriasis</a:t>
            </a:r>
          </a:p>
          <a:p>
            <a:pPr>
              <a:spcAft>
                <a:spcPts val="400"/>
              </a:spcAft>
              <a:defRPr sz="1300">
                <a:solidFill>
                  <a:srgbClr val="212121"/>
                </a:solidFill>
                <a:latin typeface="Arial"/>
              </a:defRPr>
            </a:pPr>
            <a:r>
              <a:t>• Posterior density of PBO-adjusted log-odds ratios from Bayesian NMA</a:t>
            </a:r>
          </a:p>
          <a:p>
            <a:pPr>
              <a:spcAft>
                <a:spcPts val="400"/>
              </a:spcAft>
              <a:defRPr sz="1300">
                <a:solidFill>
                  <a:srgbClr val="212121"/>
                </a:solidFill>
                <a:latin typeface="Arial"/>
              </a:defRPr>
            </a:pPr>
            <a:r>
              <a:t>• IL-23 inhibitors and IL-17 biologics typically lead in PASI 100</a:t>
            </a:r>
          </a:p>
          <a:p>
            <a:pPr>
              <a:spcAft>
                <a:spcPts val="400"/>
              </a:spcAft>
              <a:defRPr sz="1300">
                <a:solidFill>
                  <a:srgbClr val="212121"/>
                </a:solidFill>
                <a:latin typeface="Arial"/>
              </a:defRPr>
            </a:pPr>
            <a:r>
              <a:t>• Both envudeucitinib (~28–29%) and zasocitinib (~25–33%) are competitive for oral agents</a:t>
            </a:r>
          </a:p>
          <a:p>
            <a:pPr>
              <a:spcAft>
                <a:spcPts val="400"/>
              </a:spcAft>
              <a:defRPr sz="1300">
                <a:solidFill>
                  <a:srgbClr val="212121"/>
                </a:solidFill>
                <a:latin typeface="Arial"/>
              </a:defRPr>
            </a:pPr>
            <a:r>
              <a:t>• Oral TYK2i PASI 100 rates remain below top biologics (~40–55%)</a:t>
            </a:r>
          </a:p>
          <a:p>
            <a:pPr>
              <a:spcAft>
                <a:spcPts val="400"/>
              </a:spcAft>
              <a:defRPr sz="1300">
                <a:solidFill>
                  <a:srgbClr val="212121"/>
                </a:solidFill>
                <a:latin typeface="Arial"/>
              </a:defRPr>
            </a:pPr>
            <a:r>
              <a:t>• ⚠️ Indirect comparison from NMA summary statistics</a:t>
            </a:r>
          </a:p>
        </p:txBody>
      </p:sp>
      <p:pic>
        <p:nvPicPr>
          <p:cNvPr id="5" name="Picture 4" descr="PASI100_Wk16_BNMA_ridge_2026-08-31.png"/>
          <p:cNvPicPr>
            <a:picLocks noChangeAspect="1"/>
          </p:cNvPicPr>
          <p:nvPr/>
        </p:nvPicPr>
        <p:blipFill>
          <a:blip r:embed="rId3"/>
          <a:stretch>
            <a:fillRect/>
          </a:stretch>
        </p:blipFill>
        <p:spPr>
          <a:xfrm>
            <a:off x="4754880" y="1097280"/>
            <a:ext cx="7132320" cy="5029200"/>
          </a:xfrm>
          <a:prstGeom prst="rect">
            <a:avLst/>
          </a:prstGeom>
        </p:spPr>
      </p:pic>
      <p:sp>
        <p:nvSpPr>
          <p:cNvPr id="6" name="TextBox 5"/>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Random-effects BNMA; indirect comparison only. Review is required before disclosure.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Competitive Landscape: TYK2 Inhibitors in Psoriasis</a:t>
            </a:r>
          </a:p>
        </p:txBody>
      </p:sp>
      <p:graphicFrame>
        <p:nvGraphicFramePr>
          <p:cNvPr id="4" name="Table 3"/>
          <p:cNvGraphicFramePr>
            <a:graphicFrameLocks noGrp="1"/>
          </p:cNvGraphicFramePr>
          <p:nvPr/>
        </p:nvGraphicFramePr>
        <p:xfrm>
          <a:off x="365760" y="1188720"/>
          <a:ext cx="11430000" cy="5029200"/>
        </p:xfrm>
        <a:graphic>
          <a:graphicData uri="http://schemas.openxmlformats.org/drawingml/2006/table">
            <a:tbl>
              <a:tblPr firstRow="1" bandRow="1">
                <a:tableStyleId>{5C22544A-7EE6-4342-B048-85BDC9FD1C3A}</a:tableStyleId>
              </a:tblPr>
              <a:tblGrid>
                <a:gridCol w="1632857">
                  <a:extLst>
                    <a:ext uri="{9D8B030D-6E8A-4147-A177-3AD203B41FA5}">
                      <a16:colId xmlns:a16="http://schemas.microsoft.com/office/drawing/2014/main" val="20000"/>
                    </a:ext>
                  </a:extLst>
                </a:gridCol>
                <a:gridCol w="1632857">
                  <a:extLst>
                    <a:ext uri="{9D8B030D-6E8A-4147-A177-3AD203B41FA5}">
                      <a16:colId xmlns:a16="http://schemas.microsoft.com/office/drawing/2014/main" val="20001"/>
                    </a:ext>
                  </a:extLst>
                </a:gridCol>
                <a:gridCol w="1632857">
                  <a:extLst>
                    <a:ext uri="{9D8B030D-6E8A-4147-A177-3AD203B41FA5}">
                      <a16:colId xmlns:a16="http://schemas.microsoft.com/office/drawing/2014/main" val="20002"/>
                    </a:ext>
                  </a:extLst>
                </a:gridCol>
                <a:gridCol w="1632857">
                  <a:extLst>
                    <a:ext uri="{9D8B030D-6E8A-4147-A177-3AD203B41FA5}">
                      <a16:colId xmlns:a16="http://schemas.microsoft.com/office/drawing/2014/main" val="20003"/>
                    </a:ext>
                  </a:extLst>
                </a:gridCol>
                <a:gridCol w="1632857">
                  <a:extLst>
                    <a:ext uri="{9D8B030D-6E8A-4147-A177-3AD203B41FA5}">
                      <a16:colId xmlns:a16="http://schemas.microsoft.com/office/drawing/2014/main" val="20004"/>
                    </a:ext>
                  </a:extLst>
                </a:gridCol>
                <a:gridCol w="1632857">
                  <a:extLst>
                    <a:ext uri="{9D8B030D-6E8A-4147-A177-3AD203B41FA5}">
                      <a16:colId xmlns:a16="http://schemas.microsoft.com/office/drawing/2014/main" val="20005"/>
                    </a:ext>
                  </a:extLst>
                </a:gridCol>
                <a:gridCol w="1632858">
                  <a:extLst>
                    <a:ext uri="{9D8B030D-6E8A-4147-A177-3AD203B41FA5}">
                      <a16:colId xmlns:a16="http://schemas.microsoft.com/office/drawing/2014/main" val="20006"/>
                    </a:ext>
                  </a:extLst>
                </a:gridCol>
              </a:tblGrid>
              <a:tr h="838200">
                <a:tc>
                  <a:txBody>
                    <a:bodyPr/>
                    <a:lstStyle/>
                    <a:p>
                      <a:pPr>
                        <a:defRPr sz="1000" b="1">
                          <a:solidFill>
                            <a:srgbClr val="FFFFFF"/>
                          </a:solidFill>
                          <a:latin typeface="Arial"/>
                        </a:defRPr>
                      </a:pPr>
                      <a:r>
                        <a:t>Compound</a:t>
                      </a:r>
                    </a:p>
                  </a:txBody>
                  <a:tcPr>
                    <a:solidFill>
                      <a:srgbClr val="E1251B"/>
                    </a:solidFill>
                  </a:tcPr>
                </a:tc>
                <a:tc>
                  <a:txBody>
                    <a:bodyPr/>
                    <a:lstStyle/>
                    <a:p>
                      <a:pPr>
                        <a:defRPr sz="1000" b="1">
                          <a:solidFill>
                            <a:srgbClr val="FFFFFF"/>
                          </a:solidFill>
                          <a:latin typeface="Arial"/>
                        </a:defRPr>
                      </a:pPr>
                      <a:r>
                        <a:t>Sponsor</a:t>
                      </a:r>
                    </a:p>
                  </a:txBody>
                  <a:tcPr>
                    <a:solidFill>
                      <a:srgbClr val="E1251B"/>
                    </a:solidFill>
                  </a:tcPr>
                </a:tc>
                <a:tc>
                  <a:txBody>
                    <a:bodyPr/>
                    <a:lstStyle/>
                    <a:p>
                      <a:pPr>
                        <a:defRPr sz="1000" b="1">
                          <a:solidFill>
                            <a:srgbClr val="FFFFFF"/>
                          </a:solidFill>
                          <a:latin typeface="Arial"/>
                        </a:defRPr>
                      </a:pPr>
                      <a:r>
                        <a:t>Mechanism</a:t>
                      </a:r>
                    </a:p>
                  </a:txBody>
                  <a:tcPr>
                    <a:solidFill>
                      <a:srgbClr val="E1251B"/>
                    </a:solidFill>
                  </a:tcPr>
                </a:tc>
                <a:tc>
                  <a:txBody>
                    <a:bodyPr/>
                    <a:lstStyle/>
                    <a:p>
                      <a:pPr>
                        <a:defRPr sz="1000" b="1">
                          <a:solidFill>
                            <a:srgbClr val="FFFFFF"/>
                          </a:solidFill>
                          <a:latin typeface="Arial"/>
                        </a:defRPr>
                      </a:pPr>
                      <a:r>
                        <a:t>Dose</a:t>
                      </a:r>
                    </a:p>
                  </a:txBody>
                  <a:tcPr>
                    <a:solidFill>
                      <a:srgbClr val="E1251B"/>
                    </a:solidFill>
                  </a:tcPr>
                </a:tc>
                <a:tc>
                  <a:txBody>
                    <a:bodyPr/>
                    <a:lstStyle/>
                    <a:p>
                      <a:pPr>
                        <a:defRPr sz="1000" b="1">
                          <a:solidFill>
                            <a:srgbClr val="FFFFFF"/>
                          </a:solidFill>
                          <a:latin typeface="Arial"/>
                        </a:defRPr>
                      </a:pPr>
                      <a:r>
                        <a:t>Phase</a:t>
                      </a:r>
                    </a:p>
                  </a:txBody>
                  <a:tcPr>
                    <a:solidFill>
                      <a:srgbClr val="E1251B"/>
                    </a:solidFill>
                  </a:tcPr>
                </a:tc>
                <a:tc>
                  <a:txBody>
                    <a:bodyPr/>
                    <a:lstStyle/>
                    <a:p>
                      <a:pPr>
                        <a:defRPr sz="1000" b="1">
                          <a:solidFill>
                            <a:srgbClr val="FFFFFF"/>
                          </a:solidFill>
                          <a:latin typeface="Arial"/>
                        </a:defRPr>
                      </a:pPr>
                      <a:r>
                        <a:t>Key Data</a:t>
                      </a:r>
                    </a:p>
                  </a:txBody>
                  <a:tcPr>
                    <a:solidFill>
                      <a:srgbClr val="E1251B"/>
                    </a:solidFill>
                  </a:tcPr>
                </a:tc>
                <a:tc>
                  <a:txBody>
                    <a:bodyPr/>
                    <a:lstStyle/>
                    <a:p>
                      <a:pPr>
                        <a:defRPr sz="1000" b="1">
                          <a:solidFill>
                            <a:srgbClr val="FFFFFF"/>
                          </a:solidFill>
                          <a:latin typeface="Arial"/>
                        </a:defRPr>
                      </a:pPr>
                      <a:r>
                        <a:t>Status</a:t>
                      </a:r>
                    </a:p>
                  </a:txBody>
                  <a:tcPr>
                    <a:solidFill>
                      <a:srgbClr val="E1251B"/>
                    </a:solidFill>
                  </a:tcPr>
                </a:tc>
                <a:extLst>
                  <a:ext uri="{0D108BD9-81ED-4DB2-BD59-A6C34878D82A}">
                    <a16:rowId xmlns:a16="http://schemas.microsoft.com/office/drawing/2014/main" val="10000"/>
                  </a:ext>
                </a:extLst>
              </a:tr>
              <a:tr h="838200">
                <a:tc>
                  <a:txBody>
                    <a:bodyPr/>
                    <a:lstStyle/>
                    <a:p>
                      <a:pPr>
                        <a:defRPr sz="950">
                          <a:solidFill>
                            <a:srgbClr val="212121"/>
                          </a:solidFill>
                          <a:latin typeface="Arial"/>
                        </a:defRPr>
                      </a:pPr>
                      <a:r>
                        <a:t>Deucravacitinib (Sotyktu®)</a:t>
                      </a:r>
                    </a:p>
                  </a:txBody>
                  <a:tcPr/>
                </a:tc>
                <a:tc>
                  <a:txBody>
                    <a:bodyPr/>
                    <a:lstStyle/>
                    <a:p>
                      <a:pPr>
                        <a:defRPr sz="950">
                          <a:solidFill>
                            <a:srgbClr val="212121"/>
                          </a:solidFill>
                          <a:latin typeface="Arial"/>
                        </a:defRPr>
                      </a:pPr>
                      <a:r>
                        <a:t>BMS</a:t>
                      </a:r>
                    </a:p>
                  </a:txBody>
                  <a:tcPr/>
                </a:tc>
                <a:tc>
                  <a:txBody>
                    <a:bodyPr/>
                    <a:lstStyle/>
                    <a:p>
                      <a:pPr>
                        <a:defRPr sz="950">
                          <a:solidFill>
                            <a:srgbClr val="212121"/>
                          </a:solidFill>
                          <a:latin typeface="Arial"/>
                        </a:defRPr>
                      </a:pPr>
                      <a:r>
                        <a:t>Allosteric TYK2i</a:t>
                      </a:r>
                    </a:p>
                  </a:txBody>
                  <a:tcPr/>
                </a:tc>
                <a:tc>
                  <a:txBody>
                    <a:bodyPr/>
                    <a:lstStyle/>
                    <a:p>
                      <a:pPr>
                        <a:defRPr sz="950">
                          <a:solidFill>
                            <a:srgbClr val="212121"/>
                          </a:solidFill>
                          <a:latin typeface="Arial"/>
                        </a:defRPr>
                      </a:pPr>
                      <a:r>
                        <a:t>6 mg QD</a:t>
                      </a:r>
                    </a:p>
                  </a:txBody>
                  <a:tcPr/>
                </a:tc>
                <a:tc>
                  <a:txBody>
                    <a:bodyPr/>
                    <a:lstStyle/>
                    <a:p>
                      <a:pPr>
                        <a:defRPr sz="950">
                          <a:solidFill>
                            <a:srgbClr val="212121"/>
                          </a:solidFill>
                          <a:latin typeface="Arial"/>
                        </a:defRPr>
                      </a:pPr>
                      <a:r>
                        <a:t>Approved</a:t>
                      </a:r>
                    </a:p>
                  </a:txBody>
                  <a:tcPr/>
                </a:tc>
                <a:tc>
                  <a:txBody>
                    <a:bodyPr/>
                    <a:lstStyle/>
                    <a:p>
                      <a:pPr>
                        <a:defRPr sz="950">
                          <a:solidFill>
                            <a:srgbClr val="212121"/>
                          </a:solidFill>
                          <a:latin typeface="Arial"/>
                        </a:defRPr>
                      </a:pPr>
                      <a:r>
                        <a:t>PASI 75 ~53–58% Wk16</a:t>
                      </a:r>
                    </a:p>
                  </a:txBody>
                  <a:tcPr/>
                </a:tc>
                <a:tc>
                  <a:txBody>
                    <a:bodyPr/>
                    <a:lstStyle/>
                    <a:p>
                      <a:pPr>
                        <a:defRPr sz="950">
                          <a:solidFill>
                            <a:srgbClr val="212121"/>
                          </a:solidFill>
                          <a:latin typeface="Arial"/>
                        </a:defRPr>
                      </a:pPr>
                      <a:r>
                        <a:t>Marketed (US 2022)</a:t>
                      </a:r>
                    </a:p>
                  </a:txBody>
                  <a:tcPr/>
                </a:tc>
                <a:extLst>
                  <a:ext uri="{0D108BD9-81ED-4DB2-BD59-A6C34878D82A}">
                    <a16:rowId xmlns:a16="http://schemas.microsoft.com/office/drawing/2014/main" val="10001"/>
                  </a:ext>
                </a:extLst>
              </a:tr>
              <a:tr h="838200">
                <a:tc>
                  <a:txBody>
                    <a:bodyPr/>
                    <a:lstStyle/>
                    <a:p>
                      <a:pPr>
                        <a:defRPr sz="950">
                          <a:solidFill>
                            <a:srgbClr val="212121"/>
                          </a:solidFill>
                          <a:latin typeface="Arial"/>
                        </a:defRPr>
                      </a:pPr>
                      <a:r>
                        <a:t>Zasocitinib</a:t>
                      </a:r>
                    </a:p>
                  </a:txBody>
                  <a:tcPr>
                    <a:solidFill>
                      <a:srgbClr val="F5F5F5"/>
                    </a:solidFill>
                  </a:tcPr>
                </a:tc>
                <a:tc>
                  <a:txBody>
                    <a:bodyPr/>
                    <a:lstStyle/>
                    <a:p>
                      <a:pPr>
                        <a:defRPr sz="950">
                          <a:solidFill>
                            <a:srgbClr val="212121"/>
                          </a:solidFill>
                          <a:latin typeface="Arial"/>
                        </a:defRPr>
                      </a:pPr>
                      <a:r>
                        <a:t>Takeda</a:t>
                      </a:r>
                    </a:p>
                  </a:txBody>
                  <a:tcPr>
                    <a:solidFill>
                      <a:srgbClr val="F5F5F5"/>
                    </a:solidFill>
                  </a:tcPr>
                </a:tc>
                <a:tc>
                  <a:txBody>
                    <a:bodyPr/>
                    <a:lstStyle/>
                    <a:p>
                      <a:pPr>
                        <a:defRPr sz="950">
                          <a:solidFill>
                            <a:srgbClr val="212121"/>
                          </a:solidFill>
                          <a:latin typeface="Arial"/>
                        </a:defRPr>
                      </a:pPr>
                      <a:r>
                        <a:t>Allosteric TYK2i</a:t>
                      </a:r>
                    </a:p>
                  </a:txBody>
                  <a:tcPr>
                    <a:solidFill>
                      <a:srgbClr val="F5F5F5"/>
                    </a:solidFill>
                  </a:tcPr>
                </a:tc>
                <a:tc>
                  <a:txBody>
                    <a:bodyPr/>
                    <a:lstStyle/>
                    <a:p>
                      <a:pPr>
                        <a:defRPr sz="950">
                          <a:solidFill>
                            <a:srgbClr val="212121"/>
                          </a:solidFill>
                          <a:latin typeface="Arial"/>
                        </a:defRPr>
                      </a:pPr>
                      <a:r>
                        <a:t>QD (dose TBD)</a:t>
                      </a:r>
                    </a:p>
                  </a:txBody>
                  <a:tcPr>
                    <a:solidFill>
                      <a:srgbClr val="F5F5F5"/>
                    </a:solidFill>
                  </a:tcPr>
                </a:tc>
                <a:tc>
                  <a:txBody>
                    <a:bodyPr/>
                    <a:lstStyle/>
                    <a:p>
                      <a:pPr>
                        <a:defRPr sz="950">
                          <a:solidFill>
                            <a:srgbClr val="212121"/>
                          </a:solidFill>
                          <a:latin typeface="Arial"/>
                        </a:defRPr>
                      </a:pPr>
                      <a:r>
                        <a:t>Phase 3</a:t>
                      </a:r>
                    </a:p>
                  </a:txBody>
                  <a:tcPr>
                    <a:solidFill>
                      <a:srgbClr val="F5F5F5"/>
                    </a:solidFill>
                  </a:tcPr>
                </a:tc>
                <a:tc>
                  <a:txBody>
                    <a:bodyPr/>
                    <a:lstStyle/>
                    <a:p>
                      <a:pPr>
                        <a:defRPr sz="950">
                          <a:solidFill>
                            <a:srgbClr val="212121"/>
                          </a:solidFill>
                          <a:latin typeface="Arial"/>
                        </a:defRPr>
                      </a:pPr>
                      <a:r>
                        <a:t>PASI 75 71–76% Wk16</a:t>
                      </a:r>
                    </a:p>
                  </a:txBody>
                  <a:tcPr>
                    <a:solidFill>
                      <a:srgbClr val="F5F5F5"/>
                    </a:solidFill>
                  </a:tcPr>
                </a:tc>
                <a:tc>
                  <a:txBody>
                    <a:bodyPr/>
                    <a:lstStyle/>
                    <a:p>
                      <a:pPr>
                        <a:defRPr sz="950">
                          <a:solidFill>
                            <a:srgbClr val="212121"/>
                          </a:solidFill>
                          <a:latin typeface="Arial"/>
                        </a:defRPr>
                      </a:pPr>
                      <a:r>
                        <a:t>H2H vs deucravacitinib planned</a:t>
                      </a:r>
                    </a:p>
                  </a:txBody>
                  <a:tcPr>
                    <a:solidFill>
                      <a:srgbClr val="F5F5F5"/>
                    </a:solidFill>
                  </a:tcPr>
                </a:tc>
                <a:extLst>
                  <a:ext uri="{0D108BD9-81ED-4DB2-BD59-A6C34878D82A}">
                    <a16:rowId xmlns:a16="http://schemas.microsoft.com/office/drawing/2014/main" val="10002"/>
                  </a:ext>
                </a:extLst>
              </a:tr>
              <a:tr h="838200">
                <a:tc>
                  <a:txBody>
                    <a:bodyPr/>
                    <a:lstStyle/>
                    <a:p>
                      <a:pPr>
                        <a:defRPr sz="950">
                          <a:solidFill>
                            <a:srgbClr val="212121"/>
                          </a:solidFill>
                          <a:latin typeface="Arial"/>
                        </a:defRPr>
                      </a:pPr>
                      <a:r>
                        <a:t>Envudeucitinib (ESK-001)</a:t>
                      </a:r>
                    </a:p>
                  </a:txBody>
                  <a:tcPr/>
                </a:tc>
                <a:tc>
                  <a:txBody>
                    <a:bodyPr/>
                    <a:lstStyle/>
                    <a:p>
                      <a:pPr>
                        <a:defRPr sz="950">
                          <a:solidFill>
                            <a:srgbClr val="212121"/>
                          </a:solidFill>
                          <a:latin typeface="Arial"/>
                        </a:defRPr>
                      </a:pPr>
                      <a:r>
                        <a:t>Alumis</a:t>
                      </a:r>
                    </a:p>
                  </a:txBody>
                  <a:tcPr/>
                </a:tc>
                <a:tc>
                  <a:txBody>
                    <a:bodyPr/>
                    <a:lstStyle/>
                    <a:p>
                      <a:pPr>
                        <a:defRPr sz="950">
                          <a:solidFill>
                            <a:srgbClr val="212121"/>
                          </a:solidFill>
                          <a:latin typeface="Arial"/>
                        </a:defRPr>
                      </a:pPr>
                      <a:r>
                        <a:t>Allosteric TYK2i</a:t>
                      </a:r>
                    </a:p>
                  </a:txBody>
                  <a:tcPr/>
                </a:tc>
                <a:tc>
                  <a:txBody>
                    <a:bodyPr/>
                    <a:lstStyle/>
                    <a:p>
                      <a:pPr>
                        <a:defRPr sz="950">
                          <a:solidFill>
                            <a:srgbClr val="212121"/>
                          </a:solidFill>
                          <a:latin typeface="Arial"/>
                        </a:defRPr>
                      </a:pPr>
                      <a:r>
                        <a:t>40 mg BID</a:t>
                      </a:r>
                    </a:p>
                  </a:txBody>
                  <a:tcPr/>
                </a:tc>
                <a:tc>
                  <a:txBody>
                    <a:bodyPr/>
                    <a:lstStyle/>
                    <a:p>
                      <a:pPr>
                        <a:defRPr sz="950">
                          <a:solidFill>
                            <a:srgbClr val="212121"/>
                          </a:solidFill>
                          <a:latin typeface="Arial"/>
                        </a:defRPr>
                      </a:pPr>
                      <a:r>
                        <a:t>Phase 3</a:t>
                      </a:r>
                    </a:p>
                  </a:txBody>
                  <a:tcPr/>
                </a:tc>
                <a:tc>
                  <a:txBody>
                    <a:bodyPr/>
                    <a:lstStyle/>
                    <a:p>
                      <a:pPr>
                        <a:defRPr sz="950">
                          <a:solidFill>
                            <a:srgbClr val="212121"/>
                          </a:solidFill>
                          <a:latin typeface="Arial"/>
                        </a:defRPr>
                      </a:pPr>
                      <a:r>
                        <a:t>PASI 75 70–77% Wk16</a:t>
                      </a:r>
                    </a:p>
                  </a:txBody>
                  <a:tcPr/>
                </a:tc>
                <a:tc>
                  <a:txBody>
                    <a:bodyPr/>
                    <a:lstStyle/>
                    <a:p>
                      <a:pPr>
                        <a:defRPr sz="950">
                          <a:solidFill>
                            <a:srgbClr val="212121"/>
                          </a:solidFill>
                          <a:latin typeface="Arial"/>
                        </a:defRPr>
                      </a:pPr>
                      <a:r>
                        <a:t>1yr data expected H2 2026</a:t>
                      </a:r>
                    </a:p>
                  </a:txBody>
                  <a:tcPr/>
                </a:tc>
                <a:extLst>
                  <a:ext uri="{0D108BD9-81ED-4DB2-BD59-A6C34878D82A}">
                    <a16:rowId xmlns:a16="http://schemas.microsoft.com/office/drawing/2014/main" val="10003"/>
                  </a:ext>
                </a:extLst>
              </a:tr>
              <a:tr h="838200">
                <a:tc>
                  <a:txBody>
                    <a:bodyPr/>
                    <a:lstStyle/>
                    <a:p>
                      <a:pPr>
                        <a:defRPr sz="950">
                          <a:solidFill>
                            <a:srgbClr val="212121"/>
                          </a:solidFill>
                          <a:latin typeface="Arial"/>
                        </a:defRPr>
                      </a:pPr>
                      <a:r>
                        <a:t>TAK-279 (TAK-279)</a:t>
                      </a:r>
                    </a:p>
                  </a:txBody>
                  <a:tcPr>
                    <a:solidFill>
                      <a:srgbClr val="F5F5F5"/>
                    </a:solidFill>
                  </a:tcPr>
                </a:tc>
                <a:tc>
                  <a:txBody>
                    <a:bodyPr/>
                    <a:lstStyle/>
                    <a:p>
                      <a:pPr>
                        <a:defRPr sz="950">
                          <a:solidFill>
                            <a:srgbClr val="212121"/>
                          </a:solidFill>
                          <a:latin typeface="Arial"/>
                        </a:defRPr>
                      </a:pPr>
                      <a:r>
                        <a:t>Takeda</a:t>
                      </a:r>
                    </a:p>
                  </a:txBody>
                  <a:tcPr>
                    <a:solidFill>
                      <a:srgbClr val="F5F5F5"/>
                    </a:solidFill>
                  </a:tcPr>
                </a:tc>
                <a:tc>
                  <a:txBody>
                    <a:bodyPr/>
                    <a:lstStyle/>
                    <a:p>
                      <a:pPr>
                        <a:defRPr sz="950">
                          <a:solidFill>
                            <a:srgbClr val="212121"/>
                          </a:solidFill>
                          <a:latin typeface="Arial"/>
                        </a:defRPr>
                      </a:pPr>
                      <a:r>
                        <a:t>Allosteric TYK2i</a:t>
                      </a:r>
                    </a:p>
                  </a:txBody>
                  <a:tcPr>
                    <a:solidFill>
                      <a:srgbClr val="F5F5F5"/>
                    </a:solidFill>
                  </a:tcPr>
                </a:tc>
                <a:tc>
                  <a:txBody>
                    <a:bodyPr/>
                    <a:lstStyle/>
                    <a:p>
                      <a:pPr>
                        <a:defRPr sz="950">
                          <a:solidFill>
                            <a:srgbClr val="212121"/>
                          </a:solidFill>
                          <a:latin typeface="Arial"/>
                        </a:defRPr>
                      </a:pPr>
                      <a:r>
                        <a:t>—</a:t>
                      </a:r>
                    </a:p>
                  </a:txBody>
                  <a:tcPr>
                    <a:solidFill>
                      <a:srgbClr val="F5F5F5"/>
                    </a:solidFill>
                  </a:tcPr>
                </a:tc>
                <a:tc>
                  <a:txBody>
                    <a:bodyPr/>
                    <a:lstStyle/>
                    <a:p>
                      <a:pPr>
                        <a:defRPr sz="950">
                          <a:solidFill>
                            <a:srgbClr val="212121"/>
                          </a:solidFill>
                          <a:latin typeface="Arial"/>
                        </a:defRPr>
                      </a:pPr>
                      <a:r>
                        <a:t>Phase 2</a:t>
                      </a:r>
                    </a:p>
                  </a:txBody>
                  <a:tcPr>
                    <a:solidFill>
                      <a:srgbClr val="F5F5F5"/>
                    </a:solidFill>
                  </a:tcPr>
                </a:tc>
                <a:tc>
                  <a:txBody>
                    <a:bodyPr/>
                    <a:lstStyle/>
                    <a:p>
                      <a:pPr>
                        <a:defRPr sz="950">
                          <a:solidFill>
                            <a:srgbClr val="212121"/>
                          </a:solidFill>
                          <a:latin typeface="Arial"/>
                        </a:defRPr>
                      </a:pPr>
                      <a:r>
                        <a:t>Under evaluation</a:t>
                      </a:r>
                    </a:p>
                  </a:txBody>
                  <a:tcPr>
                    <a:solidFill>
                      <a:srgbClr val="F5F5F5"/>
                    </a:solidFill>
                  </a:tcPr>
                </a:tc>
                <a:tc>
                  <a:txBody>
                    <a:bodyPr/>
                    <a:lstStyle/>
                    <a:p>
                      <a:pPr>
                        <a:defRPr sz="950">
                          <a:solidFill>
                            <a:srgbClr val="212121"/>
                          </a:solidFill>
                          <a:latin typeface="Arial"/>
                        </a:defRPr>
                      </a:pPr>
                      <a:r>
                        <a:t>Multiple indications</a:t>
                      </a:r>
                    </a:p>
                  </a:txBody>
                  <a:tcPr>
                    <a:solidFill>
                      <a:srgbClr val="F5F5F5"/>
                    </a:solidFill>
                  </a:tcPr>
                </a:tc>
                <a:extLst>
                  <a:ext uri="{0D108BD9-81ED-4DB2-BD59-A6C34878D82A}">
                    <a16:rowId xmlns:a16="http://schemas.microsoft.com/office/drawing/2014/main" val="10004"/>
                  </a:ext>
                </a:extLst>
              </a:tr>
              <a:tr h="838200">
                <a:tc>
                  <a:txBody>
                    <a:bodyPr/>
                    <a:lstStyle/>
                    <a:p>
                      <a:pPr>
                        <a:defRPr sz="950">
                          <a:solidFill>
                            <a:srgbClr val="212121"/>
                          </a:solidFill>
                          <a:latin typeface="Arial"/>
                        </a:defRPr>
                      </a:pPr>
                      <a:r>
                        <a:t>Ropsacitinib</a:t>
                      </a:r>
                    </a:p>
                  </a:txBody>
                  <a:tcPr/>
                </a:tc>
                <a:tc>
                  <a:txBody>
                    <a:bodyPr/>
                    <a:lstStyle/>
                    <a:p>
                      <a:pPr>
                        <a:defRPr sz="950">
                          <a:solidFill>
                            <a:srgbClr val="212121"/>
                          </a:solidFill>
                          <a:latin typeface="Arial"/>
                        </a:defRPr>
                      </a:pPr>
                      <a:r>
                        <a:t>BMS</a:t>
                      </a:r>
                    </a:p>
                  </a:txBody>
                  <a:tcPr/>
                </a:tc>
                <a:tc>
                  <a:txBody>
                    <a:bodyPr/>
                    <a:lstStyle/>
                    <a:p>
                      <a:pPr>
                        <a:defRPr sz="950">
                          <a:solidFill>
                            <a:srgbClr val="212121"/>
                          </a:solidFill>
                          <a:latin typeface="Arial"/>
                        </a:defRPr>
                      </a:pPr>
                      <a:r>
                        <a:t>Allosteric TYK2i</a:t>
                      </a:r>
                    </a:p>
                  </a:txBody>
                  <a:tcPr/>
                </a:tc>
                <a:tc>
                  <a:txBody>
                    <a:bodyPr/>
                    <a:lstStyle/>
                    <a:p>
                      <a:pPr>
                        <a:defRPr sz="950">
                          <a:solidFill>
                            <a:srgbClr val="212121"/>
                          </a:solidFill>
                          <a:latin typeface="Arial"/>
                        </a:defRPr>
                      </a:pPr>
                      <a:r>
                        <a:t>—</a:t>
                      </a:r>
                    </a:p>
                  </a:txBody>
                  <a:tcPr/>
                </a:tc>
                <a:tc>
                  <a:txBody>
                    <a:bodyPr/>
                    <a:lstStyle/>
                    <a:p>
                      <a:pPr>
                        <a:defRPr sz="950">
                          <a:solidFill>
                            <a:srgbClr val="212121"/>
                          </a:solidFill>
                          <a:latin typeface="Arial"/>
                        </a:defRPr>
                      </a:pPr>
                      <a:r>
                        <a:t>Phase 2</a:t>
                      </a:r>
                    </a:p>
                  </a:txBody>
                  <a:tcPr/>
                </a:tc>
                <a:tc>
                  <a:txBody>
                    <a:bodyPr/>
                    <a:lstStyle/>
                    <a:p>
                      <a:pPr>
                        <a:defRPr sz="950">
                          <a:solidFill>
                            <a:srgbClr val="212121"/>
                          </a:solidFill>
                          <a:latin typeface="Arial"/>
                        </a:defRPr>
                      </a:pPr>
                      <a:r>
                        <a:t>Under evaluation</a:t>
                      </a:r>
                    </a:p>
                  </a:txBody>
                  <a:tcPr/>
                </a:tc>
                <a:tc>
                  <a:txBody>
                    <a:bodyPr/>
                    <a:lstStyle/>
                    <a:p>
                      <a:pPr>
                        <a:defRPr sz="950">
                          <a:solidFill>
                            <a:srgbClr val="212121"/>
                          </a:solidFill>
                          <a:latin typeface="Arial"/>
                        </a:defRPr>
                      </a:pPr>
                      <a:r>
                        <a:t>Next-gen after deucravacitinib</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6400800"/>
            <a:ext cx="10972800" cy="365760"/>
          </a:xfrm>
          <a:prstGeom prst="rect">
            <a:avLst/>
          </a:prstGeom>
          <a:noFill/>
        </p:spPr>
        <p:txBody>
          <a:bodyPr wrap="square" anchor="t">
            <a:spAutoFit/>
          </a:bodyPr>
          <a:lstStyle/>
          <a:p>
            <a:pPr algn="l">
              <a:defRPr sz="850" b="0" i="1">
                <a:solidFill>
                  <a:srgbClr val="666666"/>
                </a:solidFill>
                <a:latin typeface="Arial"/>
              </a:defRPr>
            </a:pPr>
            <a:r>
              <a:t>Data from public sources. Review is required before disclosure.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914400"/>
          </a:xfrm>
          <a:prstGeom prst="rect">
            <a:avLst/>
          </a:prstGeom>
          <a:solidFill>
            <a:srgbClr val="E125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
            <a:ext cx="10972800" cy="822960"/>
          </a:xfrm>
          <a:prstGeom prst="rect">
            <a:avLst/>
          </a:prstGeom>
          <a:noFill/>
        </p:spPr>
        <p:txBody>
          <a:bodyPr wrap="square" anchor="ctr">
            <a:spAutoFit/>
          </a:bodyPr>
          <a:lstStyle/>
          <a:p>
            <a:pPr>
              <a:defRPr sz="2600" b="1">
                <a:solidFill>
                  <a:srgbClr val="FFFFFF"/>
                </a:solidFill>
                <a:latin typeface="Arial"/>
              </a:defRPr>
            </a:pPr>
            <a:r>
              <a:t>Key Takeaways &amp; Strategic Implications</a:t>
            </a:r>
          </a:p>
        </p:txBody>
      </p:sp>
      <p:sp>
        <p:nvSpPr>
          <p:cNvPr id="4" name="TextBox 3"/>
          <p:cNvSpPr txBox="1"/>
          <p:nvPr/>
        </p:nvSpPr>
        <p:spPr>
          <a:xfrm>
            <a:off x="731520" y="1188720"/>
            <a:ext cx="10515600" cy="2926080"/>
          </a:xfrm>
          <a:prstGeom prst="rect">
            <a:avLst/>
          </a:prstGeom>
          <a:noFill/>
        </p:spPr>
        <p:txBody>
          <a:bodyPr wrap="square" anchor="t">
            <a:spAutoFit/>
          </a:bodyPr>
          <a:lstStyle/>
          <a:p>
            <a:pPr algn="l">
              <a:defRPr sz="1300" b="0" i="0">
                <a:solidFill>
                  <a:srgbClr val="212121"/>
                </a:solidFill>
                <a:latin typeface="Arial"/>
              </a:defRPr>
            </a:pPr>
            <a:r>
              <a:t>• Both zasocitinib and envudeucitinib demonstrated PASI 75 rates of 70–77% at Wk16 — substantially above deucravacitinib (~53–58%) and competitive with some biologics</a:t>
            </a:r>
            <a:br/>
            <a:r>
              <a:t>• Next-generation allosteric TYK2i represent a step-change in oral efficacy for psoriasis, narrowing the gap with injectable IL-23 and IL-17 biologics</a:t>
            </a:r>
            <a:br/>
            <a:r>
              <a:t>• Safety profiles are consistent with TYK2i class: acne is a class signal (6–7%); both compounds were well tolerated with no new safety signals</a:t>
            </a:r>
            <a:br/>
            <a:r>
              <a:t>• Cross-trial efficacy is remarkably similar; key differentiators are dosing frequency (zasocitinib QD vs envudeucitinib BID) and sponsor resources</a:t>
            </a:r>
            <a:br/>
            <a:r>
              <a:t>• Takeda's head-to-head trial vs deucravacitinib (NCT06973291) could be a defining event for the TYK2i class</a:t>
            </a:r>
            <a:br/>
            <a:r>
              <a:t>• PASI 100 rates of ~25–33% for oral agents are competitive but still below top IL-23i/IL-17i biologics (~40–55%)</a:t>
            </a:r>
          </a:p>
        </p:txBody>
      </p:sp>
      <p:sp>
        <p:nvSpPr>
          <p:cNvPr id="5" name="TextBox 4"/>
          <p:cNvSpPr txBox="1"/>
          <p:nvPr/>
        </p:nvSpPr>
        <p:spPr>
          <a:xfrm>
            <a:off x="731520" y="4297680"/>
            <a:ext cx="10515600" cy="457200"/>
          </a:xfrm>
          <a:prstGeom prst="rect">
            <a:avLst/>
          </a:prstGeom>
          <a:noFill/>
        </p:spPr>
        <p:txBody>
          <a:bodyPr wrap="square" anchor="t">
            <a:spAutoFit/>
          </a:bodyPr>
          <a:lstStyle/>
          <a:p>
            <a:pPr algn="l">
              <a:defRPr sz="1600" b="1" i="0">
                <a:solidFill>
                  <a:srgbClr val="C8102E"/>
                </a:solidFill>
                <a:latin typeface="Arial"/>
              </a:defRPr>
            </a:pPr>
            <a:r>
              <a:t>Recommended Actions</a:t>
            </a:r>
          </a:p>
        </p:txBody>
      </p:sp>
      <p:sp>
        <p:nvSpPr>
          <p:cNvPr id="6" name="TextBox 5"/>
          <p:cNvSpPr txBox="1"/>
          <p:nvPr/>
        </p:nvSpPr>
        <p:spPr>
          <a:xfrm>
            <a:off x="731520" y="4846320"/>
            <a:ext cx="10515600" cy="1645920"/>
          </a:xfrm>
          <a:prstGeom prst="rect">
            <a:avLst/>
          </a:prstGeom>
          <a:noFill/>
        </p:spPr>
        <p:txBody>
          <a:bodyPr wrap="square" anchor="t">
            <a:spAutoFit/>
          </a:bodyPr>
          <a:lstStyle/>
          <a:p>
            <a:pPr algn="l">
              <a:defRPr sz="1300" b="0" i="0">
                <a:solidFill>
                  <a:srgbClr val="212121"/>
                </a:solidFill>
                <a:latin typeface="Arial"/>
              </a:defRPr>
            </a:pPr>
            <a:r>
              <a:t>• Monitor Takeda head-to-head trial vs deucravacitinib — results could reshape oral psoriasis landscape</a:t>
            </a:r>
            <a:br/>
            <a:r>
              <a:t>• Track Alumis 1-year ONWARD data (expected H2 2026) for durability and long-term safety</a:t>
            </a:r>
            <a:br/>
            <a:r>
              <a:t>• Assess implications for Lilly's psoriasis portfolio positioning vs oral TYK2i class</a:t>
            </a:r>
            <a:br/>
            <a:r>
              <a:t>• Update BNMA models when formal trial data are available for inclusion in network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3028</Words>
  <Application>Microsoft Macintosh PowerPoint</Application>
  <PresentationFormat>Custom</PresentationFormat>
  <Paragraphs>361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Siwei Zhang</cp:lastModifiedBy>
  <cp:revision>1</cp:revision>
  <dcterms:created xsi:type="dcterms:W3CDTF">2013-01-27T09:14:16Z</dcterms:created>
  <dcterms:modified xsi:type="dcterms:W3CDTF">2026-08-31T04:28:14Z</dcterms:modified>
  <cp:category/>
</cp:coreProperties>
</file>