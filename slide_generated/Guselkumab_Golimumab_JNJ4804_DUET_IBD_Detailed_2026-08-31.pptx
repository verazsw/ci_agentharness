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JNJ-4804 (JNJ-78934804) is a fixed-dose combination of guselkumab (anti-IL-23p19) and golimumab (anti-TNF), the first co-antibody therapy in development for inflammatory bowel disease. The DUET program evaluated JNJ-4804 in two Phase 2b trials: DUET-UC (NCT05242484, N=572) in ulcerative colitis and DUET-CD (NCT05242471, N=693) in Crohn's disease, both in treatment-refractory populations. Results were presented at DDW 2026 (May 2–5, Chicago).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VEGA Phase 2a study first demonstrated molecular synergy of combining anti-IL-23 and anti-TNF in UC. DUET expanded this to a Phase 2b treat-through design in both UC and CD. The refractory population is key: ~45% of DUET-UC and ~50% of DUET-CD participants were refractory to ≥2 systemic therapy mechanisms. Prior anti-TNF exposure was 74% in UC and 90% in CD.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DUET-UC enrolled a heavily pretreated population — nearly half had failed ≥2 different mechanism classes. The treat-through design (no re-randomization) allows assessment of sustained efficacy. The 1:2:2:2:2:2 randomization gives more statistical power for the active arms relative to placebo. The primary endpoint is clinical remission by Adapted Mayo Score at Week 48, with multiplicity-controlled comparisons of JNJ-4804 High vs PBO and vs monotherapies.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DUET-CD is the larger trial (N=693 vs 572 for UC) and has co-primary endpoints rather than a single primary. The 50% rate of ≥2-mechanism refractory patients is even higher than in UC. Anti-TNF prior exposure at 90% is notable — this is a truly refractory population. SES-CD ≥12 at baseline indicates moderate-severe endoscopic disease.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endpoint was met: JNJ-4804 High achieved 41.0% clinical remission vs 3.8% PBO (Δ 37.3, p&lt;0.001). However, the comparison vs guselkumab monotherapy was NOT statistically significant (41.0% vs 34.0%, Δ 6.3, p=0.339). The key differentiator emerges in the ≥2 systemic therapy-IR subgroup, where the gap widens: 26.7% vs 16.0% for GUS and 2.1% for GOL. The 91.7% CS-free rate among remitters is notable. Endoscopic improvement was the strongest differentiator: 51.4% for High vs 35.9% for GUS overall.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from the DDW 2026 poster shows the bar chart for clinical remission at Week 48. Left panel: overall population — note the dose-response across JNJ-4804 Low/Mid/High, with High reaching 41.0%. Right panel: ≥2 systemic therapy-IR subgroup — JNJ-4804 High at 26.7% vs GUS 16.0% and GOL 2.1%, showing the combo's advantage in treatment-refractory patients.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JNJ-4804 High dose demonstrated the best treatment retention at 86.7%, compared to 78.6% for guselkumab, 61.5% for golimumab, and 51.9% for placebo. The very low discontinuation for lack of efficacy (3.8%) supports durable benefit. The 13.3% overall discontinuation rate is impressive for a 48-week study in a refractory population.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Co-primary 1 was met: JNJ-4804 High achieved 50.8% clinical remission vs 12.5% PBO (Δ 37.9, p&lt;0.001). In the overall population, the combo was superior to golimumab (p&lt;0.001) but NOT statistically significantly better than guselkumab (50.8% vs 42.5%, p=0.171). However, in the critical ≥2 systemic therapy-IR subgroup, JNJ-4804 High clearly separated from guselkumab: 49.2% vs 27.3% (Δ 21.2, 95% CI: 4.1–38.3). This is the key story — the combination adds most value in the hardest-to-treat patients.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the CD clinical remission data. Left panel: overall population — all 6 arms, with JNJ-4804 Mid and High both exceeding 50%, comparable to each other and numerically above guselkumab (42.5%). Right panel: ≥2 systemic therapy-IR subgroup — JNJ-4804 High at 49.2% clearly separates from guselkumab (27.3%) with Δ 21.2 (95% CI: 4.1–38.3). This is the key differentiating figure for the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Co-primary 2 was also met: JNJ-4804 High achieved 38.1% endoscopic response vs 4.7% PBO (Δ 34.1, p&lt;0.001). Again, superior to golimumab (p&lt;0.001) but not significantly different from guselkumab (38.1% vs 33.9%, p=0.451). In the ≥2-IR subgroup, the gap widened (33.3% vs 20.0%) but the 95% CI for GUS comparison crosses zero (−4.3 to 27.6). The endoscopic response data is more modest than clinical remission, suggesting guselkumab alone captures much of the endoscopic benefit.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endoscopic response bar chart shows a more modest combo advantage vs guselkumab compared to clinical remission. In the overall population, JNJ-4804 High (38.1%) is only marginally above guselkumab (33.9%). In the ≥2-IR subgroup, the gap widens to 33.3% vs 20.0% but doesn't reach statistical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compelling slide for JNJ-4804. In the ≥2 systemic therapy-IR subgroup (the hardest-to-treat 50%), JNJ-4804 High consistently outperformed both monotherapies across all endpoints. The standout findings: 49.2% clinical remission (vs 27.3% GUS), 46.0% CS-free remission, and notably 20.6% deep remission (vs 5.5% GUS and 6.2% GOL). The 93.5% CS-free rate among remitters indicates nearly all remissions are durable without steroid support. Endoscopic remission at 23.8% vs &lt;8% for monotherapies is a 3× improvement — this is where the combo truly shines.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the highest-bar endpoints in the ≥2-IR subgroup. Left: endoscopic remission — JNJ-4804 High at 23.8% vs 7.7% GOL and 7.3% GUS, a 3× improvement. Right: deep remission (clinical + endoscopic) — JNJ-4804 High at 20.6% vs 6.2% GOL and 5.5% GUS. These are the endpoints where the combination most clearly exceeds what either monotherapy can achieve alone. Note placebo is 0% for deep remission, highlighting the severity of this population.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profile of JNJ-4804 was consistent with the established profiles of its components. Key observations: (1) No deaths in any JNJ-4804 arm in either trial; 1 death in CD golimumab arm (unwitnessed cardio-respiratory arrest). (2) AE-related discontinuation was lowest in JNJ-4804 High in both UC (3.5) and CD (10.5) — better than PBO and both monotherapies. (3) SAE rates for JNJ-4804 High were comparable to guselkumab and lower than golimumab. (4) No signal for demyelination, lupus-like syndrome, or CHF. (5) AEs of special interest: UC had 3 basal cell carcinomas (GUS, Low, Mid — all excised), CD had 4 malignancies across arms. No pattern of excess malignancy with combo vs monotherapy.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strategic story is nuanced. JNJ-4804 clearly works, but the critical question is whether it adds enough over guselkumab monotherapy to justify combination complexity and cost. The Phase 2b data says 'yes' only in the refractory subgroup — which is exactly where J&amp;J is focusing Phase 3. The head-to-head vs guselkumab design in ENCORE is bold and high-risk. For Lilly's mirikizumab franchise, this could validate or challenge the anti-IL-23 monotherapy approach in IBD.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JNJ-4804 is a credible but not dominant competitor. Its advantage is clearly concentrated in the hardest-to-treat patients. The Phase 3 ENCORE design — head-to-head vs guselkumab monotherapy — is the decisive test. If it confirms the refractory subgroup benefit prospectively, this could establish a new combination paradigm in IBD. If it fails to differentiate from guselkumab in the enrolled population, the program may struggle commercially. Key timeline: primary data readout expected mid-2028.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1251B"/>
        </a:solidFill>
        <a:effectLst/>
      </p:bgPr>
    </p:bg>
    <p:spTree>
      <p:nvGrpSpPr>
        <p:cNvPr id="1" name=""/>
        <p:cNvGrpSpPr/>
        <p:nvPr/>
      </p:nvGrpSpPr>
      <p:grpSpPr/>
      <p:sp>
        <p:nvSpPr>
          <p:cNvPr id="2" name="TextBox 1"/>
          <p:cNvSpPr txBox="1"/>
          <p:nvPr/>
        </p:nvSpPr>
        <p:spPr>
          <a:xfrm>
            <a:off x="1188720" y="1645920"/>
            <a:ext cx="9784080" cy="1828800"/>
          </a:xfrm>
          <a:prstGeom prst="rect">
            <a:avLst/>
          </a:prstGeom>
          <a:noFill/>
        </p:spPr>
        <p:txBody>
          <a:bodyPr wrap="square" anchor="ctr">
            <a:spAutoFit/>
          </a:bodyPr>
          <a:lstStyle/>
          <a:p>
            <a:pPr algn="ctr">
              <a:defRPr sz="3600" b="1" i="0">
                <a:solidFill>
                  <a:srgbClr val="FFFFFF"/>
                </a:solidFill>
                <a:latin typeface="Arial"/>
              </a:defRPr>
            </a:pPr>
            <a:r>
              <a:t>JNJ-4804 (Guselkumab + Golimumab)</a:t>
            </a:r>
            <a:br/>
            <a:r>
              <a:t>DUET Phase 2b in UC &amp; Crohn's Disease</a:t>
            </a:r>
          </a:p>
        </p:txBody>
      </p:sp>
      <p:sp>
        <p:nvSpPr>
          <p:cNvPr id="3" name="TextBox 2"/>
          <p:cNvSpPr txBox="1"/>
          <p:nvPr/>
        </p:nvSpPr>
        <p:spPr>
          <a:xfrm>
            <a:off x="1188720" y="3566160"/>
            <a:ext cx="9784080" cy="914400"/>
          </a:xfrm>
          <a:prstGeom prst="rect">
            <a:avLst/>
          </a:prstGeom>
          <a:noFill/>
        </p:spPr>
        <p:txBody>
          <a:bodyPr wrap="square" anchor="t">
            <a:spAutoFit/>
          </a:bodyPr>
          <a:lstStyle/>
          <a:p>
            <a:pPr algn="ctr">
              <a:defRPr sz="1800" b="0" i="0">
                <a:solidFill>
                  <a:srgbClr val="F5D6B0"/>
                </a:solidFill>
                <a:latin typeface="Arial"/>
              </a:defRPr>
            </a:pPr>
            <a:r>
              <a:t>First Co-Antibody Therapy in IBD — DDW 2026 Data Readout</a:t>
            </a:r>
          </a:p>
        </p:txBody>
      </p:sp>
      <p:sp>
        <p:nvSpPr>
          <p:cNvPr id="4" name="TextBox 3"/>
          <p:cNvSpPr txBox="1"/>
          <p:nvPr/>
        </p:nvSpPr>
        <p:spPr>
          <a:xfrm>
            <a:off x="1188720" y="4754880"/>
            <a:ext cx="9784080" cy="914400"/>
          </a:xfrm>
          <a:prstGeom prst="rect">
            <a:avLst/>
          </a:prstGeom>
          <a:noFill/>
        </p:spPr>
        <p:txBody>
          <a:bodyPr wrap="square" anchor="t">
            <a:spAutoFit/>
          </a:bodyPr>
          <a:lstStyle/>
          <a:p>
            <a:pPr algn="ctr">
              <a:defRPr sz="1200" b="0" i="0">
                <a:solidFill>
                  <a:srgbClr val="FFFFFF"/>
                </a:solidFill>
                <a:latin typeface="Arial"/>
              </a:defRPr>
            </a:pPr>
            <a:r>
              <a:t>August 2026</a:t>
            </a:r>
            <a:br/>
            <a:r>
              <a:t>CONFIDENTIAL — For Internal Use Only</a:t>
            </a:r>
          </a:p>
        </p:txBody>
      </p:sp>
      <p:sp>
        <p:nvSpPr>
          <p:cNvPr id="5" name="TextBox 4"/>
          <p:cNvSpPr txBox="1"/>
          <p:nvPr/>
        </p:nvSpPr>
        <p:spPr>
          <a:xfrm>
            <a:off x="1188720" y="5943600"/>
            <a:ext cx="9784080" cy="457200"/>
          </a:xfrm>
          <a:prstGeom prst="rect">
            <a:avLst/>
          </a:prstGeom>
          <a:noFill/>
        </p:spPr>
        <p:txBody>
          <a:bodyPr wrap="square" anchor="t">
            <a:spAutoFit/>
          </a:bodyPr>
          <a:lstStyle/>
          <a:p>
            <a:pPr algn="ctr">
              <a:defRPr sz="900" b="0" i="1">
                <a:solidFill>
                  <a:srgbClr val="F5D6B0"/>
                </a:solidFill>
                <a:latin typeface="Arial"/>
              </a:defRPr>
            </a:pPr>
            <a:r>
              <a:t>Review is required before disclosure.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Compound Overview &amp; Mechanism of Action</a:t>
            </a:r>
          </a:p>
        </p:txBody>
      </p:sp>
      <p:sp>
        <p:nvSpPr>
          <p:cNvPr id="4" name="TextBox 3"/>
          <p:cNvSpPr txBox="1"/>
          <p:nvPr/>
        </p:nvSpPr>
        <p:spPr>
          <a:xfrm>
            <a:off x="457200" y="1097280"/>
            <a:ext cx="11247120" cy="1828800"/>
          </a:xfrm>
          <a:prstGeom prst="rect">
            <a:avLst/>
          </a:prstGeom>
          <a:noFill/>
        </p:spPr>
        <p:txBody>
          <a:bodyPr wrap="square">
            <a:spAutoFit/>
          </a:bodyPr>
          <a:lstStyle/>
          <a:p>
            <a:pPr>
              <a:spcAft>
                <a:spcPts val="600"/>
              </a:spcAft>
              <a:defRPr sz="1600" b="1">
                <a:solidFill>
                  <a:srgbClr val="C8102E"/>
                </a:solidFill>
                <a:latin typeface="Arial"/>
              </a:defRPr>
            </a:pPr>
            <a:r>
              <a:t>JNJ-4804 — First Co-Antibody Therapy in IBD</a:t>
            </a:r>
          </a:p>
          <a:p>
            <a:pPr>
              <a:spcAft>
                <a:spcPts val="400"/>
              </a:spcAft>
              <a:defRPr sz="1300">
                <a:solidFill>
                  <a:srgbClr val="212121"/>
                </a:solidFill>
                <a:latin typeface="Arial"/>
              </a:defRPr>
            </a:pPr>
            <a:r>
              <a:t>• JNJ-4804 (JNJ-78934804): Fixed-dose combination of guselkumab (anti-IL-23p19) + golimumab (anti-TNF-α), administered SC</a:t>
            </a:r>
          </a:p>
          <a:p>
            <a:pPr>
              <a:spcAft>
                <a:spcPts val="400"/>
              </a:spcAft>
              <a:defRPr sz="1300">
                <a:solidFill>
                  <a:srgbClr val="212121"/>
                </a:solidFill>
                <a:latin typeface="Arial"/>
              </a:defRPr>
            </a:pPr>
            <a:r>
              <a:t>• First 'co-antibody' in IBD — dual-pathway blockade in a single product</a:t>
            </a:r>
          </a:p>
          <a:p>
            <a:pPr>
              <a:spcAft>
                <a:spcPts val="400"/>
              </a:spcAft>
              <a:defRPr sz="1300">
                <a:solidFill>
                  <a:srgbClr val="212121"/>
                </a:solidFill>
                <a:latin typeface="Arial"/>
              </a:defRPr>
            </a:pPr>
            <a:r>
              <a:t>• Rationale: Complementary IL-23 and TNF-α activity; molecular synergy demonstrated in VEGA Phase 2a (UC)</a:t>
            </a:r>
          </a:p>
        </p:txBody>
      </p:sp>
      <p:sp>
        <p:nvSpPr>
          <p:cNvPr id="5" name="TextBox 4"/>
          <p:cNvSpPr txBox="1"/>
          <p:nvPr/>
        </p:nvSpPr>
        <p:spPr>
          <a:xfrm>
            <a:off x="457200" y="3200400"/>
            <a:ext cx="11247120" cy="2286000"/>
          </a:xfrm>
          <a:prstGeom prst="rect">
            <a:avLst/>
          </a:prstGeom>
          <a:noFill/>
        </p:spPr>
        <p:txBody>
          <a:bodyPr wrap="square">
            <a:spAutoFit/>
          </a:bodyPr>
          <a:lstStyle/>
          <a:p>
            <a:pPr>
              <a:spcAft>
                <a:spcPts val="600"/>
              </a:spcAft>
              <a:defRPr sz="1600" b="1">
                <a:solidFill>
                  <a:srgbClr val="C8102E"/>
                </a:solidFill>
                <a:latin typeface="Arial"/>
              </a:defRPr>
            </a:pPr>
            <a:r>
              <a:t>DUET Phase 2b Program</a:t>
            </a:r>
          </a:p>
          <a:p>
            <a:pPr>
              <a:spcAft>
                <a:spcPts val="400"/>
              </a:spcAft>
              <a:defRPr sz="1300">
                <a:solidFill>
                  <a:srgbClr val="212121"/>
                </a:solidFill>
                <a:latin typeface="Arial"/>
              </a:defRPr>
            </a:pPr>
            <a:r>
              <a:t>• DUET-UC (NCT05242484): N=572, ulcerative colitis, 6 arms, randomized 1:2:2:2:2:2</a:t>
            </a:r>
          </a:p>
          <a:p>
            <a:pPr>
              <a:spcAft>
                <a:spcPts val="400"/>
              </a:spcAft>
              <a:defRPr sz="1300">
                <a:solidFill>
                  <a:srgbClr val="212121"/>
                </a:solidFill>
                <a:latin typeface="Arial"/>
              </a:defRPr>
            </a:pPr>
            <a:r>
              <a:t>• DUET-CD (NCT05242471): N=693, Crohn's disease, 6 arms, same design</a:t>
            </a:r>
          </a:p>
          <a:p>
            <a:pPr>
              <a:spcAft>
                <a:spcPts val="400"/>
              </a:spcAft>
              <a:defRPr sz="1300">
                <a:solidFill>
                  <a:srgbClr val="212121"/>
                </a:solidFill>
                <a:latin typeface="Arial"/>
              </a:defRPr>
            </a:pPr>
            <a:r>
              <a:t>• Population: Refractory to ≥1 systemic therapy (anti-TNF, IL-12/23, integrin, JAK, IL-23p19)</a:t>
            </a:r>
          </a:p>
          <a:p>
            <a:pPr>
              <a:spcAft>
                <a:spcPts val="400"/>
              </a:spcAft>
              <a:defRPr sz="1300">
                <a:solidFill>
                  <a:srgbClr val="212121"/>
                </a:solidFill>
                <a:latin typeface="Arial"/>
              </a:defRPr>
            </a:pPr>
            <a:r>
              <a:t>• Sponsor: Johnson &amp; Johnson; Phase 3 ENCORE initiated with $500M Royalty Pharma co-funding</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DUET-UC: Study Design (NCT05242484)</a:t>
            </a:r>
          </a:p>
        </p:txBody>
      </p:sp>
      <p:sp>
        <p:nvSpPr>
          <p:cNvPr id="4" name="TextBox 3"/>
          <p:cNvSpPr txBox="1"/>
          <p:nvPr/>
        </p:nvSpPr>
        <p:spPr>
          <a:xfrm>
            <a:off x="457200" y="1097280"/>
            <a:ext cx="11247120" cy="2011680"/>
          </a:xfrm>
          <a:prstGeom prst="rect">
            <a:avLst/>
          </a:prstGeom>
          <a:noFill/>
        </p:spPr>
        <p:txBody>
          <a:bodyPr wrap="square">
            <a:spAutoFit/>
          </a:bodyPr>
          <a:lstStyle/>
          <a:p>
            <a:pPr>
              <a:spcAft>
                <a:spcPts val="600"/>
              </a:spcAft>
              <a:defRPr sz="1600" b="1">
                <a:solidFill>
                  <a:srgbClr val="C8102E"/>
                </a:solidFill>
                <a:latin typeface="Arial"/>
              </a:defRPr>
            </a:pPr>
            <a:r>
              <a:t>Study Design</a:t>
            </a:r>
          </a:p>
          <a:p>
            <a:pPr>
              <a:spcAft>
                <a:spcPts val="400"/>
              </a:spcAft>
              <a:defRPr sz="1300">
                <a:solidFill>
                  <a:srgbClr val="212121"/>
                </a:solidFill>
                <a:latin typeface="Arial"/>
              </a:defRPr>
            </a:pPr>
            <a:r>
              <a:t>• Phase 2b, randomized, double-blind, active- and placebo-controlled, treat-through</a:t>
            </a:r>
          </a:p>
          <a:p>
            <a:pPr>
              <a:spcAft>
                <a:spcPts val="400"/>
              </a:spcAft>
              <a:defRPr sz="1300">
                <a:solidFill>
                  <a:srgbClr val="212121"/>
                </a:solidFill>
                <a:latin typeface="Arial"/>
              </a:defRPr>
            </a:pPr>
            <a:r>
              <a:t>• N = 572 (1:2:2:2:2:2): PBO (52), GOL (104), GUS (103), JNJ-4804 Low (103), Mid (105), High (105)</a:t>
            </a:r>
          </a:p>
          <a:p>
            <a:pPr>
              <a:spcAft>
                <a:spcPts val="400"/>
              </a:spcAft>
              <a:defRPr sz="1300">
                <a:solidFill>
                  <a:srgbClr val="212121"/>
                </a:solidFill>
                <a:latin typeface="Arial"/>
              </a:defRPr>
            </a:pPr>
            <a:r>
              <a:t>• Population: Mod-severe UC, IR/intolerance to ≥1 systemic therapy; 44.6% refractory to ≥2 mechanisms</a:t>
            </a:r>
          </a:p>
          <a:p>
            <a:pPr>
              <a:spcAft>
                <a:spcPts val="400"/>
              </a:spcAft>
              <a:defRPr sz="1300">
                <a:solidFill>
                  <a:srgbClr val="212121"/>
                </a:solidFill>
                <a:latin typeface="Arial"/>
              </a:defRPr>
            </a:pPr>
            <a:r>
              <a:t>• Duration: Induction → Maintenance through Wk 48, LTE to Wk 240; CS taper required by Wk 12</a:t>
            </a:r>
          </a:p>
        </p:txBody>
      </p:sp>
      <p:sp>
        <p:nvSpPr>
          <p:cNvPr id="5" name="TextBox 4"/>
          <p:cNvSpPr txBox="1"/>
          <p:nvPr/>
        </p:nvSpPr>
        <p:spPr>
          <a:xfrm>
            <a:off x="457200" y="3383280"/>
            <a:ext cx="11247120" cy="1828800"/>
          </a:xfrm>
          <a:prstGeom prst="rect">
            <a:avLst/>
          </a:prstGeom>
          <a:noFill/>
        </p:spPr>
        <p:txBody>
          <a:bodyPr wrap="square">
            <a:spAutoFit/>
          </a:bodyPr>
          <a:lstStyle/>
          <a:p>
            <a:pPr>
              <a:spcAft>
                <a:spcPts val="600"/>
              </a:spcAft>
              <a:defRPr sz="1600" b="1">
                <a:solidFill>
                  <a:srgbClr val="C8102E"/>
                </a:solidFill>
                <a:latin typeface="Arial"/>
              </a:defRPr>
            </a:pPr>
            <a:r>
              <a:t>Endpoints &amp; Population</a:t>
            </a:r>
          </a:p>
          <a:p>
            <a:pPr>
              <a:spcAft>
                <a:spcPts val="400"/>
              </a:spcAft>
              <a:defRPr sz="1300">
                <a:solidFill>
                  <a:srgbClr val="212121"/>
                </a:solidFill>
                <a:latin typeface="Arial"/>
              </a:defRPr>
            </a:pPr>
            <a:r>
              <a:t>• Primary: Clinical remission at Wk48 (Adapted Mayo: SFS ≤1, RBS = 0, endoscopy ≤1)</a:t>
            </a:r>
          </a:p>
          <a:p>
            <a:pPr>
              <a:spcAft>
                <a:spcPts val="400"/>
              </a:spcAft>
              <a:defRPr sz="1300">
                <a:solidFill>
                  <a:srgbClr val="212121"/>
                </a:solidFill>
                <a:latin typeface="Arial"/>
              </a:defRPr>
            </a:pPr>
            <a:r>
              <a:t>• Key secondary: Endoscopic improvement, histologic remission, CS-free remission</a:t>
            </a:r>
          </a:p>
          <a:p>
            <a:pPr>
              <a:spcAft>
                <a:spcPts val="400"/>
              </a:spcAft>
              <a:defRPr sz="1300">
                <a:solidFill>
                  <a:srgbClr val="212121"/>
                </a:solidFill>
                <a:latin typeface="Arial"/>
              </a:defRPr>
            </a:pPr>
            <a:r>
              <a:t>• Prior therapy: anti-TNF 74%, anti-integrin 44%, JAK 26%, ustekinumab 19%</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Study Design (NCT05242471)</a:t>
            </a:r>
          </a:p>
        </p:txBody>
      </p:sp>
      <p:sp>
        <p:nvSpPr>
          <p:cNvPr id="4" name="TextBox 3"/>
          <p:cNvSpPr txBox="1"/>
          <p:nvPr/>
        </p:nvSpPr>
        <p:spPr>
          <a:xfrm>
            <a:off x="457200" y="1097280"/>
            <a:ext cx="11247120" cy="2011680"/>
          </a:xfrm>
          <a:prstGeom prst="rect">
            <a:avLst/>
          </a:prstGeom>
          <a:noFill/>
        </p:spPr>
        <p:txBody>
          <a:bodyPr wrap="square">
            <a:spAutoFit/>
          </a:bodyPr>
          <a:lstStyle/>
          <a:p>
            <a:pPr>
              <a:spcAft>
                <a:spcPts val="600"/>
              </a:spcAft>
              <a:defRPr sz="1600" b="1">
                <a:solidFill>
                  <a:srgbClr val="C8102E"/>
                </a:solidFill>
                <a:latin typeface="Arial"/>
              </a:defRPr>
            </a:pPr>
            <a:r>
              <a:t>Study Design</a:t>
            </a:r>
          </a:p>
          <a:p>
            <a:pPr>
              <a:spcAft>
                <a:spcPts val="400"/>
              </a:spcAft>
              <a:defRPr sz="1300">
                <a:solidFill>
                  <a:srgbClr val="212121"/>
                </a:solidFill>
                <a:latin typeface="Arial"/>
              </a:defRPr>
            </a:pPr>
            <a:r>
              <a:t>• Phase 2b, randomized, double-blind, active- and placebo-controlled, treat-through</a:t>
            </a:r>
          </a:p>
          <a:p>
            <a:pPr>
              <a:spcAft>
                <a:spcPts val="400"/>
              </a:spcAft>
              <a:defRPr sz="1300">
                <a:solidFill>
                  <a:srgbClr val="212121"/>
                </a:solidFill>
                <a:latin typeface="Arial"/>
              </a:defRPr>
            </a:pPr>
            <a:r>
              <a:t>• N = 693 (1:2:2:2:2:2): PBO (64), GOL (126), GUS (127), JNJ-4804 Low (127), Mid (123), High (126)</a:t>
            </a:r>
          </a:p>
          <a:p>
            <a:pPr>
              <a:spcAft>
                <a:spcPts val="400"/>
              </a:spcAft>
              <a:defRPr sz="1300">
                <a:solidFill>
                  <a:srgbClr val="212121"/>
                </a:solidFill>
                <a:latin typeface="Arial"/>
              </a:defRPr>
            </a:pPr>
            <a:r>
              <a:t>• Population: Mod-severe CD, IR/intolerance to ≥1 systemic therapy; 50% refractory to ≥2 mechanisms</a:t>
            </a:r>
          </a:p>
          <a:p>
            <a:pPr>
              <a:spcAft>
                <a:spcPts val="400"/>
              </a:spcAft>
              <a:defRPr sz="1300">
                <a:solidFill>
                  <a:srgbClr val="212121"/>
                </a:solidFill>
                <a:latin typeface="Arial"/>
              </a:defRPr>
            </a:pPr>
            <a:r>
              <a:t>• Stratified by: CDAI (≤300, &gt;300), SES-CD (≤12, &gt;12), primary non-response to ≥1 systemic therapy</a:t>
            </a:r>
          </a:p>
        </p:txBody>
      </p:sp>
      <p:sp>
        <p:nvSpPr>
          <p:cNvPr id="5" name="TextBox 4"/>
          <p:cNvSpPr txBox="1"/>
          <p:nvPr/>
        </p:nvSpPr>
        <p:spPr>
          <a:xfrm>
            <a:off x="457200" y="3383280"/>
            <a:ext cx="11247120" cy="1828800"/>
          </a:xfrm>
          <a:prstGeom prst="rect">
            <a:avLst/>
          </a:prstGeom>
          <a:noFill/>
        </p:spPr>
        <p:txBody>
          <a:bodyPr wrap="square">
            <a:spAutoFit/>
          </a:bodyPr>
          <a:lstStyle/>
          <a:p>
            <a:pPr>
              <a:spcAft>
                <a:spcPts val="600"/>
              </a:spcAft>
              <a:defRPr sz="1600" b="1">
                <a:solidFill>
                  <a:srgbClr val="C8102E"/>
                </a:solidFill>
                <a:latin typeface="Arial"/>
              </a:defRPr>
            </a:pPr>
            <a:r>
              <a:t>Endpoints &amp; Baseline</a:t>
            </a:r>
          </a:p>
          <a:p>
            <a:pPr>
              <a:spcAft>
                <a:spcPts val="400"/>
              </a:spcAft>
              <a:defRPr sz="1300">
                <a:solidFill>
                  <a:srgbClr val="212121"/>
                </a:solidFill>
                <a:latin typeface="Arial"/>
              </a:defRPr>
            </a:pPr>
            <a:r>
              <a:t>• Co-primary: Clinical remission (CDAI &lt;150) AND endoscopic response (&gt;50% SES-CD improvement or ≤2) at Wk48</a:t>
            </a:r>
          </a:p>
          <a:p>
            <a:pPr>
              <a:spcAft>
                <a:spcPts val="400"/>
              </a:spcAft>
              <a:defRPr sz="1300">
                <a:solidFill>
                  <a:srgbClr val="212121"/>
                </a:solidFill>
                <a:latin typeface="Arial"/>
              </a:defRPr>
            </a:pPr>
            <a:r>
              <a:t>• Key secondary: CS-free remission, endoscopic remission (SES-CD ≤4), deep remission (clinical + endoscopic)</a:t>
            </a:r>
          </a:p>
          <a:p>
            <a:pPr>
              <a:spcAft>
                <a:spcPts val="400"/>
              </a:spcAft>
              <a:defRPr sz="1300">
                <a:solidFill>
                  <a:srgbClr val="212121"/>
                </a:solidFill>
                <a:latin typeface="Arial"/>
              </a:defRPr>
            </a:pPr>
            <a:r>
              <a:t>• Prior anti-TNF 90%, anti-IL-12/23 47%, anti-integrin 26%; Mean CDAI ~323, SES-CD ~13.7, disease duration ~11 yrs</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DUET-UC: Clinical Remission at Week 48 (Primary Endpoint)</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386861">
                <a:tc>
                  <a:txBody>
                    <a:bodyPr/>
                    <a:lstStyle/>
                    <a:p>
                      <a:pPr>
                        <a:defRPr sz="1000" b="1">
                          <a:solidFill>
                            <a:srgbClr val="FFFFFF"/>
                          </a:solidFill>
                          <a:latin typeface="Arial"/>
                        </a:defRPr>
                      </a:pPr>
                      <a:r>
                        <a:t>Endpoint</a:t>
                      </a:r>
                    </a:p>
                  </a:txBody>
                  <a:tcPr>
                    <a:solidFill>
                      <a:srgbClr val="E1251B"/>
                    </a:solidFill>
                  </a:tcPr>
                </a:tc>
                <a:tc>
                  <a:txBody>
                    <a:bodyPr/>
                    <a:lstStyle/>
                    <a:p>
                      <a:pPr>
                        <a:defRPr sz="1000" b="1">
                          <a:solidFill>
                            <a:srgbClr val="FFFFFF"/>
                          </a:solidFill>
                          <a:latin typeface="Arial"/>
                        </a:defRPr>
                      </a:pPr>
                      <a:r>
                        <a:t>PBO (n=52)</a:t>
                      </a:r>
                    </a:p>
                  </a:txBody>
                  <a:tcPr>
                    <a:solidFill>
                      <a:srgbClr val="E1251B"/>
                    </a:solidFill>
                  </a:tcPr>
                </a:tc>
                <a:tc>
                  <a:txBody>
                    <a:bodyPr/>
                    <a:lstStyle/>
                    <a:p>
                      <a:pPr>
                        <a:defRPr sz="1000" b="1">
                          <a:solidFill>
                            <a:srgbClr val="FFFFFF"/>
                          </a:solidFill>
                          <a:latin typeface="Arial"/>
                        </a:defRPr>
                      </a:pPr>
                      <a:r>
                        <a:t>GOL (n=104)</a:t>
                      </a:r>
                    </a:p>
                  </a:txBody>
                  <a:tcPr>
                    <a:solidFill>
                      <a:srgbClr val="E1251B"/>
                    </a:solidFill>
                  </a:tcPr>
                </a:tc>
                <a:tc>
                  <a:txBody>
                    <a:bodyPr/>
                    <a:lstStyle/>
                    <a:p>
                      <a:pPr>
                        <a:defRPr sz="1000" b="1">
                          <a:solidFill>
                            <a:srgbClr val="FFFFFF"/>
                          </a:solidFill>
                          <a:latin typeface="Arial"/>
                        </a:defRPr>
                      </a:pPr>
                      <a:r>
                        <a:t>GUS (n=103)</a:t>
                      </a:r>
                    </a:p>
                  </a:txBody>
                  <a:tcPr>
                    <a:solidFill>
                      <a:srgbClr val="E1251B"/>
                    </a:solidFill>
                  </a:tcPr>
                </a:tc>
                <a:tc>
                  <a:txBody>
                    <a:bodyPr/>
                    <a:lstStyle/>
                    <a:p>
                      <a:pPr>
                        <a:defRPr sz="1000" b="1">
                          <a:solidFill>
                            <a:srgbClr val="FFFFFF"/>
                          </a:solidFill>
                          <a:latin typeface="Arial"/>
                        </a:defRPr>
                      </a:pPr>
                      <a:r>
                        <a:t>JNJ-4804 Low (n=103)</a:t>
                      </a:r>
                    </a:p>
                  </a:txBody>
                  <a:tcPr>
                    <a:solidFill>
                      <a:srgbClr val="E1251B"/>
                    </a:solidFill>
                  </a:tcPr>
                </a:tc>
                <a:tc>
                  <a:txBody>
                    <a:bodyPr/>
                    <a:lstStyle/>
                    <a:p>
                      <a:pPr>
                        <a:defRPr sz="1000" b="1">
                          <a:solidFill>
                            <a:srgbClr val="FFFFFF"/>
                          </a:solidFill>
                          <a:latin typeface="Arial"/>
                        </a:defRPr>
                      </a:pPr>
                      <a:r>
                        <a:t>JNJ-4804 Mid (n=105)</a:t>
                      </a:r>
                    </a:p>
                  </a:txBody>
                  <a:tcPr>
                    <a:solidFill>
                      <a:srgbClr val="E1251B"/>
                    </a:solidFill>
                  </a:tcPr>
                </a:tc>
                <a:tc>
                  <a:txBody>
                    <a:bodyPr/>
                    <a:lstStyle/>
                    <a:p>
                      <a:pPr>
                        <a:defRPr sz="1000" b="1">
                          <a:solidFill>
                            <a:srgbClr val="FFFFFF"/>
                          </a:solidFill>
                          <a:latin typeface="Arial"/>
                        </a:defRPr>
                      </a:pPr>
                      <a:r>
                        <a:t>JNJ-4804 High (n=105)</a:t>
                      </a:r>
                    </a:p>
                  </a:txBody>
                  <a:tcPr>
                    <a:solidFill>
                      <a:srgbClr val="E1251B"/>
                    </a:solidFill>
                  </a:tcPr>
                </a:tc>
              </a:tr>
              <a:tr h="386861">
                <a:tc>
                  <a:txBody>
                    <a:bodyPr/>
                    <a:lstStyle/>
                    <a:p>
                      <a:pPr>
                        <a:defRPr sz="950">
                          <a:solidFill>
                            <a:srgbClr val="212121"/>
                          </a:solidFill>
                          <a:latin typeface="Arial"/>
                        </a:defRPr>
                      </a:pPr>
                      <a:r>
                        <a:t>Clinical Remission (Overall)</a:t>
                      </a:r>
                    </a:p>
                  </a:txBody>
                  <a:tcPr/>
                </a:tc>
                <a:tc>
                  <a:txBody>
                    <a:bodyPr/>
                    <a:lstStyle/>
                    <a:p>
                      <a:pPr>
                        <a:defRPr sz="950">
                          <a:solidFill>
                            <a:srgbClr val="212121"/>
                          </a:solidFill>
                          <a:latin typeface="Arial"/>
                        </a:defRPr>
                      </a:pPr>
                      <a:r>
                        <a:t>3.8%</a:t>
                      </a:r>
                    </a:p>
                  </a:txBody>
                  <a:tcPr/>
                </a:tc>
                <a:tc>
                  <a:txBody>
                    <a:bodyPr/>
                    <a:lstStyle/>
                    <a:p>
                      <a:pPr>
                        <a:defRPr sz="950">
                          <a:solidFill>
                            <a:srgbClr val="212121"/>
                          </a:solidFill>
                          <a:latin typeface="Arial"/>
                        </a:defRPr>
                      </a:pPr>
                      <a:r>
                        <a:t>11.5%</a:t>
                      </a:r>
                    </a:p>
                  </a:txBody>
                  <a:tcPr/>
                </a:tc>
                <a:tc>
                  <a:txBody>
                    <a:bodyPr/>
                    <a:lstStyle/>
                    <a:p>
                      <a:pPr>
                        <a:defRPr sz="950">
                          <a:solidFill>
                            <a:srgbClr val="212121"/>
                          </a:solidFill>
                          <a:latin typeface="Arial"/>
                        </a:defRPr>
                      </a:pPr>
                      <a:r>
                        <a:t>34.0%</a:t>
                      </a:r>
                    </a:p>
                  </a:txBody>
                  <a:tcPr/>
                </a:tc>
                <a:tc>
                  <a:txBody>
                    <a:bodyPr/>
                    <a:lstStyle/>
                    <a:p>
                      <a:pPr>
                        <a:defRPr sz="950">
                          <a:solidFill>
                            <a:srgbClr val="212121"/>
                          </a:solidFill>
                          <a:latin typeface="Arial"/>
                        </a:defRPr>
                      </a:pPr>
                      <a:r>
                        <a:t>22.3%</a:t>
                      </a:r>
                    </a:p>
                  </a:txBody>
                  <a:tcPr/>
                </a:tc>
                <a:tc>
                  <a:txBody>
                    <a:bodyPr/>
                    <a:lstStyle/>
                    <a:p>
                      <a:pPr>
                        <a:defRPr sz="950">
                          <a:solidFill>
                            <a:srgbClr val="212121"/>
                          </a:solidFill>
                          <a:latin typeface="Arial"/>
                        </a:defRPr>
                      </a:pPr>
                      <a:r>
                        <a:t>26.7%</a:t>
                      </a:r>
                    </a:p>
                  </a:txBody>
                  <a:tcPr/>
                </a:tc>
                <a:tc>
                  <a:txBody>
                    <a:bodyPr/>
                    <a:lstStyle/>
                    <a:p>
                      <a:pPr>
                        <a:defRPr sz="950">
                          <a:solidFill>
                            <a:srgbClr val="212121"/>
                          </a:solidFill>
                          <a:latin typeface="Arial"/>
                        </a:defRPr>
                      </a:pPr>
                      <a:r>
                        <a:t>41.0%</a:t>
                      </a:r>
                    </a:p>
                  </a:txBody>
                  <a:tcPr/>
                </a:tc>
              </a:tr>
              <a:tr h="386861">
                <a:tc>
                  <a:txBody>
                    <a:bodyPr/>
                    <a:lstStyle/>
                    <a:p>
                      <a:pPr>
                        <a:defRPr sz="950">
                          <a:solidFill>
                            <a:srgbClr val="212121"/>
                          </a:solidFill>
                          <a:latin typeface="Arial"/>
                        </a:defRPr>
                      </a:pPr>
                      <a:r>
                        <a:t>  Δ vs PBO (95% CI)</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37.3 (26.6, 48.0) p&lt;0.001</a:t>
                      </a:r>
                    </a:p>
                  </a:txBody>
                  <a:tcPr>
                    <a:solidFill>
                      <a:srgbClr val="F5F5F5"/>
                    </a:solidFill>
                  </a:tcPr>
                </a:tc>
              </a:tr>
              <a:tr h="386861">
                <a:tc>
                  <a:txBody>
                    <a:bodyPr/>
                    <a:lstStyle/>
                    <a:p>
                      <a:pPr>
                        <a:defRPr sz="950">
                          <a:solidFill>
                            <a:srgbClr val="212121"/>
                          </a:solidFill>
                          <a:latin typeface="Arial"/>
                        </a:defRPr>
                      </a:pPr>
                      <a:r>
                        <a:t>  Δ vs GUS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6.3 (−6.6, 19.1) p=0.339</a:t>
                      </a:r>
                    </a:p>
                  </a:txBody>
                  <a:tcPr/>
                </a:tc>
              </a:tr>
              <a:tr h="386861">
                <a:tc>
                  <a:txBody>
                    <a:bodyPr/>
                    <a:lstStyle/>
                    <a:p>
                      <a:pPr>
                        <a:defRPr sz="950">
                          <a:solidFill>
                            <a:srgbClr val="212121"/>
                          </a:solidFill>
                          <a:latin typeface="Arial"/>
                        </a:defRPr>
                      </a:pPr>
                      <a:r>
                        <a:t>Endoscopic Improvement</a:t>
                      </a:r>
                    </a:p>
                  </a:txBody>
                  <a:tcPr>
                    <a:solidFill>
                      <a:srgbClr val="F5F5F5"/>
                    </a:solidFill>
                  </a:tcPr>
                </a:tc>
                <a:tc>
                  <a:txBody>
                    <a:bodyPr/>
                    <a:lstStyle/>
                    <a:p>
                      <a:pPr>
                        <a:defRPr sz="950">
                          <a:solidFill>
                            <a:srgbClr val="212121"/>
                          </a:solidFill>
                          <a:latin typeface="Arial"/>
                        </a:defRPr>
                      </a:pPr>
                      <a:r>
                        <a:t>5.8%</a:t>
                      </a:r>
                    </a:p>
                  </a:txBody>
                  <a:tcPr>
                    <a:solidFill>
                      <a:srgbClr val="F5F5F5"/>
                    </a:solidFill>
                  </a:tcPr>
                </a:tc>
                <a:tc>
                  <a:txBody>
                    <a:bodyPr/>
                    <a:lstStyle/>
                    <a:p>
                      <a:pPr>
                        <a:defRPr sz="950">
                          <a:solidFill>
                            <a:srgbClr val="212121"/>
                          </a:solidFill>
                          <a:latin typeface="Arial"/>
                        </a:defRPr>
                      </a:pPr>
                      <a:r>
                        <a:t>11.5%</a:t>
                      </a:r>
                    </a:p>
                  </a:txBody>
                  <a:tcPr>
                    <a:solidFill>
                      <a:srgbClr val="F5F5F5"/>
                    </a:solidFill>
                  </a:tcPr>
                </a:tc>
                <a:tc>
                  <a:txBody>
                    <a:bodyPr/>
                    <a:lstStyle/>
                    <a:p>
                      <a:pPr>
                        <a:defRPr sz="950">
                          <a:solidFill>
                            <a:srgbClr val="212121"/>
                          </a:solidFill>
                          <a:latin typeface="Arial"/>
                        </a:defRPr>
                      </a:pPr>
                      <a:r>
                        <a:t>35.9%</a:t>
                      </a:r>
                    </a:p>
                  </a:txBody>
                  <a:tcPr>
                    <a:solidFill>
                      <a:srgbClr val="F5F5F5"/>
                    </a:solidFill>
                  </a:tcPr>
                </a:tc>
                <a:tc>
                  <a:txBody>
                    <a:bodyPr/>
                    <a:lstStyle/>
                    <a:p>
                      <a:pPr>
                        <a:defRPr sz="950">
                          <a:solidFill>
                            <a:srgbClr val="212121"/>
                          </a:solidFill>
                          <a:latin typeface="Arial"/>
                        </a:defRPr>
                      </a:pPr>
                      <a:r>
                        <a:t>24.3%</a:t>
                      </a:r>
                    </a:p>
                  </a:txBody>
                  <a:tcPr>
                    <a:solidFill>
                      <a:srgbClr val="F5F5F5"/>
                    </a:solidFill>
                  </a:tcPr>
                </a:tc>
                <a:tc>
                  <a:txBody>
                    <a:bodyPr/>
                    <a:lstStyle/>
                    <a:p>
                      <a:pPr>
                        <a:defRPr sz="950">
                          <a:solidFill>
                            <a:srgbClr val="212121"/>
                          </a:solidFill>
                          <a:latin typeface="Arial"/>
                        </a:defRPr>
                      </a:pPr>
                      <a:r>
                        <a:t>29.5%</a:t>
                      </a:r>
                    </a:p>
                  </a:txBody>
                  <a:tcPr>
                    <a:solidFill>
                      <a:srgbClr val="F5F5F5"/>
                    </a:solidFill>
                  </a:tcPr>
                </a:tc>
                <a:tc>
                  <a:txBody>
                    <a:bodyPr/>
                    <a:lstStyle/>
                    <a:p>
                      <a:pPr>
                        <a:defRPr sz="950">
                          <a:solidFill>
                            <a:srgbClr val="212121"/>
                          </a:solidFill>
                          <a:latin typeface="Arial"/>
                        </a:defRPr>
                      </a:pPr>
                      <a:r>
                        <a:t>51.4%</a:t>
                      </a:r>
                    </a:p>
                  </a:txBody>
                  <a:tcPr>
                    <a:solidFill>
                      <a:srgbClr val="F5F5F5"/>
                    </a:solidFill>
                  </a:tcPr>
                </a:tc>
              </a:tr>
              <a:tr h="386861">
                <a:tc>
                  <a:txBody>
                    <a:bodyPr/>
                    <a:lstStyle/>
                    <a:p>
                      <a:pPr>
                        <a:defRPr sz="950">
                          <a:solidFill>
                            <a:srgbClr val="212121"/>
                          </a:solidFill>
                          <a:latin typeface="Arial"/>
                        </a:defRPr>
                      </a:pPr>
                      <a:r>
                        <a:t>  Δ vs PBO</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45.7 (35.1, 56.2) p&lt;0.001</a:t>
                      </a:r>
                    </a:p>
                  </a:txBody>
                  <a:tcPr/>
                </a:tc>
              </a:tr>
              <a:tr h="386861">
                <a:tc>
                  <a:txBody>
                    <a:bodyPr/>
                    <a:lstStyle/>
                    <a:p>
                      <a:pPr>
                        <a:defRPr sz="950">
                          <a:solidFill>
                            <a:srgbClr val="212121"/>
                          </a:solidFill>
                          <a:latin typeface="Arial"/>
                        </a:defRPr>
                      </a:pPr>
                      <a:r>
                        <a:t>Histologic + Endoscopic</a:t>
                      </a:r>
                    </a:p>
                  </a:txBody>
                  <a:tcPr>
                    <a:solidFill>
                      <a:srgbClr val="F5F5F5"/>
                    </a:solidFill>
                  </a:tcPr>
                </a:tc>
                <a:tc>
                  <a:txBody>
                    <a:bodyPr/>
                    <a:lstStyle/>
                    <a:p>
                      <a:pPr>
                        <a:defRPr sz="950">
                          <a:solidFill>
                            <a:srgbClr val="212121"/>
                          </a:solidFill>
                          <a:latin typeface="Arial"/>
                        </a:defRPr>
                      </a:pPr>
                      <a:r>
                        <a:t>3.8%</a:t>
                      </a:r>
                    </a:p>
                  </a:txBody>
                  <a:tcPr>
                    <a:solidFill>
                      <a:srgbClr val="F5F5F5"/>
                    </a:solidFill>
                  </a:tcPr>
                </a:tc>
                <a:tc>
                  <a:txBody>
                    <a:bodyPr/>
                    <a:lstStyle/>
                    <a:p>
                      <a:pPr>
                        <a:defRPr sz="950">
                          <a:solidFill>
                            <a:srgbClr val="212121"/>
                          </a:solidFill>
                          <a:latin typeface="Arial"/>
                        </a:defRPr>
                      </a:pPr>
                      <a:r>
                        <a:t>5.8%</a:t>
                      </a:r>
                    </a:p>
                  </a:txBody>
                  <a:tcPr>
                    <a:solidFill>
                      <a:srgbClr val="F5F5F5"/>
                    </a:solidFill>
                  </a:tcPr>
                </a:tc>
                <a:tc>
                  <a:txBody>
                    <a:bodyPr/>
                    <a:lstStyle/>
                    <a:p>
                      <a:pPr>
                        <a:defRPr sz="950">
                          <a:solidFill>
                            <a:srgbClr val="212121"/>
                          </a:solidFill>
                          <a:latin typeface="Arial"/>
                        </a:defRPr>
                      </a:pPr>
                      <a:r>
                        <a:t>19.4%</a:t>
                      </a:r>
                    </a:p>
                  </a:txBody>
                  <a:tcPr>
                    <a:solidFill>
                      <a:srgbClr val="F5F5F5"/>
                    </a:solidFill>
                  </a:tcPr>
                </a:tc>
                <a:tc>
                  <a:txBody>
                    <a:bodyPr/>
                    <a:lstStyle/>
                    <a:p>
                      <a:pPr>
                        <a:defRPr sz="950">
                          <a:solidFill>
                            <a:srgbClr val="212121"/>
                          </a:solidFill>
                          <a:latin typeface="Arial"/>
                        </a:defRPr>
                      </a:pPr>
                      <a:r>
                        <a:t>14.6%</a:t>
                      </a:r>
                    </a:p>
                  </a:txBody>
                  <a:tcPr>
                    <a:solidFill>
                      <a:srgbClr val="F5F5F5"/>
                    </a:solidFill>
                  </a:tcPr>
                </a:tc>
                <a:tc>
                  <a:txBody>
                    <a:bodyPr/>
                    <a:lstStyle/>
                    <a:p>
                      <a:pPr>
                        <a:defRPr sz="950">
                          <a:solidFill>
                            <a:srgbClr val="212121"/>
                          </a:solidFill>
                          <a:latin typeface="Arial"/>
                        </a:defRPr>
                      </a:pPr>
                      <a:r>
                        <a:t>18.1%</a:t>
                      </a:r>
                    </a:p>
                  </a:txBody>
                  <a:tcPr>
                    <a:solidFill>
                      <a:srgbClr val="F5F5F5"/>
                    </a:solidFill>
                  </a:tcPr>
                </a:tc>
                <a:tc>
                  <a:txBody>
                    <a:bodyPr/>
                    <a:lstStyle/>
                    <a:p>
                      <a:pPr>
                        <a:defRPr sz="950">
                          <a:solidFill>
                            <a:srgbClr val="212121"/>
                          </a:solidFill>
                          <a:latin typeface="Arial"/>
                        </a:defRPr>
                      </a:pPr>
                      <a:r>
                        <a:t>36.2%</a:t>
                      </a:r>
                    </a:p>
                  </a:txBody>
                  <a:tcPr>
                    <a:solidFill>
                      <a:srgbClr val="F5F5F5"/>
                    </a:solidFill>
                  </a:tcPr>
                </a:tc>
              </a:tr>
              <a:tr h="386861">
                <a:tc>
                  <a:txBody>
                    <a:bodyPr/>
                    <a:lstStyle/>
                    <a:p>
                      <a:pPr>
                        <a:defRPr sz="950">
                          <a:solidFill>
                            <a:srgbClr val="212121"/>
                          </a:solidFill>
                          <a:latin typeface="Arial"/>
                        </a:defRPr>
                      </a:pPr>
                      <a:r>
                        <a:t>CS-free Remission</a:t>
                      </a:r>
                    </a:p>
                  </a:txBody>
                  <a:tcPr/>
                </a:tc>
                <a:tc>
                  <a:txBody>
                    <a:bodyPr/>
                    <a:lstStyle/>
                    <a:p>
                      <a:pPr>
                        <a:defRPr sz="950">
                          <a:solidFill>
                            <a:srgbClr val="212121"/>
                          </a:solidFill>
                          <a:latin typeface="Arial"/>
                        </a:defRPr>
                      </a:pPr>
                      <a:r>
                        <a:t>1.9%</a:t>
                      </a:r>
                    </a:p>
                  </a:txBody>
                  <a:tcPr/>
                </a:tc>
                <a:tc>
                  <a:txBody>
                    <a:bodyPr/>
                    <a:lstStyle/>
                    <a:p>
                      <a:pPr>
                        <a:defRPr sz="950">
                          <a:solidFill>
                            <a:srgbClr val="212121"/>
                          </a:solidFill>
                          <a:latin typeface="Arial"/>
                        </a:defRPr>
                      </a:pPr>
                      <a:r>
                        <a:t>7.7%</a:t>
                      </a:r>
                    </a:p>
                  </a:txBody>
                  <a:tcPr/>
                </a:tc>
                <a:tc>
                  <a:txBody>
                    <a:bodyPr/>
                    <a:lstStyle/>
                    <a:p>
                      <a:pPr>
                        <a:defRPr sz="950">
                          <a:solidFill>
                            <a:srgbClr val="212121"/>
                          </a:solidFill>
                          <a:latin typeface="Arial"/>
                        </a:defRPr>
                      </a:pPr>
                      <a:r>
                        <a:t>28.2%</a:t>
                      </a:r>
                    </a:p>
                  </a:txBody>
                  <a:tcPr/>
                </a:tc>
                <a:tc>
                  <a:txBody>
                    <a:bodyPr/>
                    <a:lstStyle/>
                    <a:p>
                      <a:pPr>
                        <a:defRPr sz="950">
                          <a:solidFill>
                            <a:srgbClr val="212121"/>
                          </a:solidFill>
                          <a:latin typeface="Arial"/>
                        </a:defRPr>
                      </a:pPr>
                      <a:r>
                        <a:t>19.4%</a:t>
                      </a:r>
                    </a:p>
                  </a:txBody>
                  <a:tcPr/>
                </a:tc>
                <a:tc>
                  <a:txBody>
                    <a:bodyPr/>
                    <a:lstStyle/>
                    <a:p>
                      <a:pPr>
                        <a:defRPr sz="950">
                          <a:solidFill>
                            <a:srgbClr val="212121"/>
                          </a:solidFill>
                          <a:latin typeface="Arial"/>
                        </a:defRPr>
                      </a:pPr>
                      <a:r>
                        <a:t>22.9%</a:t>
                      </a:r>
                    </a:p>
                  </a:txBody>
                  <a:tcPr/>
                </a:tc>
                <a:tc>
                  <a:txBody>
                    <a:bodyPr/>
                    <a:lstStyle/>
                    <a:p>
                      <a:pPr>
                        <a:defRPr sz="950">
                          <a:solidFill>
                            <a:srgbClr val="212121"/>
                          </a:solidFill>
                          <a:latin typeface="Arial"/>
                        </a:defRPr>
                      </a:pPr>
                      <a:r>
                        <a:t>37.1%</a:t>
                      </a:r>
                    </a:p>
                  </a:txBody>
                  <a:tcPr/>
                </a:tc>
              </a:tr>
              <a:tr h="386861">
                <a:tc>
                  <a:txBody>
                    <a:bodyPr/>
                    <a:lstStyle/>
                    <a:p>
                      <a:pPr>
                        <a:defRPr sz="950">
                          <a:solidFill>
                            <a:srgbClr val="212121"/>
                          </a:solidFill>
                          <a:latin typeface="Arial"/>
                        </a:defRPr>
                      </a:pPr>
                      <a:r>
                        <a:t>——— ≥2 Systemic Therapy-IR ———</a:t>
                      </a: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r>
              <a:tr h="386861">
                <a:tc>
                  <a:txBody>
                    <a:bodyPr/>
                    <a:lstStyle/>
                    <a:p>
                      <a:pPr>
                        <a:defRPr sz="950">
                          <a:solidFill>
                            <a:srgbClr val="212121"/>
                          </a:solidFill>
                          <a:latin typeface="Arial"/>
                        </a:defRPr>
                      </a:pPr>
                      <a:r>
                        <a:t>Clinical Remission (≥2 IR)</a:t>
                      </a:r>
                    </a:p>
                  </a:txBody>
                  <a:tcPr/>
                </a:tc>
                <a:tc>
                  <a:txBody>
                    <a:bodyPr/>
                    <a:lstStyle/>
                    <a:p>
                      <a:pPr>
                        <a:defRPr sz="950">
                          <a:solidFill>
                            <a:srgbClr val="212121"/>
                          </a:solidFill>
                          <a:latin typeface="Arial"/>
                        </a:defRPr>
                      </a:pPr>
                      <a:r>
                        <a:t>4.8%</a:t>
                      </a:r>
                    </a:p>
                  </a:txBody>
                  <a:tcPr/>
                </a:tc>
                <a:tc>
                  <a:txBody>
                    <a:bodyPr/>
                    <a:lstStyle/>
                    <a:p>
                      <a:pPr>
                        <a:defRPr sz="950">
                          <a:solidFill>
                            <a:srgbClr val="212121"/>
                          </a:solidFill>
                          <a:latin typeface="Arial"/>
                        </a:defRPr>
                      </a:pPr>
                      <a:r>
                        <a:t>2.1%</a:t>
                      </a:r>
                    </a:p>
                  </a:txBody>
                  <a:tcPr/>
                </a:tc>
                <a:tc>
                  <a:txBody>
                    <a:bodyPr/>
                    <a:lstStyle/>
                    <a:p>
                      <a:pPr>
                        <a:defRPr sz="950">
                          <a:solidFill>
                            <a:srgbClr val="212121"/>
                          </a:solidFill>
                          <a:latin typeface="Arial"/>
                        </a:defRPr>
                      </a:pPr>
                      <a:r>
                        <a:t>16.0%</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26.7%</a:t>
                      </a:r>
                    </a:p>
                  </a:txBody>
                  <a:tcPr/>
                </a:tc>
              </a:tr>
              <a:tr h="386861">
                <a:tc>
                  <a:txBody>
                    <a:bodyPr/>
                    <a:lstStyle/>
                    <a:p>
                      <a:pPr>
                        <a:defRPr sz="950">
                          <a:solidFill>
                            <a:srgbClr val="212121"/>
                          </a:solidFill>
                          <a:latin typeface="Arial"/>
                        </a:defRPr>
                      </a:pPr>
                      <a:r>
                        <a:t>  Δ vs PBO (95% CI)</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19.7 (5.8, 33.5)</a:t>
                      </a:r>
                    </a:p>
                  </a:txBody>
                  <a:tcPr>
                    <a:solidFill>
                      <a:srgbClr val="F5F5F5"/>
                    </a:solidFill>
                  </a:tcPr>
                </a:tc>
              </a:tr>
              <a:tr h="386861">
                <a:tc>
                  <a:txBody>
                    <a:bodyPr/>
                    <a:lstStyle/>
                    <a:p>
                      <a:pPr>
                        <a:defRPr sz="950">
                          <a:solidFill>
                            <a:srgbClr val="212121"/>
                          </a:solidFill>
                          <a:latin typeface="Arial"/>
                        </a:defRPr>
                      </a:pPr>
                      <a:r>
                        <a:t>Endoscopic Improvement (≥2 IR)</a:t>
                      </a:r>
                    </a:p>
                  </a:txBody>
                  <a:tcPr/>
                </a:tc>
                <a:tc>
                  <a:txBody>
                    <a:bodyPr/>
                    <a:lstStyle/>
                    <a:p>
                      <a:pPr>
                        <a:defRPr sz="950">
                          <a:solidFill>
                            <a:srgbClr val="212121"/>
                          </a:solidFill>
                          <a:latin typeface="Arial"/>
                        </a:defRPr>
                      </a:pPr>
                      <a:r>
                        <a:t>4.8%</a:t>
                      </a:r>
                    </a:p>
                  </a:txBody>
                  <a:tcPr/>
                </a:tc>
                <a:tc>
                  <a:txBody>
                    <a:bodyPr/>
                    <a:lstStyle/>
                    <a:p>
                      <a:pPr>
                        <a:defRPr sz="950">
                          <a:solidFill>
                            <a:srgbClr val="212121"/>
                          </a:solidFill>
                          <a:latin typeface="Arial"/>
                        </a:defRPr>
                      </a:pPr>
                      <a:r>
                        <a:t>6.3%</a:t>
                      </a:r>
                    </a:p>
                  </a:txBody>
                  <a:tcPr/>
                </a:tc>
                <a:tc>
                  <a:txBody>
                    <a:bodyPr/>
                    <a:lstStyle/>
                    <a:p>
                      <a:pPr>
                        <a:defRPr sz="950">
                          <a:solidFill>
                            <a:srgbClr val="212121"/>
                          </a:solidFill>
                          <a:latin typeface="Arial"/>
                        </a:defRPr>
                      </a:pPr>
                      <a:r>
                        <a:t>20.0%</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35.6%</a:t>
                      </a:r>
                    </a:p>
                  </a:txBody>
                  <a:tcPr/>
                </a:tc>
              </a:tr>
              <a:tr h="386868">
                <a:tc>
                  <a:txBody>
                    <a:bodyPr/>
                    <a:lstStyle/>
                    <a:p>
                      <a:pPr>
                        <a:defRPr sz="950">
                          <a:solidFill>
                            <a:srgbClr val="212121"/>
                          </a:solidFill>
                          <a:latin typeface="Arial"/>
                        </a:defRPr>
                      </a:pPr>
                      <a:r>
                        <a:t>CS-free Remission (≥2 IR)</a:t>
                      </a:r>
                    </a:p>
                  </a:txBody>
                  <a:tcPr>
                    <a:solidFill>
                      <a:srgbClr val="F5F5F5"/>
                    </a:solidFill>
                  </a:tcPr>
                </a:tc>
                <a:tc>
                  <a:txBody>
                    <a:bodyPr/>
                    <a:lstStyle/>
                    <a:p>
                      <a:pPr>
                        <a:defRPr sz="950">
                          <a:solidFill>
                            <a:srgbClr val="212121"/>
                          </a:solidFill>
                          <a:latin typeface="Arial"/>
                        </a:defRPr>
                      </a:pPr>
                      <a:r>
                        <a:t>4.8%</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14.0%</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24.4%</a:t>
                      </a:r>
                    </a:p>
                  </a:txBody>
                  <a:tcPr>
                    <a:solidFill>
                      <a:srgbClr val="F5F5F5"/>
                    </a:solidFill>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 Sands BE et al. Clinical remission = Adapted Mayo: SFS ≤1, RBS = 0, endoscopy ≤1. IR = inadequate response/intolerance.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DUET-UC: Clinical Remission at Week 48 — Overall &amp; ≥2 Systemic Therapy-IR</a:t>
            </a:r>
          </a:p>
        </p:txBody>
      </p:sp>
      <p:pic>
        <p:nvPicPr>
          <p:cNvPr id="4" name="Picture 3" descr="DUET_UC_ClinRemission_Wk48.png"/>
          <p:cNvPicPr>
            <a:picLocks noChangeAspect="1"/>
          </p:cNvPicPr>
          <p:nvPr/>
        </p:nvPicPr>
        <p:blipFill>
          <a:blip r:embed="rId2"/>
          <a:stretch>
            <a:fillRect/>
          </a:stretch>
        </p:blipFill>
        <p:spPr>
          <a:xfrm>
            <a:off x="365760" y="1051560"/>
            <a:ext cx="11430000" cy="5120640"/>
          </a:xfrm>
          <a:prstGeom prst="rect">
            <a:avLst/>
          </a:prstGeom>
        </p:spPr>
      </p:pic>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(Sands BE et al.). Clinical remission = Adapted Mayo Score.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DUET-UC: Treatment Disposition &amp; Retention Through Week 48</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718457">
                <a:tc>
                  <a:txBody>
                    <a:bodyPr/>
                    <a:lstStyle/>
                    <a:p>
                      <a:pPr>
                        <a:defRPr sz="1000" b="1">
                          <a:solidFill>
                            <a:srgbClr val="FFFFFF"/>
                          </a:solidFill>
                          <a:latin typeface="Arial"/>
                        </a:defRPr>
                      </a:pPr>
                    </a:p>
                  </a:txBody>
                  <a:tcPr>
                    <a:solidFill>
                      <a:srgbClr val="E1251B"/>
                    </a:solidFill>
                  </a:tcPr>
                </a:tc>
                <a:tc>
                  <a:txBody>
                    <a:bodyPr/>
                    <a:lstStyle/>
                    <a:p>
                      <a:pPr>
                        <a:defRPr sz="1000" b="1">
                          <a:solidFill>
                            <a:srgbClr val="FFFFFF"/>
                          </a:solidFill>
                          <a:latin typeface="Arial"/>
                        </a:defRPr>
                      </a:pPr>
                      <a:r>
                        <a:t>PBO (n=52)</a:t>
                      </a:r>
                    </a:p>
                  </a:txBody>
                  <a:tcPr>
                    <a:solidFill>
                      <a:srgbClr val="E1251B"/>
                    </a:solidFill>
                  </a:tcPr>
                </a:tc>
                <a:tc>
                  <a:txBody>
                    <a:bodyPr/>
                    <a:lstStyle/>
                    <a:p>
                      <a:pPr>
                        <a:defRPr sz="1000" b="1">
                          <a:solidFill>
                            <a:srgbClr val="FFFFFF"/>
                          </a:solidFill>
                          <a:latin typeface="Arial"/>
                        </a:defRPr>
                      </a:pPr>
                      <a:r>
                        <a:t>GOL (n=104)</a:t>
                      </a:r>
                    </a:p>
                  </a:txBody>
                  <a:tcPr>
                    <a:solidFill>
                      <a:srgbClr val="E1251B"/>
                    </a:solidFill>
                  </a:tcPr>
                </a:tc>
                <a:tc>
                  <a:txBody>
                    <a:bodyPr/>
                    <a:lstStyle/>
                    <a:p>
                      <a:pPr>
                        <a:defRPr sz="1000" b="1">
                          <a:solidFill>
                            <a:srgbClr val="FFFFFF"/>
                          </a:solidFill>
                          <a:latin typeface="Arial"/>
                        </a:defRPr>
                      </a:pPr>
                      <a:r>
                        <a:t>GUS (n=103)</a:t>
                      </a:r>
                    </a:p>
                  </a:txBody>
                  <a:tcPr>
                    <a:solidFill>
                      <a:srgbClr val="E1251B"/>
                    </a:solidFill>
                  </a:tcPr>
                </a:tc>
                <a:tc>
                  <a:txBody>
                    <a:bodyPr/>
                    <a:lstStyle/>
                    <a:p>
                      <a:pPr>
                        <a:defRPr sz="1000" b="1">
                          <a:solidFill>
                            <a:srgbClr val="FFFFFF"/>
                          </a:solidFill>
                          <a:latin typeface="Arial"/>
                        </a:defRPr>
                      </a:pPr>
                      <a:r>
                        <a:t>JNJ-4804 Low (n=103)</a:t>
                      </a:r>
                    </a:p>
                  </a:txBody>
                  <a:tcPr>
                    <a:solidFill>
                      <a:srgbClr val="E1251B"/>
                    </a:solidFill>
                  </a:tcPr>
                </a:tc>
                <a:tc>
                  <a:txBody>
                    <a:bodyPr/>
                    <a:lstStyle/>
                    <a:p>
                      <a:pPr>
                        <a:defRPr sz="1000" b="1">
                          <a:solidFill>
                            <a:srgbClr val="FFFFFF"/>
                          </a:solidFill>
                          <a:latin typeface="Arial"/>
                        </a:defRPr>
                      </a:pPr>
                      <a:r>
                        <a:t>JNJ-4804 Mid (n=105)</a:t>
                      </a:r>
                    </a:p>
                  </a:txBody>
                  <a:tcPr>
                    <a:solidFill>
                      <a:srgbClr val="E1251B"/>
                    </a:solidFill>
                  </a:tcPr>
                </a:tc>
                <a:tc>
                  <a:txBody>
                    <a:bodyPr/>
                    <a:lstStyle/>
                    <a:p>
                      <a:pPr>
                        <a:defRPr sz="1000" b="1">
                          <a:solidFill>
                            <a:srgbClr val="FFFFFF"/>
                          </a:solidFill>
                          <a:latin typeface="Arial"/>
                        </a:defRPr>
                      </a:pPr>
                      <a:r>
                        <a:t>JNJ-4804 High (n=105)</a:t>
                      </a:r>
                    </a:p>
                  </a:txBody>
                  <a:tcPr>
                    <a:solidFill>
                      <a:srgbClr val="E1251B"/>
                    </a:solidFill>
                  </a:tcPr>
                </a:tc>
              </a:tr>
              <a:tr h="718457">
                <a:tc>
                  <a:txBody>
                    <a:bodyPr/>
                    <a:lstStyle/>
                    <a:p>
                      <a:pPr>
                        <a:defRPr sz="950">
                          <a:solidFill>
                            <a:srgbClr val="212121"/>
                          </a:solidFill>
                          <a:latin typeface="Arial"/>
                        </a:defRPr>
                      </a:pPr>
                      <a:r>
                        <a:t>Discontinued before Wk48</a:t>
                      </a:r>
                    </a:p>
                  </a:txBody>
                  <a:tcPr/>
                </a:tc>
                <a:tc>
                  <a:txBody>
                    <a:bodyPr/>
                    <a:lstStyle/>
                    <a:p>
                      <a:pPr>
                        <a:defRPr sz="950">
                          <a:solidFill>
                            <a:srgbClr val="212121"/>
                          </a:solidFill>
                          <a:latin typeface="Arial"/>
                        </a:defRPr>
                      </a:pPr>
                      <a:r>
                        <a:t>48.1%</a:t>
                      </a:r>
                    </a:p>
                  </a:txBody>
                  <a:tcPr/>
                </a:tc>
                <a:tc>
                  <a:txBody>
                    <a:bodyPr/>
                    <a:lstStyle/>
                    <a:p>
                      <a:pPr>
                        <a:defRPr sz="950">
                          <a:solidFill>
                            <a:srgbClr val="212121"/>
                          </a:solidFill>
                          <a:latin typeface="Arial"/>
                        </a:defRPr>
                      </a:pPr>
                      <a:r>
                        <a:t>38.5%</a:t>
                      </a:r>
                    </a:p>
                  </a:txBody>
                  <a:tcPr/>
                </a:tc>
                <a:tc>
                  <a:txBody>
                    <a:bodyPr/>
                    <a:lstStyle/>
                    <a:p>
                      <a:pPr>
                        <a:defRPr sz="950">
                          <a:solidFill>
                            <a:srgbClr val="212121"/>
                          </a:solidFill>
                          <a:latin typeface="Arial"/>
                        </a:defRPr>
                      </a:pPr>
                      <a:r>
                        <a:t>21.4%</a:t>
                      </a:r>
                    </a:p>
                  </a:txBody>
                  <a:tcPr/>
                </a:tc>
                <a:tc>
                  <a:txBody>
                    <a:bodyPr/>
                    <a:lstStyle/>
                    <a:p>
                      <a:pPr>
                        <a:defRPr sz="950">
                          <a:solidFill>
                            <a:srgbClr val="212121"/>
                          </a:solidFill>
                          <a:latin typeface="Arial"/>
                        </a:defRPr>
                      </a:pPr>
                      <a:r>
                        <a:t>25.2%</a:t>
                      </a:r>
                    </a:p>
                  </a:txBody>
                  <a:tcPr/>
                </a:tc>
                <a:tc>
                  <a:txBody>
                    <a:bodyPr/>
                    <a:lstStyle/>
                    <a:p>
                      <a:pPr>
                        <a:defRPr sz="950">
                          <a:solidFill>
                            <a:srgbClr val="212121"/>
                          </a:solidFill>
                          <a:latin typeface="Arial"/>
                        </a:defRPr>
                      </a:pPr>
                      <a:r>
                        <a:t>16.2%</a:t>
                      </a:r>
                    </a:p>
                  </a:txBody>
                  <a:tcPr/>
                </a:tc>
                <a:tc>
                  <a:txBody>
                    <a:bodyPr/>
                    <a:lstStyle/>
                    <a:p>
                      <a:pPr>
                        <a:defRPr sz="950">
                          <a:solidFill>
                            <a:srgbClr val="212121"/>
                          </a:solidFill>
                          <a:latin typeface="Arial"/>
                        </a:defRPr>
                      </a:pPr>
                      <a:r>
                        <a:t>13.3%</a:t>
                      </a:r>
                    </a:p>
                  </a:txBody>
                  <a:tcPr/>
                </a:tc>
              </a:tr>
              <a:tr h="718457">
                <a:tc>
                  <a:txBody>
                    <a:bodyPr/>
                    <a:lstStyle/>
                    <a:p>
                      <a:pPr>
                        <a:defRPr sz="950">
                          <a:solidFill>
                            <a:srgbClr val="212121"/>
                          </a:solidFill>
                          <a:latin typeface="Arial"/>
                        </a:defRPr>
                      </a:pPr>
                      <a:r>
                        <a:t>  Lack of efficacy</a:t>
                      </a:r>
                    </a:p>
                  </a:txBody>
                  <a:tcPr>
                    <a:solidFill>
                      <a:srgbClr val="F5F5F5"/>
                    </a:solidFill>
                  </a:tcPr>
                </a:tc>
                <a:tc>
                  <a:txBody>
                    <a:bodyPr/>
                    <a:lstStyle/>
                    <a:p>
                      <a:pPr>
                        <a:defRPr sz="950">
                          <a:solidFill>
                            <a:srgbClr val="212121"/>
                          </a:solidFill>
                          <a:latin typeface="Arial"/>
                        </a:defRPr>
                      </a:pPr>
                      <a:r>
                        <a:t>21.2%</a:t>
                      </a:r>
                    </a:p>
                  </a:txBody>
                  <a:tcPr>
                    <a:solidFill>
                      <a:srgbClr val="F5F5F5"/>
                    </a:solidFill>
                  </a:tcPr>
                </a:tc>
                <a:tc>
                  <a:txBody>
                    <a:bodyPr/>
                    <a:lstStyle/>
                    <a:p>
                      <a:pPr>
                        <a:defRPr sz="950">
                          <a:solidFill>
                            <a:srgbClr val="212121"/>
                          </a:solidFill>
                          <a:latin typeface="Arial"/>
                        </a:defRPr>
                      </a:pPr>
                      <a:r>
                        <a:t>14.4%</a:t>
                      </a:r>
                    </a:p>
                  </a:txBody>
                  <a:tcPr>
                    <a:solidFill>
                      <a:srgbClr val="F5F5F5"/>
                    </a:solidFill>
                  </a:tcPr>
                </a:tc>
                <a:tc>
                  <a:txBody>
                    <a:bodyPr/>
                    <a:lstStyle/>
                    <a:p>
                      <a:pPr>
                        <a:defRPr sz="950">
                          <a:solidFill>
                            <a:srgbClr val="212121"/>
                          </a:solidFill>
                          <a:latin typeface="Arial"/>
                        </a:defRPr>
                      </a:pPr>
                      <a:r>
                        <a:t>8.7%</a:t>
                      </a:r>
                    </a:p>
                  </a:txBody>
                  <a:tcPr>
                    <a:solidFill>
                      <a:srgbClr val="F5F5F5"/>
                    </a:solidFill>
                  </a:tcPr>
                </a:tc>
                <a:tc>
                  <a:txBody>
                    <a:bodyPr/>
                    <a:lstStyle/>
                    <a:p>
                      <a:pPr>
                        <a:defRPr sz="950">
                          <a:solidFill>
                            <a:srgbClr val="212121"/>
                          </a:solidFill>
                          <a:latin typeface="Arial"/>
                        </a:defRPr>
                      </a:pPr>
                      <a:r>
                        <a:t>10.7%</a:t>
                      </a:r>
                    </a:p>
                  </a:txBody>
                  <a:tcPr>
                    <a:solidFill>
                      <a:srgbClr val="F5F5F5"/>
                    </a:solidFill>
                  </a:tcPr>
                </a:tc>
                <a:tc>
                  <a:txBody>
                    <a:bodyPr/>
                    <a:lstStyle/>
                    <a:p>
                      <a:pPr>
                        <a:defRPr sz="950">
                          <a:solidFill>
                            <a:srgbClr val="212121"/>
                          </a:solidFill>
                          <a:latin typeface="Arial"/>
                        </a:defRPr>
                      </a:pPr>
                      <a:r>
                        <a:t>6.7%</a:t>
                      </a:r>
                    </a:p>
                  </a:txBody>
                  <a:tcPr>
                    <a:solidFill>
                      <a:srgbClr val="F5F5F5"/>
                    </a:solidFill>
                  </a:tcPr>
                </a:tc>
                <a:tc>
                  <a:txBody>
                    <a:bodyPr/>
                    <a:lstStyle/>
                    <a:p>
                      <a:pPr>
                        <a:defRPr sz="950">
                          <a:solidFill>
                            <a:srgbClr val="212121"/>
                          </a:solidFill>
                          <a:latin typeface="Arial"/>
                        </a:defRPr>
                      </a:pPr>
                      <a:r>
                        <a:t>3.8%</a:t>
                      </a:r>
                    </a:p>
                  </a:txBody>
                  <a:tcPr>
                    <a:solidFill>
                      <a:srgbClr val="F5F5F5"/>
                    </a:solidFill>
                  </a:tcPr>
                </a:tc>
              </a:tr>
              <a:tr h="718457">
                <a:tc>
                  <a:txBody>
                    <a:bodyPr/>
                    <a:lstStyle/>
                    <a:p>
                      <a:pPr>
                        <a:defRPr sz="950">
                          <a:solidFill>
                            <a:srgbClr val="212121"/>
                          </a:solidFill>
                          <a:latin typeface="Arial"/>
                        </a:defRPr>
                      </a:pPr>
                      <a:r>
                        <a:t>  Withdrawal by participant</a:t>
                      </a:r>
                    </a:p>
                  </a:txBody>
                  <a:tcPr/>
                </a:tc>
                <a:tc>
                  <a:txBody>
                    <a:bodyPr/>
                    <a:lstStyle/>
                    <a:p>
                      <a:pPr>
                        <a:defRPr sz="950">
                          <a:solidFill>
                            <a:srgbClr val="212121"/>
                          </a:solidFill>
                          <a:latin typeface="Arial"/>
                        </a:defRPr>
                      </a:pPr>
                      <a:r>
                        <a:t>7.7%</a:t>
                      </a:r>
                    </a:p>
                  </a:txBody>
                  <a:tcPr/>
                </a:tc>
                <a:tc>
                  <a:txBody>
                    <a:bodyPr/>
                    <a:lstStyle/>
                    <a:p>
                      <a:pPr>
                        <a:defRPr sz="950">
                          <a:solidFill>
                            <a:srgbClr val="212121"/>
                          </a:solidFill>
                          <a:latin typeface="Arial"/>
                        </a:defRPr>
                      </a:pPr>
                      <a:r>
                        <a:t>5.8%</a:t>
                      </a:r>
                    </a:p>
                  </a:txBody>
                  <a:tcPr/>
                </a:tc>
                <a:tc>
                  <a:txBody>
                    <a:bodyPr/>
                    <a:lstStyle/>
                    <a:p>
                      <a:pPr>
                        <a:defRPr sz="950">
                          <a:solidFill>
                            <a:srgbClr val="212121"/>
                          </a:solidFill>
                          <a:latin typeface="Arial"/>
                        </a:defRPr>
                      </a:pPr>
                      <a:r>
                        <a:t>3.9%</a:t>
                      </a:r>
                    </a:p>
                  </a:txBody>
                  <a:tcPr/>
                </a:tc>
                <a:tc>
                  <a:txBody>
                    <a:bodyPr/>
                    <a:lstStyle/>
                    <a:p>
                      <a:pPr>
                        <a:defRPr sz="950">
                          <a:solidFill>
                            <a:srgbClr val="212121"/>
                          </a:solidFill>
                          <a:latin typeface="Arial"/>
                        </a:defRPr>
                      </a:pPr>
                      <a:r>
                        <a:t>5.8%</a:t>
                      </a:r>
                    </a:p>
                  </a:txBody>
                  <a:tcPr/>
                </a:tc>
                <a:tc>
                  <a:txBody>
                    <a:bodyPr/>
                    <a:lstStyle/>
                    <a:p>
                      <a:pPr>
                        <a:defRPr sz="950">
                          <a:solidFill>
                            <a:srgbClr val="212121"/>
                          </a:solidFill>
                          <a:latin typeface="Arial"/>
                        </a:defRPr>
                      </a:pPr>
                      <a:r>
                        <a:t>2.9%</a:t>
                      </a:r>
                    </a:p>
                  </a:txBody>
                  <a:tcPr/>
                </a:tc>
                <a:tc>
                  <a:txBody>
                    <a:bodyPr/>
                    <a:lstStyle/>
                    <a:p>
                      <a:pPr>
                        <a:defRPr sz="950">
                          <a:solidFill>
                            <a:srgbClr val="212121"/>
                          </a:solidFill>
                          <a:latin typeface="Arial"/>
                        </a:defRPr>
                      </a:pPr>
                      <a:r>
                        <a:t>2.9%</a:t>
                      </a:r>
                    </a:p>
                  </a:txBody>
                  <a:tcPr/>
                </a:tc>
              </a:tr>
              <a:tr h="718457">
                <a:tc>
                  <a:txBody>
                    <a:bodyPr/>
                    <a:lstStyle/>
                    <a:p>
                      <a:pPr>
                        <a:defRPr sz="950">
                          <a:solidFill>
                            <a:srgbClr val="212121"/>
                          </a:solidFill>
                          <a:latin typeface="Arial"/>
                        </a:defRPr>
                      </a:pPr>
                      <a:r>
                        <a:t>  AE — worsening of UC</a:t>
                      </a:r>
                    </a:p>
                  </a:txBody>
                  <a:tcPr>
                    <a:solidFill>
                      <a:srgbClr val="F5F5F5"/>
                    </a:solidFill>
                  </a:tcPr>
                </a:tc>
                <a:tc>
                  <a:txBody>
                    <a:bodyPr/>
                    <a:lstStyle/>
                    <a:p>
                      <a:pPr>
                        <a:defRPr sz="950">
                          <a:solidFill>
                            <a:srgbClr val="212121"/>
                          </a:solidFill>
                          <a:latin typeface="Arial"/>
                        </a:defRPr>
                      </a:pPr>
                      <a:r>
                        <a:t>9.6%</a:t>
                      </a:r>
                    </a:p>
                  </a:txBody>
                  <a:tcPr>
                    <a:solidFill>
                      <a:srgbClr val="F5F5F5"/>
                    </a:solidFill>
                  </a:tcPr>
                </a:tc>
                <a:tc>
                  <a:txBody>
                    <a:bodyPr/>
                    <a:lstStyle/>
                    <a:p>
                      <a:pPr>
                        <a:defRPr sz="950">
                          <a:solidFill>
                            <a:srgbClr val="212121"/>
                          </a:solidFill>
                          <a:latin typeface="Arial"/>
                        </a:defRPr>
                      </a:pPr>
                      <a:r>
                        <a:t>7.7%</a:t>
                      </a:r>
                    </a:p>
                  </a:txBody>
                  <a:tcPr>
                    <a:solidFill>
                      <a:srgbClr val="F5F5F5"/>
                    </a:solidFill>
                  </a:tcPr>
                </a:tc>
                <a:tc>
                  <a:txBody>
                    <a:bodyPr/>
                    <a:lstStyle/>
                    <a:p>
                      <a:pPr>
                        <a:defRPr sz="950">
                          <a:solidFill>
                            <a:srgbClr val="212121"/>
                          </a:solidFill>
                          <a:latin typeface="Arial"/>
                        </a:defRPr>
                      </a:pPr>
                      <a:r>
                        <a:t>3.9%</a:t>
                      </a:r>
                    </a:p>
                  </a:txBody>
                  <a:tcPr>
                    <a:solidFill>
                      <a:srgbClr val="F5F5F5"/>
                    </a:solidFill>
                  </a:tcPr>
                </a:tc>
                <a:tc>
                  <a:txBody>
                    <a:bodyPr/>
                    <a:lstStyle/>
                    <a:p>
                      <a:pPr>
                        <a:defRPr sz="950">
                          <a:solidFill>
                            <a:srgbClr val="212121"/>
                          </a:solidFill>
                          <a:latin typeface="Arial"/>
                        </a:defRPr>
                      </a:pPr>
                      <a:r>
                        <a:t>3.9%</a:t>
                      </a:r>
                    </a:p>
                  </a:txBody>
                  <a:tcPr>
                    <a:solidFill>
                      <a:srgbClr val="F5F5F5"/>
                    </a:solidFill>
                  </a:tcPr>
                </a:tc>
                <a:tc>
                  <a:txBody>
                    <a:bodyPr/>
                    <a:lstStyle/>
                    <a:p>
                      <a:pPr>
                        <a:defRPr sz="950">
                          <a:solidFill>
                            <a:srgbClr val="212121"/>
                          </a:solidFill>
                          <a:latin typeface="Arial"/>
                        </a:defRPr>
                      </a:pPr>
                      <a:r>
                        <a:t>2.9%</a:t>
                      </a:r>
                    </a:p>
                  </a:txBody>
                  <a:tcPr>
                    <a:solidFill>
                      <a:srgbClr val="F5F5F5"/>
                    </a:solidFill>
                  </a:tcPr>
                </a:tc>
                <a:tc>
                  <a:txBody>
                    <a:bodyPr/>
                    <a:lstStyle/>
                    <a:p>
                      <a:pPr>
                        <a:defRPr sz="950">
                          <a:solidFill>
                            <a:srgbClr val="212121"/>
                          </a:solidFill>
                          <a:latin typeface="Arial"/>
                        </a:defRPr>
                      </a:pPr>
                      <a:r>
                        <a:t>1.9%</a:t>
                      </a:r>
                    </a:p>
                  </a:txBody>
                  <a:tcPr>
                    <a:solidFill>
                      <a:srgbClr val="F5F5F5"/>
                    </a:solidFill>
                  </a:tcPr>
                </a:tc>
              </a:tr>
              <a:tr h="718457">
                <a:tc>
                  <a:txBody>
                    <a:bodyPr/>
                    <a:lstStyle/>
                    <a:p>
                      <a:pPr>
                        <a:defRPr sz="950">
                          <a:solidFill>
                            <a:srgbClr val="212121"/>
                          </a:solidFill>
                          <a:latin typeface="Arial"/>
                        </a:defRPr>
                      </a:pPr>
                      <a:r>
                        <a:t>  AE — other</a:t>
                      </a:r>
                    </a:p>
                  </a:txBody>
                  <a:tcPr/>
                </a:tc>
                <a:tc>
                  <a:txBody>
                    <a:bodyPr/>
                    <a:lstStyle/>
                    <a:p>
                      <a:pPr>
                        <a:defRPr sz="950">
                          <a:solidFill>
                            <a:srgbClr val="212121"/>
                          </a:solidFill>
                          <a:latin typeface="Arial"/>
                        </a:defRPr>
                      </a:pPr>
                      <a:r>
                        <a:t>1.9%</a:t>
                      </a:r>
                    </a:p>
                  </a:txBody>
                  <a:tcPr/>
                </a:tc>
                <a:tc>
                  <a:txBody>
                    <a:bodyPr/>
                    <a:lstStyle/>
                    <a:p>
                      <a:pPr>
                        <a:defRPr sz="950">
                          <a:solidFill>
                            <a:srgbClr val="212121"/>
                          </a:solidFill>
                          <a:latin typeface="Arial"/>
                        </a:defRPr>
                      </a:pPr>
                      <a:r>
                        <a:t>5.8%</a:t>
                      </a:r>
                    </a:p>
                  </a:txBody>
                  <a:tcPr/>
                </a:tc>
                <a:tc>
                  <a:txBody>
                    <a:bodyPr/>
                    <a:lstStyle/>
                    <a:p>
                      <a:pPr>
                        <a:defRPr sz="950">
                          <a:solidFill>
                            <a:srgbClr val="212121"/>
                          </a:solidFill>
                          <a:latin typeface="Arial"/>
                        </a:defRPr>
                      </a:pPr>
                      <a:r>
                        <a:t>2.9%</a:t>
                      </a:r>
                    </a:p>
                  </a:txBody>
                  <a:tcPr/>
                </a:tc>
                <a:tc>
                  <a:txBody>
                    <a:bodyPr/>
                    <a:lstStyle/>
                    <a:p>
                      <a:pPr>
                        <a:defRPr sz="950">
                          <a:solidFill>
                            <a:srgbClr val="212121"/>
                          </a:solidFill>
                          <a:latin typeface="Arial"/>
                        </a:defRPr>
                      </a:pPr>
                      <a:r>
                        <a:t>2.9%</a:t>
                      </a:r>
                    </a:p>
                  </a:txBody>
                  <a:tcPr/>
                </a:tc>
                <a:tc>
                  <a:txBody>
                    <a:bodyPr/>
                    <a:lstStyle/>
                    <a:p>
                      <a:pPr>
                        <a:defRPr sz="950">
                          <a:solidFill>
                            <a:srgbClr val="212121"/>
                          </a:solidFill>
                          <a:latin typeface="Arial"/>
                        </a:defRPr>
                      </a:pPr>
                      <a:r>
                        <a:t>1.9%</a:t>
                      </a:r>
                    </a:p>
                  </a:txBody>
                  <a:tcPr/>
                </a:tc>
                <a:tc>
                  <a:txBody>
                    <a:bodyPr/>
                    <a:lstStyle/>
                    <a:p>
                      <a:pPr>
                        <a:defRPr sz="950">
                          <a:solidFill>
                            <a:srgbClr val="212121"/>
                          </a:solidFill>
                          <a:latin typeface="Arial"/>
                        </a:defRPr>
                      </a:pPr>
                      <a:r>
                        <a:t>2.9%</a:t>
                      </a:r>
                    </a:p>
                  </a:txBody>
                  <a:tcPr/>
                </a:tc>
              </a:tr>
              <a:tr h="718458">
                <a:tc>
                  <a:txBody>
                    <a:bodyPr/>
                    <a:lstStyle/>
                    <a:p>
                      <a:pPr>
                        <a:defRPr sz="950">
                          <a:solidFill>
                            <a:srgbClr val="212121"/>
                          </a:solidFill>
                          <a:latin typeface="Arial"/>
                        </a:defRPr>
                      </a:pPr>
                      <a:r>
                        <a:t>Retention rate</a:t>
                      </a:r>
                    </a:p>
                  </a:txBody>
                  <a:tcPr>
                    <a:solidFill>
                      <a:srgbClr val="F5F5F5"/>
                    </a:solidFill>
                  </a:tcPr>
                </a:tc>
                <a:tc>
                  <a:txBody>
                    <a:bodyPr/>
                    <a:lstStyle/>
                    <a:p>
                      <a:pPr>
                        <a:defRPr sz="950">
                          <a:solidFill>
                            <a:srgbClr val="212121"/>
                          </a:solidFill>
                          <a:latin typeface="Arial"/>
                        </a:defRPr>
                      </a:pPr>
                      <a:r>
                        <a:t>51.9%</a:t>
                      </a:r>
                    </a:p>
                  </a:txBody>
                  <a:tcPr>
                    <a:solidFill>
                      <a:srgbClr val="F5F5F5"/>
                    </a:solidFill>
                  </a:tcPr>
                </a:tc>
                <a:tc>
                  <a:txBody>
                    <a:bodyPr/>
                    <a:lstStyle/>
                    <a:p>
                      <a:pPr>
                        <a:defRPr sz="950">
                          <a:solidFill>
                            <a:srgbClr val="212121"/>
                          </a:solidFill>
                          <a:latin typeface="Arial"/>
                        </a:defRPr>
                      </a:pPr>
                      <a:r>
                        <a:t>61.5%</a:t>
                      </a:r>
                    </a:p>
                  </a:txBody>
                  <a:tcPr>
                    <a:solidFill>
                      <a:srgbClr val="F5F5F5"/>
                    </a:solidFill>
                  </a:tcPr>
                </a:tc>
                <a:tc>
                  <a:txBody>
                    <a:bodyPr/>
                    <a:lstStyle/>
                    <a:p>
                      <a:pPr>
                        <a:defRPr sz="950">
                          <a:solidFill>
                            <a:srgbClr val="212121"/>
                          </a:solidFill>
                          <a:latin typeface="Arial"/>
                        </a:defRPr>
                      </a:pPr>
                      <a:r>
                        <a:t>78.6%</a:t>
                      </a:r>
                    </a:p>
                  </a:txBody>
                  <a:tcPr>
                    <a:solidFill>
                      <a:srgbClr val="F5F5F5"/>
                    </a:solidFill>
                  </a:tcPr>
                </a:tc>
                <a:tc>
                  <a:txBody>
                    <a:bodyPr/>
                    <a:lstStyle/>
                    <a:p>
                      <a:pPr>
                        <a:defRPr sz="950">
                          <a:solidFill>
                            <a:srgbClr val="212121"/>
                          </a:solidFill>
                          <a:latin typeface="Arial"/>
                        </a:defRPr>
                      </a:pPr>
                      <a:r>
                        <a:t>74.8%</a:t>
                      </a:r>
                    </a:p>
                  </a:txBody>
                  <a:tcPr>
                    <a:solidFill>
                      <a:srgbClr val="F5F5F5"/>
                    </a:solidFill>
                  </a:tcPr>
                </a:tc>
                <a:tc>
                  <a:txBody>
                    <a:bodyPr/>
                    <a:lstStyle/>
                    <a:p>
                      <a:pPr>
                        <a:defRPr sz="950">
                          <a:solidFill>
                            <a:srgbClr val="212121"/>
                          </a:solidFill>
                          <a:latin typeface="Arial"/>
                        </a:defRPr>
                      </a:pPr>
                      <a:r>
                        <a:t>83.8%</a:t>
                      </a:r>
                    </a:p>
                  </a:txBody>
                  <a:tcPr>
                    <a:solidFill>
                      <a:srgbClr val="F5F5F5"/>
                    </a:solidFill>
                  </a:tcPr>
                </a:tc>
                <a:tc>
                  <a:txBody>
                    <a:bodyPr/>
                    <a:lstStyle/>
                    <a:p>
                      <a:pPr>
                        <a:defRPr sz="950">
                          <a:solidFill>
                            <a:srgbClr val="212121"/>
                          </a:solidFill>
                          <a:latin typeface="Arial"/>
                        </a:defRPr>
                      </a:pPr>
                      <a:r>
                        <a:t>86.7%</a:t>
                      </a:r>
                    </a:p>
                  </a:txBody>
                  <a:tcPr>
                    <a:solidFill>
                      <a:srgbClr val="F5F5F5"/>
                    </a:solidFill>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JNJ-4804 High dose had the lowest discontinuation rate (13.3%) and highest retention.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Clinical Remission at Week 48 (Co-Primary Endpoint 1)</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386861">
                <a:tc>
                  <a:txBody>
                    <a:bodyPr/>
                    <a:lstStyle/>
                    <a:p>
                      <a:pPr>
                        <a:defRPr sz="1000" b="1">
                          <a:solidFill>
                            <a:srgbClr val="FFFFFF"/>
                          </a:solidFill>
                          <a:latin typeface="Arial"/>
                        </a:defRPr>
                      </a:pPr>
                      <a:r>
                        <a:t>Population</a:t>
                      </a:r>
                    </a:p>
                  </a:txBody>
                  <a:tcPr>
                    <a:solidFill>
                      <a:srgbClr val="E1251B"/>
                    </a:solidFill>
                  </a:tcPr>
                </a:tc>
                <a:tc>
                  <a:txBody>
                    <a:bodyPr/>
                    <a:lstStyle/>
                    <a:p>
                      <a:pPr>
                        <a:defRPr sz="1000" b="1">
                          <a:solidFill>
                            <a:srgbClr val="FFFFFF"/>
                          </a:solidFill>
                          <a:latin typeface="Arial"/>
                        </a:defRPr>
                      </a:pPr>
                      <a:r>
                        <a:t>PBO (n=64)</a:t>
                      </a:r>
                    </a:p>
                  </a:txBody>
                  <a:tcPr>
                    <a:solidFill>
                      <a:srgbClr val="E1251B"/>
                    </a:solidFill>
                  </a:tcPr>
                </a:tc>
                <a:tc>
                  <a:txBody>
                    <a:bodyPr/>
                    <a:lstStyle/>
                    <a:p>
                      <a:pPr>
                        <a:defRPr sz="1000" b="1">
                          <a:solidFill>
                            <a:srgbClr val="FFFFFF"/>
                          </a:solidFill>
                          <a:latin typeface="Arial"/>
                        </a:defRPr>
                      </a:pPr>
                      <a:r>
                        <a:t>GOL (n=126)</a:t>
                      </a:r>
                    </a:p>
                  </a:txBody>
                  <a:tcPr>
                    <a:solidFill>
                      <a:srgbClr val="E1251B"/>
                    </a:solidFill>
                  </a:tcPr>
                </a:tc>
                <a:tc>
                  <a:txBody>
                    <a:bodyPr/>
                    <a:lstStyle/>
                    <a:p>
                      <a:pPr>
                        <a:defRPr sz="1000" b="1">
                          <a:solidFill>
                            <a:srgbClr val="FFFFFF"/>
                          </a:solidFill>
                          <a:latin typeface="Arial"/>
                        </a:defRPr>
                      </a:pPr>
                      <a:r>
                        <a:t>GUS (n=127)</a:t>
                      </a:r>
                    </a:p>
                  </a:txBody>
                  <a:tcPr>
                    <a:solidFill>
                      <a:srgbClr val="E1251B"/>
                    </a:solidFill>
                  </a:tcPr>
                </a:tc>
                <a:tc>
                  <a:txBody>
                    <a:bodyPr/>
                    <a:lstStyle/>
                    <a:p>
                      <a:pPr>
                        <a:defRPr sz="1000" b="1">
                          <a:solidFill>
                            <a:srgbClr val="FFFFFF"/>
                          </a:solidFill>
                          <a:latin typeface="Arial"/>
                        </a:defRPr>
                      </a:pPr>
                      <a:r>
                        <a:t>JNJ-4804 Low (n=127)</a:t>
                      </a:r>
                    </a:p>
                  </a:txBody>
                  <a:tcPr>
                    <a:solidFill>
                      <a:srgbClr val="E1251B"/>
                    </a:solidFill>
                  </a:tcPr>
                </a:tc>
                <a:tc>
                  <a:txBody>
                    <a:bodyPr/>
                    <a:lstStyle/>
                    <a:p>
                      <a:pPr>
                        <a:defRPr sz="1000" b="1">
                          <a:solidFill>
                            <a:srgbClr val="FFFFFF"/>
                          </a:solidFill>
                          <a:latin typeface="Arial"/>
                        </a:defRPr>
                      </a:pPr>
                      <a:r>
                        <a:t>JNJ-4804 Mid (n=123)</a:t>
                      </a:r>
                    </a:p>
                  </a:txBody>
                  <a:tcPr>
                    <a:solidFill>
                      <a:srgbClr val="E1251B"/>
                    </a:solidFill>
                  </a:tcPr>
                </a:tc>
                <a:tc>
                  <a:txBody>
                    <a:bodyPr/>
                    <a:lstStyle/>
                    <a:p>
                      <a:pPr>
                        <a:defRPr sz="1000" b="1">
                          <a:solidFill>
                            <a:srgbClr val="FFFFFF"/>
                          </a:solidFill>
                          <a:latin typeface="Arial"/>
                        </a:defRPr>
                      </a:pPr>
                      <a:r>
                        <a:t>JNJ-4804 High (n=126)</a:t>
                      </a:r>
                    </a:p>
                  </a:txBody>
                  <a:tcPr>
                    <a:solidFill>
                      <a:srgbClr val="E1251B"/>
                    </a:solidFill>
                  </a:tcPr>
                </a:tc>
              </a:tr>
              <a:tr h="386861">
                <a:tc>
                  <a:txBody>
                    <a:bodyPr/>
                    <a:lstStyle/>
                    <a:p>
                      <a:pPr>
                        <a:defRPr sz="950">
                          <a:solidFill>
                            <a:srgbClr val="212121"/>
                          </a:solidFill>
                          <a:latin typeface="Arial"/>
                        </a:defRPr>
                      </a:pPr>
                      <a:r>
                        <a:t>Clinical Remission (Overall)</a:t>
                      </a:r>
                    </a:p>
                  </a:txBody>
                  <a:tcPr/>
                </a:tc>
                <a:tc>
                  <a:txBody>
                    <a:bodyPr/>
                    <a:lstStyle/>
                    <a:p>
                      <a:pPr>
                        <a:defRPr sz="950">
                          <a:solidFill>
                            <a:srgbClr val="212121"/>
                          </a:solidFill>
                          <a:latin typeface="Arial"/>
                        </a:defRPr>
                      </a:pPr>
                      <a:r>
                        <a:t>12.5%</a:t>
                      </a:r>
                    </a:p>
                  </a:txBody>
                  <a:tcPr/>
                </a:tc>
                <a:tc>
                  <a:txBody>
                    <a:bodyPr/>
                    <a:lstStyle/>
                    <a:p>
                      <a:pPr>
                        <a:defRPr sz="950">
                          <a:solidFill>
                            <a:srgbClr val="212121"/>
                          </a:solidFill>
                          <a:latin typeface="Arial"/>
                        </a:defRPr>
                      </a:pPr>
                      <a:r>
                        <a:t>25.4%</a:t>
                      </a:r>
                    </a:p>
                  </a:txBody>
                  <a:tcPr/>
                </a:tc>
                <a:tc>
                  <a:txBody>
                    <a:bodyPr/>
                    <a:lstStyle/>
                    <a:p>
                      <a:pPr>
                        <a:defRPr sz="950">
                          <a:solidFill>
                            <a:srgbClr val="212121"/>
                          </a:solidFill>
                          <a:latin typeface="Arial"/>
                        </a:defRPr>
                      </a:pPr>
                      <a:r>
                        <a:t>42.5%</a:t>
                      </a:r>
                    </a:p>
                  </a:txBody>
                  <a:tcPr/>
                </a:tc>
                <a:tc>
                  <a:txBody>
                    <a:bodyPr/>
                    <a:lstStyle/>
                    <a:p>
                      <a:pPr>
                        <a:defRPr sz="950">
                          <a:solidFill>
                            <a:srgbClr val="212121"/>
                          </a:solidFill>
                          <a:latin typeface="Arial"/>
                        </a:defRPr>
                      </a:pPr>
                      <a:r>
                        <a:t>35.4%</a:t>
                      </a:r>
                    </a:p>
                  </a:txBody>
                  <a:tcPr/>
                </a:tc>
                <a:tc>
                  <a:txBody>
                    <a:bodyPr/>
                    <a:lstStyle/>
                    <a:p>
                      <a:pPr>
                        <a:defRPr sz="950">
                          <a:solidFill>
                            <a:srgbClr val="212121"/>
                          </a:solidFill>
                          <a:latin typeface="Arial"/>
                        </a:defRPr>
                      </a:pPr>
                      <a:r>
                        <a:t>50.4%</a:t>
                      </a:r>
                    </a:p>
                  </a:txBody>
                  <a:tcPr/>
                </a:tc>
                <a:tc>
                  <a:txBody>
                    <a:bodyPr/>
                    <a:lstStyle/>
                    <a:p>
                      <a:pPr>
                        <a:defRPr sz="950">
                          <a:solidFill>
                            <a:srgbClr val="212121"/>
                          </a:solidFill>
                          <a:latin typeface="Arial"/>
                        </a:defRPr>
                      </a:pPr>
                      <a:r>
                        <a:t>50.8%</a:t>
                      </a:r>
                    </a:p>
                  </a:txBody>
                  <a:tcPr/>
                </a:tc>
              </a:tr>
              <a:tr h="386861">
                <a:tc>
                  <a:txBody>
                    <a:bodyPr/>
                    <a:lstStyle/>
                    <a:p>
                      <a:pPr>
                        <a:defRPr sz="950">
                          <a:solidFill>
                            <a:srgbClr val="212121"/>
                          </a:solidFill>
                          <a:latin typeface="Arial"/>
                        </a:defRPr>
                      </a:pPr>
                      <a:r>
                        <a:t>  (n/N)</a:t>
                      </a:r>
                    </a:p>
                  </a:txBody>
                  <a:tcPr>
                    <a:solidFill>
                      <a:srgbClr val="F5F5F5"/>
                    </a:solidFill>
                  </a:tcPr>
                </a:tc>
                <a:tc>
                  <a:txBody>
                    <a:bodyPr/>
                    <a:lstStyle/>
                    <a:p>
                      <a:pPr>
                        <a:defRPr sz="950">
                          <a:solidFill>
                            <a:srgbClr val="212121"/>
                          </a:solidFill>
                          <a:latin typeface="Arial"/>
                        </a:defRPr>
                      </a:pPr>
                      <a:r>
                        <a:t>8/64</a:t>
                      </a:r>
                    </a:p>
                  </a:txBody>
                  <a:tcPr>
                    <a:solidFill>
                      <a:srgbClr val="F5F5F5"/>
                    </a:solidFill>
                  </a:tcPr>
                </a:tc>
                <a:tc>
                  <a:txBody>
                    <a:bodyPr/>
                    <a:lstStyle/>
                    <a:p>
                      <a:pPr>
                        <a:defRPr sz="950">
                          <a:solidFill>
                            <a:srgbClr val="212121"/>
                          </a:solidFill>
                          <a:latin typeface="Arial"/>
                        </a:defRPr>
                      </a:pPr>
                      <a:r>
                        <a:t>32/126</a:t>
                      </a:r>
                    </a:p>
                  </a:txBody>
                  <a:tcPr>
                    <a:solidFill>
                      <a:srgbClr val="F5F5F5"/>
                    </a:solidFill>
                  </a:tcPr>
                </a:tc>
                <a:tc>
                  <a:txBody>
                    <a:bodyPr/>
                    <a:lstStyle/>
                    <a:p>
                      <a:pPr>
                        <a:defRPr sz="950">
                          <a:solidFill>
                            <a:srgbClr val="212121"/>
                          </a:solidFill>
                          <a:latin typeface="Arial"/>
                        </a:defRPr>
                      </a:pPr>
                      <a:r>
                        <a:t>54/127</a:t>
                      </a:r>
                    </a:p>
                  </a:txBody>
                  <a:tcPr>
                    <a:solidFill>
                      <a:srgbClr val="F5F5F5"/>
                    </a:solidFill>
                  </a:tcPr>
                </a:tc>
                <a:tc>
                  <a:txBody>
                    <a:bodyPr/>
                    <a:lstStyle/>
                    <a:p>
                      <a:pPr>
                        <a:defRPr sz="950">
                          <a:solidFill>
                            <a:srgbClr val="212121"/>
                          </a:solidFill>
                          <a:latin typeface="Arial"/>
                        </a:defRPr>
                      </a:pPr>
                      <a:r>
                        <a:t>45/127</a:t>
                      </a:r>
                    </a:p>
                  </a:txBody>
                  <a:tcPr>
                    <a:solidFill>
                      <a:srgbClr val="F5F5F5"/>
                    </a:solidFill>
                  </a:tcPr>
                </a:tc>
                <a:tc>
                  <a:txBody>
                    <a:bodyPr/>
                    <a:lstStyle/>
                    <a:p>
                      <a:pPr>
                        <a:defRPr sz="950">
                          <a:solidFill>
                            <a:srgbClr val="212121"/>
                          </a:solidFill>
                          <a:latin typeface="Arial"/>
                        </a:defRPr>
                      </a:pPr>
                      <a:r>
                        <a:t>62/123</a:t>
                      </a:r>
                    </a:p>
                  </a:txBody>
                  <a:tcPr>
                    <a:solidFill>
                      <a:srgbClr val="F5F5F5"/>
                    </a:solidFill>
                  </a:tcPr>
                </a:tc>
                <a:tc>
                  <a:txBody>
                    <a:bodyPr/>
                    <a:lstStyle/>
                    <a:p>
                      <a:pPr>
                        <a:defRPr sz="950">
                          <a:solidFill>
                            <a:srgbClr val="212121"/>
                          </a:solidFill>
                          <a:latin typeface="Arial"/>
                        </a:defRPr>
                      </a:pPr>
                      <a:r>
                        <a:t>64/126</a:t>
                      </a:r>
                    </a:p>
                  </a:txBody>
                  <a:tcPr>
                    <a:solidFill>
                      <a:srgbClr val="F5F5F5"/>
                    </a:solidFill>
                  </a:tcPr>
                </a:tc>
              </a:tr>
              <a:tr h="386861">
                <a:tc>
                  <a:txBody>
                    <a:bodyPr/>
                    <a:lstStyle/>
                    <a:p>
                      <a:pPr>
                        <a:defRPr sz="950">
                          <a:solidFill>
                            <a:srgbClr val="212121"/>
                          </a:solidFill>
                          <a:latin typeface="Arial"/>
                        </a:defRPr>
                      </a:pPr>
                      <a:r>
                        <a:t>  Δ vs PBO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37.9 (25.6, 50.2)</a:t>
                      </a:r>
                    </a:p>
                  </a:txBody>
                  <a:tcPr/>
                </a:tc>
              </a:tr>
              <a:tr h="386861">
                <a:tc>
                  <a:txBody>
                    <a:bodyPr/>
                    <a:lstStyle/>
                    <a:p>
                      <a:pPr>
                        <a:defRPr sz="950">
                          <a:solidFill>
                            <a:srgbClr val="212121"/>
                          </a:solidFill>
                          <a:latin typeface="Arial"/>
                        </a:defRPr>
                      </a:pPr>
                      <a:r>
                        <a:t>  p-value vs PBO</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p&lt;0.001</a:t>
                      </a:r>
                    </a:p>
                  </a:txBody>
                  <a:tcPr>
                    <a:solidFill>
                      <a:srgbClr val="F5F5F5"/>
                    </a:solidFill>
                  </a:tcPr>
                </a:tc>
              </a:tr>
              <a:tr h="386861">
                <a:tc>
                  <a:txBody>
                    <a:bodyPr/>
                    <a:lstStyle/>
                    <a:p>
                      <a:pPr>
                        <a:defRPr sz="950">
                          <a:solidFill>
                            <a:srgbClr val="212121"/>
                          </a:solidFill>
                          <a:latin typeface="Arial"/>
                        </a:defRPr>
                      </a:pPr>
                      <a:r>
                        <a:t>  Δ vs GOL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25.7 (14.2, 37.1)</a:t>
                      </a:r>
                    </a:p>
                  </a:txBody>
                  <a:tcPr/>
                </a:tc>
              </a:tr>
              <a:tr h="386861">
                <a:tc>
                  <a:txBody>
                    <a:bodyPr/>
                    <a:lstStyle/>
                    <a:p>
                      <a:pPr>
                        <a:defRPr sz="950">
                          <a:solidFill>
                            <a:srgbClr val="212121"/>
                          </a:solidFill>
                          <a:latin typeface="Arial"/>
                        </a:defRPr>
                      </a:pPr>
                      <a:r>
                        <a:t>  p-value vs GOL</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p&lt;0.001</a:t>
                      </a:r>
                    </a:p>
                  </a:txBody>
                  <a:tcPr>
                    <a:solidFill>
                      <a:srgbClr val="F5F5F5"/>
                    </a:solidFill>
                  </a:tcPr>
                </a:tc>
              </a:tr>
              <a:tr h="386861">
                <a:tc>
                  <a:txBody>
                    <a:bodyPr/>
                    <a:lstStyle/>
                    <a:p>
                      <a:pPr>
                        <a:defRPr sz="950">
                          <a:solidFill>
                            <a:srgbClr val="212121"/>
                          </a:solidFill>
                          <a:latin typeface="Arial"/>
                        </a:defRPr>
                      </a:pPr>
                      <a:r>
                        <a:t>  Δ vs GUS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8.5 (−3.6, 20.6)</a:t>
                      </a:r>
                    </a:p>
                  </a:txBody>
                  <a:tcPr/>
                </a:tc>
              </a:tr>
              <a:tr h="386861">
                <a:tc>
                  <a:txBody>
                    <a:bodyPr/>
                    <a:lstStyle/>
                    <a:p>
                      <a:pPr>
                        <a:defRPr sz="950">
                          <a:solidFill>
                            <a:srgbClr val="212121"/>
                          </a:solidFill>
                          <a:latin typeface="Arial"/>
                        </a:defRPr>
                      </a:pPr>
                      <a:r>
                        <a:t>  p-value vs GUS</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p=0.171</a:t>
                      </a:r>
                    </a:p>
                  </a:txBody>
                  <a:tcPr>
                    <a:solidFill>
                      <a:srgbClr val="F5F5F5"/>
                    </a:solidFill>
                  </a:tcPr>
                </a:tc>
              </a:tr>
              <a:tr h="386861">
                <a:tc>
                  <a:txBody>
                    <a:bodyPr/>
                    <a:lstStyle/>
                    <a:p>
                      <a:pPr>
                        <a:defRPr sz="950">
                          <a:solidFill>
                            <a:srgbClr val="212121"/>
                          </a:solidFill>
                          <a:latin typeface="Arial"/>
                        </a:defRPr>
                      </a:pPr>
                      <a:r>
                        <a:t>——— ≥2 Systemic Therapy-IR ———</a:t>
                      </a: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r>
              <a:tr h="386861">
                <a:tc>
                  <a:txBody>
                    <a:bodyPr/>
                    <a:lstStyle/>
                    <a:p>
                      <a:pPr>
                        <a:defRPr sz="950">
                          <a:solidFill>
                            <a:srgbClr val="212121"/>
                          </a:solidFill>
                          <a:latin typeface="Arial"/>
                        </a:defRPr>
                      </a:pPr>
                      <a:r>
                        <a:t>Clinical Remission (≥2 IR)</a:t>
                      </a:r>
                    </a:p>
                  </a:txBody>
                  <a:tcPr>
                    <a:solidFill>
                      <a:srgbClr val="F5F5F5"/>
                    </a:solidFill>
                  </a:tcPr>
                </a:tc>
                <a:tc>
                  <a:txBody>
                    <a:bodyPr/>
                    <a:lstStyle/>
                    <a:p>
                      <a:pPr>
                        <a:defRPr sz="950">
                          <a:solidFill>
                            <a:srgbClr val="212121"/>
                          </a:solidFill>
                          <a:latin typeface="Arial"/>
                        </a:defRPr>
                      </a:pPr>
                      <a:r>
                        <a:t>11.4%</a:t>
                      </a:r>
                    </a:p>
                  </a:txBody>
                  <a:tcPr>
                    <a:solidFill>
                      <a:srgbClr val="F5F5F5"/>
                    </a:solidFill>
                  </a:tcPr>
                </a:tc>
                <a:tc>
                  <a:txBody>
                    <a:bodyPr/>
                    <a:lstStyle/>
                    <a:p>
                      <a:pPr>
                        <a:defRPr sz="950">
                          <a:solidFill>
                            <a:srgbClr val="212121"/>
                          </a:solidFill>
                          <a:latin typeface="Arial"/>
                        </a:defRPr>
                      </a:pPr>
                      <a:r>
                        <a:t>23.1%</a:t>
                      </a:r>
                    </a:p>
                  </a:txBody>
                  <a:tcPr>
                    <a:solidFill>
                      <a:srgbClr val="F5F5F5"/>
                    </a:solidFill>
                  </a:tcPr>
                </a:tc>
                <a:tc>
                  <a:txBody>
                    <a:bodyPr/>
                    <a:lstStyle/>
                    <a:p>
                      <a:pPr>
                        <a:defRPr sz="950">
                          <a:solidFill>
                            <a:srgbClr val="212121"/>
                          </a:solidFill>
                          <a:latin typeface="Arial"/>
                        </a:defRPr>
                      </a:pPr>
                      <a:r>
                        <a:t>27.3%</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49.2%</a:t>
                      </a:r>
                    </a:p>
                  </a:txBody>
                  <a:tcPr>
                    <a:solidFill>
                      <a:srgbClr val="F5F5F5"/>
                    </a:solidFill>
                  </a:tcPr>
                </a:tc>
              </a:tr>
              <a:tr h="386861">
                <a:tc>
                  <a:txBody>
                    <a:bodyPr/>
                    <a:lstStyle/>
                    <a:p>
                      <a:pPr>
                        <a:defRPr sz="950">
                          <a:solidFill>
                            <a:srgbClr val="212121"/>
                          </a:solidFill>
                          <a:latin typeface="Arial"/>
                        </a:defRPr>
                      </a:pPr>
                      <a:r>
                        <a:t>  Δ vs PBO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39.4 (21.6, 57.3)</a:t>
                      </a:r>
                    </a:p>
                  </a:txBody>
                  <a:tcPr/>
                </a:tc>
              </a:tr>
              <a:tr h="386868">
                <a:tc>
                  <a:txBody>
                    <a:bodyPr/>
                    <a:lstStyle/>
                    <a:p>
                      <a:pPr>
                        <a:defRPr sz="950">
                          <a:solidFill>
                            <a:srgbClr val="212121"/>
                          </a:solidFill>
                          <a:latin typeface="Arial"/>
                        </a:defRPr>
                      </a:pPr>
                      <a:r>
                        <a:t>  Δ vs GUS (95% CI)</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21.2 (4.1, 38.3)</a:t>
                      </a:r>
                    </a:p>
                  </a:txBody>
                  <a:tcPr>
                    <a:solidFill>
                      <a:srgbClr val="F5F5F5"/>
                    </a:solidFill>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 Sands BE et al. Clinical remission = CDAI &lt;150. IR = inadequate response/intolerance. *Statistically significant for GOL comparison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Clinical Remission at Week 48 — Overall &amp; ≥2 Systemic Therapy-IR</a:t>
            </a:r>
          </a:p>
        </p:txBody>
      </p:sp>
      <p:pic>
        <p:nvPicPr>
          <p:cNvPr id="4" name="Picture 3" descr="DUET_CD_ClinRemission_Wk48.png"/>
          <p:cNvPicPr>
            <a:picLocks noChangeAspect="1"/>
          </p:cNvPicPr>
          <p:nvPr/>
        </p:nvPicPr>
        <p:blipFill>
          <a:blip r:embed="rId2"/>
          <a:stretch>
            <a:fillRect/>
          </a:stretch>
        </p:blipFill>
        <p:spPr>
          <a:xfrm>
            <a:off x="365760" y="1051560"/>
            <a:ext cx="11430000" cy="5120640"/>
          </a:xfrm>
          <a:prstGeom prst="rect">
            <a:avLst/>
          </a:prstGeom>
        </p:spPr>
      </p:pic>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(Sands BE et al.). Clinical remission = CDAI &lt;150.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Endoscopic Response at Week 48 (Co-Primary Endpoint 2)</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386861">
                <a:tc>
                  <a:txBody>
                    <a:bodyPr/>
                    <a:lstStyle/>
                    <a:p>
                      <a:pPr>
                        <a:defRPr sz="1000" b="1">
                          <a:solidFill>
                            <a:srgbClr val="FFFFFF"/>
                          </a:solidFill>
                          <a:latin typeface="Arial"/>
                        </a:defRPr>
                      </a:pPr>
                      <a:r>
                        <a:t>Population</a:t>
                      </a:r>
                    </a:p>
                  </a:txBody>
                  <a:tcPr>
                    <a:solidFill>
                      <a:srgbClr val="E1251B"/>
                    </a:solidFill>
                  </a:tcPr>
                </a:tc>
                <a:tc>
                  <a:txBody>
                    <a:bodyPr/>
                    <a:lstStyle/>
                    <a:p>
                      <a:pPr>
                        <a:defRPr sz="1000" b="1">
                          <a:solidFill>
                            <a:srgbClr val="FFFFFF"/>
                          </a:solidFill>
                          <a:latin typeface="Arial"/>
                        </a:defRPr>
                      </a:pPr>
                      <a:r>
                        <a:t>PBO (n=64)</a:t>
                      </a:r>
                    </a:p>
                  </a:txBody>
                  <a:tcPr>
                    <a:solidFill>
                      <a:srgbClr val="E1251B"/>
                    </a:solidFill>
                  </a:tcPr>
                </a:tc>
                <a:tc>
                  <a:txBody>
                    <a:bodyPr/>
                    <a:lstStyle/>
                    <a:p>
                      <a:pPr>
                        <a:defRPr sz="1000" b="1">
                          <a:solidFill>
                            <a:srgbClr val="FFFFFF"/>
                          </a:solidFill>
                          <a:latin typeface="Arial"/>
                        </a:defRPr>
                      </a:pPr>
                      <a:r>
                        <a:t>GOL (n=126)</a:t>
                      </a:r>
                    </a:p>
                  </a:txBody>
                  <a:tcPr>
                    <a:solidFill>
                      <a:srgbClr val="E1251B"/>
                    </a:solidFill>
                  </a:tcPr>
                </a:tc>
                <a:tc>
                  <a:txBody>
                    <a:bodyPr/>
                    <a:lstStyle/>
                    <a:p>
                      <a:pPr>
                        <a:defRPr sz="1000" b="1">
                          <a:solidFill>
                            <a:srgbClr val="FFFFFF"/>
                          </a:solidFill>
                          <a:latin typeface="Arial"/>
                        </a:defRPr>
                      </a:pPr>
                      <a:r>
                        <a:t>GUS (n=127)</a:t>
                      </a:r>
                    </a:p>
                  </a:txBody>
                  <a:tcPr>
                    <a:solidFill>
                      <a:srgbClr val="E1251B"/>
                    </a:solidFill>
                  </a:tcPr>
                </a:tc>
                <a:tc>
                  <a:txBody>
                    <a:bodyPr/>
                    <a:lstStyle/>
                    <a:p>
                      <a:pPr>
                        <a:defRPr sz="1000" b="1">
                          <a:solidFill>
                            <a:srgbClr val="FFFFFF"/>
                          </a:solidFill>
                          <a:latin typeface="Arial"/>
                        </a:defRPr>
                      </a:pPr>
                      <a:r>
                        <a:t>JNJ-4804 Low (n=127)</a:t>
                      </a:r>
                    </a:p>
                  </a:txBody>
                  <a:tcPr>
                    <a:solidFill>
                      <a:srgbClr val="E1251B"/>
                    </a:solidFill>
                  </a:tcPr>
                </a:tc>
                <a:tc>
                  <a:txBody>
                    <a:bodyPr/>
                    <a:lstStyle/>
                    <a:p>
                      <a:pPr>
                        <a:defRPr sz="1000" b="1">
                          <a:solidFill>
                            <a:srgbClr val="FFFFFF"/>
                          </a:solidFill>
                          <a:latin typeface="Arial"/>
                        </a:defRPr>
                      </a:pPr>
                      <a:r>
                        <a:t>JNJ-4804 Mid (n=123)</a:t>
                      </a:r>
                    </a:p>
                  </a:txBody>
                  <a:tcPr>
                    <a:solidFill>
                      <a:srgbClr val="E1251B"/>
                    </a:solidFill>
                  </a:tcPr>
                </a:tc>
                <a:tc>
                  <a:txBody>
                    <a:bodyPr/>
                    <a:lstStyle/>
                    <a:p>
                      <a:pPr>
                        <a:defRPr sz="1000" b="1">
                          <a:solidFill>
                            <a:srgbClr val="FFFFFF"/>
                          </a:solidFill>
                          <a:latin typeface="Arial"/>
                        </a:defRPr>
                      </a:pPr>
                      <a:r>
                        <a:t>JNJ-4804 High (n=126)</a:t>
                      </a:r>
                    </a:p>
                  </a:txBody>
                  <a:tcPr>
                    <a:solidFill>
                      <a:srgbClr val="E1251B"/>
                    </a:solidFill>
                  </a:tcPr>
                </a:tc>
              </a:tr>
              <a:tr h="386861">
                <a:tc>
                  <a:txBody>
                    <a:bodyPr/>
                    <a:lstStyle/>
                    <a:p>
                      <a:pPr>
                        <a:defRPr sz="950">
                          <a:solidFill>
                            <a:srgbClr val="212121"/>
                          </a:solidFill>
                          <a:latin typeface="Arial"/>
                        </a:defRPr>
                      </a:pPr>
                      <a:r>
                        <a:t>Endoscopic Response (Overall)</a:t>
                      </a:r>
                    </a:p>
                  </a:txBody>
                  <a:tcPr/>
                </a:tc>
                <a:tc>
                  <a:txBody>
                    <a:bodyPr/>
                    <a:lstStyle/>
                    <a:p>
                      <a:pPr>
                        <a:defRPr sz="950">
                          <a:solidFill>
                            <a:srgbClr val="212121"/>
                          </a:solidFill>
                          <a:latin typeface="Arial"/>
                        </a:defRPr>
                      </a:pPr>
                      <a:r>
                        <a:t>4.7%</a:t>
                      </a:r>
                    </a:p>
                  </a:txBody>
                  <a:tcPr/>
                </a:tc>
                <a:tc>
                  <a:txBody>
                    <a:bodyPr/>
                    <a:lstStyle/>
                    <a:p>
                      <a:pPr>
                        <a:defRPr sz="950">
                          <a:solidFill>
                            <a:srgbClr val="212121"/>
                          </a:solidFill>
                          <a:latin typeface="Arial"/>
                        </a:defRPr>
                      </a:pPr>
                      <a:r>
                        <a:t>19.8%</a:t>
                      </a:r>
                    </a:p>
                  </a:txBody>
                  <a:tcPr/>
                </a:tc>
                <a:tc>
                  <a:txBody>
                    <a:bodyPr/>
                    <a:lstStyle/>
                    <a:p>
                      <a:pPr>
                        <a:defRPr sz="950">
                          <a:solidFill>
                            <a:srgbClr val="212121"/>
                          </a:solidFill>
                          <a:latin typeface="Arial"/>
                        </a:defRPr>
                      </a:pPr>
                      <a:r>
                        <a:t>33.9%</a:t>
                      </a:r>
                    </a:p>
                  </a:txBody>
                  <a:tcPr/>
                </a:tc>
                <a:tc>
                  <a:txBody>
                    <a:bodyPr/>
                    <a:lstStyle/>
                    <a:p>
                      <a:pPr>
                        <a:defRPr sz="950">
                          <a:solidFill>
                            <a:srgbClr val="212121"/>
                          </a:solidFill>
                          <a:latin typeface="Arial"/>
                        </a:defRPr>
                      </a:pPr>
                      <a:r>
                        <a:t>15.7%</a:t>
                      </a:r>
                    </a:p>
                  </a:txBody>
                  <a:tcPr/>
                </a:tc>
                <a:tc>
                  <a:txBody>
                    <a:bodyPr/>
                    <a:lstStyle/>
                    <a:p>
                      <a:pPr>
                        <a:defRPr sz="950">
                          <a:solidFill>
                            <a:srgbClr val="212121"/>
                          </a:solidFill>
                          <a:latin typeface="Arial"/>
                        </a:defRPr>
                      </a:pPr>
                      <a:r>
                        <a:t>31.7%</a:t>
                      </a:r>
                    </a:p>
                  </a:txBody>
                  <a:tcPr/>
                </a:tc>
                <a:tc>
                  <a:txBody>
                    <a:bodyPr/>
                    <a:lstStyle/>
                    <a:p>
                      <a:pPr>
                        <a:defRPr sz="950">
                          <a:solidFill>
                            <a:srgbClr val="212121"/>
                          </a:solidFill>
                          <a:latin typeface="Arial"/>
                        </a:defRPr>
                      </a:pPr>
                      <a:r>
                        <a:t>38.1%</a:t>
                      </a:r>
                    </a:p>
                  </a:txBody>
                  <a:tcPr/>
                </a:tc>
              </a:tr>
              <a:tr h="386861">
                <a:tc>
                  <a:txBody>
                    <a:bodyPr/>
                    <a:lstStyle/>
                    <a:p>
                      <a:pPr>
                        <a:defRPr sz="950">
                          <a:solidFill>
                            <a:srgbClr val="212121"/>
                          </a:solidFill>
                          <a:latin typeface="Arial"/>
                        </a:defRPr>
                      </a:pPr>
                      <a:r>
                        <a:t>  (n/N)</a:t>
                      </a:r>
                    </a:p>
                  </a:txBody>
                  <a:tcPr>
                    <a:solidFill>
                      <a:srgbClr val="F5F5F5"/>
                    </a:solidFill>
                  </a:tcPr>
                </a:tc>
                <a:tc>
                  <a:txBody>
                    <a:bodyPr/>
                    <a:lstStyle/>
                    <a:p>
                      <a:pPr>
                        <a:defRPr sz="950">
                          <a:solidFill>
                            <a:srgbClr val="212121"/>
                          </a:solidFill>
                          <a:latin typeface="Arial"/>
                        </a:defRPr>
                      </a:pPr>
                      <a:r>
                        <a:t>3/64</a:t>
                      </a:r>
                    </a:p>
                  </a:txBody>
                  <a:tcPr>
                    <a:solidFill>
                      <a:srgbClr val="F5F5F5"/>
                    </a:solidFill>
                  </a:tcPr>
                </a:tc>
                <a:tc>
                  <a:txBody>
                    <a:bodyPr/>
                    <a:lstStyle/>
                    <a:p>
                      <a:pPr>
                        <a:defRPr sz="950">
                          <a:solidFill>
                            <a:srgbClr val="212121"/>
                          </a:solidFill>
                          <a:latin typeface="Arial"/>
                        </a:defRPr>
                      </a:pPr>
                      <a:r>
                        <a:t>25/126</a:t>
                      </a:r>
                    </a:p>
                  </a:txBody>
                  <a:tcPr>
                    <a:solidFill>
                      <a:srgbClr val="F5F5F5"/>
                    </a:solidFill>
                  </a:tcPr>
                </a:tc>
                <a:tc>
                  <a:txBody>
                    <a:bodyPr/>
                    <a:lstStyle/>
                    <a:p>
                      <a:pPr>
                        <a:defRPr sz="950">
                          <a:solidFill>
                            <a:srgbClr val="212121"/>
                          </a:solidFill>
                          <a:latin typeface="Arial"/>
                        </a:defRPr>
                      </a:pPr>
                      <a:r>
                        <a:t>43/127</a:t>
                      </a:r>
                    </a:p>
                  </a:txBody>
                  <a:tcPr>
                    <a:solidFill>
                      <a:srgbClr val="F5F5F5"/>
                    </a:solidFill>
                  </a:tcPr>
                </a:tc>
                <a:tc>
                  <a:txBody>
                    <a:bodyPr/>
                    <a:lstStyle/>
                    <a:p>
                      <a:pPr>
                        <a:defRPr sz="950">
                          <a:solidFill>
                            <a:srgbClr val="212121"/>
                          </a:solidFill>
                          <a:latin typeface="Arial"/>
                        </a:defRPr>
                      </a:pPr>
                      <a:r>
                        <a:t>20/127</a:t>
                      </a:r>
                    </a:p>
                  </a:txBody>
                  <a:tcPr>
                    <a:solidFill>
                      <a:srgbClr val="F5F5F5"/>
                    </a:solidFill>
                  </a:tcPr>
                </a:tc>
                <a:tc>
                  <a:txBody>
                    <a:bodyPr/>
                    <a:lstStyle/>
                    <a:p>
                      <a:pPr>
                        <a:defRPr sz="950">
                          <a:solidFill>
                            <a:srgbClr val="212121"/>
                          </a:solidFill>
                          <a:latin typeface="Arial"/>
                        </a:defRPr>
                      </a:pPr>
                      <a:r>
                        <a:t>39/123</a:t>
                      </a:r>
                    </a:p>
                  </a:txBody>
                  <a:tcPr>
                    <a:solidFill>
                      <a:srgbClr val="F5F5F5"/>
                    </a:solidFill>
                  </a:tcPr>
                </a:tc>
                <a:tc>
                  <a:txBody>
                    <a:bodyPr/>
                    <a:lstStyle/>
                    <a:p>
                      <a:pPr>
                        <a:defRPr sz="950">
                          <a:solidFill>
                            <a:srgbClr val="212121"/>
                          </a:solidFill>
                          <a:latin typeface="Arial"/>
                        </a:defRPr>
                      </a:pPr>
                      <a:r>
                        <a:t>48/126</a:t>
                      </a:r>
                    </a:p>
                  </a:txBody>
                  <a:tcPr>
                    <a:solidFill>
                      <a:srgbClr val="F5F5F5"/>
                    </a:solidFill>
                  </a:tcPr>
                </a:tc>
              </a:tr>
              <a:tr h="386861">
                <a:tc>
                  <a:txBody>
                    <a:bodyPr/>
                    <a:lstStyle/>
                    <a:p>
                      <a:pPr>
                        <a:defRPr sz="950">
                          <a:solidFill>
                            <a:srgbClr val="212121"/>
                          </a:solidFill>
                          <a:latin typeface="Arial"/>
                        </a:defRPr>
                      </a:pPr>
                      <a:r>
                        <a:t>  Δ vs PBO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34.1 (24.1, 44.0)</a:t>
                      </a:r>
                    </a:p>
                  </a:txBody>
                  <a:tcPr/>
                </a:tc>
              </a:tr>
              <a:tr h="386861">
                <a:tc>
                  <a:txBody>
                    <a:bodyPr/>
                    <a:lstStyle/>
                    <a:p>
                      <a:pPr>
                        <a:defRPr sz="950">
                          <a:solidFill>
                            <a:srgbClr val="212121"/>
                          </a:solidFill>
                          <a:latin typeface="Arial"/>
                        </a:defRPr>
                      </a:pPr>
                      <a:r>
                        <a:t>  p-value vs PBO</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p&lt;0.001</a:t>
                      </a:r>
                    </a:p>
                  </a:txBody>
                  <a:tcPr>
                    <a:solidFill>
                      <a:srgbClr val="F5F5F5"/>
                    </a:solidFill>
                  </a:tcPr>
                </a:tc>
              </a:tr>
              <a:tr h="386861">
                <a:tc>
                  <a:txBody>
                    <a:bodyPr/>
                    <a:lstStyle/>
                    <a:p>
                      <a:pPr>
                        <a:defRPr sz="950">
                          <a:solidFill>
                            <a:srgbClr val="212121"/>
                          </a:solidFill>
                          <a:latin typeface="Arial"/>
                        </a:defRPr>
                      </a:pPr>
                      <a:r>
                        <a:t>  Δ vs GOL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18.5 (7.6, 29.3)</a:t>
                      </a:r>
                    </a:p>
                  </a:txBody>
                  <a:tcPr/>
                </a:tc>
              </a:tr>
              <a:tr h="386861">
                <a:tc>
                  <a:txBody>
                    <a:bodyPr/>
                    <a:lstStyle/>
                    <a:p>
                      <a:pPr>
                        <a:defRPr sz="950">
                          <a:solidFill>
                            <a:srgbClr val="212121"/>
                          </a:solidFill>
                          <a:latin typeface="Arial"/>
                        </a:defRPr>
                      </a:pPr>
                      <a:r>
                        <a:t>  p-value vs GOL</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p&lt;0.001</a:t>
                      </a:r>
                    </a:p>
                  </a:txBody>
                  <a:tcPr>
                    <a:solidFill>
                      <a:srgbClr val="F5F5F5"/>
                    </a:solidFill>
                  </a:tcPr>
                </a:tc>
              </a:tr>
              <a:tr h="386861">
                <a:tc>
                  <a:txBody>
                    <a:bodyPr/>
                    <a:lstStyle/>
                    <a:p>
                      <a:pPr>
                        <a:defRPr sz="950">
                          <a:solidFill>
                            <a:srgbClr val="212121"/>
                          </a:solidFill>
                          <a:latin typeface="Arial"/>
                        </a:defRPr>
                      </a:pPr>
                      <a:r>
                        <a:t>  Δ vs GUS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4.5 (−7.2, 16.2)</a:t>
                      </a:r>
                    </a:p>
                  </a:txBody>
                  <a:tcPr/>
                </a:tc>
              </a:tr>
              <a:tr h="386861">
                <a:tc>
                  <a:txBody>
                    <a:bodyPr/>
                    <a:lstStyle/>
                    <a:p>
                      <a:pPr>
                        <a:defRPr sz="950">
                          <a:solidFill>
                            <a:srgbClr val="212121"/>
                          </a:solidFill>
                          <a:latin typeface="Arial"/>
                        </a:defRPr>
                      </a:pPr>
                      <a:r>
                        <a:t>  p-value vs GUS</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p=0.451</a:t>
                      </a:r>
                    </a:p>
                  </a:txBody>
                  <a:tcPr>
                    <a:solidFill>
                      <a:srgbClr val="F5F5F5"/>
                    </a:solidFill>
                  </a:tcPr>
                </a:tc>
              </a:tr>
              <a:tr h="386861">
                <a:tc>
                  <a:txBody>
                    <a:bodyPr/>
                    <a:lstStyle/>
                    <a:p>
                      <a:pPr>
                        <a:defRPr sz="950">
                          <a:solidFill>
                            <a:srgbClr val="212121"/>
                          </a:solidFill>
                          <a:latin typeface="Arial"/>
                        </a:defRPr>
                      </a:pPr>
                      <a:r>
                        <a:t>——— ≥2 Systemic Therapy-IR ———</a:t>
                      </a: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r>
              <a:tr h="386861">
                <a:tc>
                  <a:txBody>
                    <a:bodyPr/>
                    <a:lstStyle/>
                    <a:p>
                      <a:pPr>
                        <a:defRPr sz="950">
                          <a:solidFill>
                            <a:srgbClr val="212121"/>
                          </a:solidFill>
                          <a:latin typeface="Arial"/>
                        </a:defRPr>
                      </a:pPr>
                      <a:r>
                        <a:t>Endoscopic Response (≥2 IR)</a:t>
                      </a:r>
                    </a:p>
                  </a:txBody>
                  <a:tcPr>
                    <a:solidFill>
                      <a:srgbClr val="F5F5F5"/>
                    </a:solidFill>
                  </a:tcPr>
                </a:tc>
                <a:tc>
                  <a:txBody>
                    <a:bodyPr/>
                    <a:lstStyle/>
                    <a:p>
                      <a:pPr>
                        <a:defRPr sz="950">
                          <a:solidFill>
                            <a:srgbClr val="212121"/>
                          </a:solidFill>
                          <a:latin typeface="Arial"/>
                        </a:defRPr>
                      </a:pPr>
                      <a:r>
                        <a:t>2.9%</a:t>
                      </a:r>
                    </a:p>
                  </a:txBody>
                  <a:tcPr>
                    <a:solidFill>
                      <a:srgbClr val="F5F5F5"/>
                    </a:solidFill>
                  </a:tcPr>
                </a:tc>
                <a:tc>
                  <a:txBody>
                    <a:bodyPr/>
                    <a:lstStyle/>
                    <a:p>
                      <a:pPr>
                        <a:defRPr sz="950">
                          <a:solidFill>
                            <a:srgbClr val="212121"/>
                          </a:solidFill>
                          <a:latin typeface="Arial"/>
                        </a:defRPr>
                      </a:pPr>
                      <a:r>
                        <a:t>12.3%</a:t>
                      </a:r>
                    </a:p>
                  </a:txBody>
                  <a:tcPr>
                    <a:solidFill>
                      <a:srgbClr val="F5F5F5"/>
                    </a:solidFill>
                  </a:tcPr>
                </a:tc>
                <a:tc>
                  <a:txBody>
                    <a:bodyPr/>
                    <a:lstStyle/>
                    <a:p>
                      <a:pPr>
                        <a:defRPr sz="950">
                          <a:solidFill>
                            <a:srgbClr val="212121"/>
                          </a:solidFill>
                          <a:latin typeface="Arial"/>
                        </a:defRPr>
                      </a:pPr>
                      <a:r>
                        <a:t>20.0%</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33.3%</a:t>
                      </a:r>
                    </a:p>
                  </a:txBody>
                  <a:tcPr>
                    <a:solidFill>
                      <a:srgbClr val="F5F5F5"/>
                    </a:solidFill>
                  </a:tcPr>
                </a:tc>
              </a:tr>
              <a:tr h="386861">
                <a:tc>
                  <a:txBody>
                    <a:bodyPr/>
                    <a:lstStyle/>
                    <a:p>
                      <a:pPr>
                        <a:defRPr sz="950">
                          <a:solidFill>
                            <a:srgbClr val="212121"/>
                          </a:solidFill>
                          <a:latin typeface="Arial"/>
                        </a:defRPr>
                      </a:pPr>
                      <a:r>
                        <a:t>  Δ vs PBO (95% CI)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35.0 (20.2, 49.7)</a:t>
                      </a:r>
                    </a:p>
                  </a:txBody>
                  <a:tcPr/>
                </a:tc>
              </a:tr>
              <a:tr h="386868">
                <a:tc>
                  <a:txBody>
                    <a:bodyPr/>
                    <a:lstStyle/>
                    <a:p>
                      <a:pPr>
                        <a:defRPr sz="950">
                          <a:solidFill>
                            <a:srgbClr val="212121"/>
                          </a:solidFill>
                          <a:latin typeface="Arial"/>
                        </a:defRPr>
                      </a:pPr>
                      <a:r>
                        <a:t>  Δ vs GUS (95% CI)</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11.7 (−4.3, 27.6)</a:t>
                      </a:r>
                    </a:p>
                  </a:txBody>
                  <a:tcPr>
                    <a:solidFill>
                      <a:srgbClr val="F5F5F5"/>
                    </a:solidFill>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Endoscopic response = &gt;50% SES-CD improvement from baseline or SES-CD ≤2. Central reading.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Endoscopic Response at Week 48 — Overall &amp; ≥2 Systemic Therapy-IR</a:t>
            </a:r>
          </a:p>
        </p:txBody>
      </p:sp>
      <p:pic>
        <p:nvPicPr>
          <p:cNvPr id="4" name="Picture 3" descr="DUET_CD_EndoResponse_Wk48.png"/>
          <p:cNvPicPr>
            <a:picLocks noChangeAspect="1"/>
          </p:cNvPicPr>
          <p:nvPr/>
        </p:nvPicPr>
        <p:blipFill>
          <a:blip r:embed="rId2"/>
          <a:stretch>
            <a:fillRect/>
          </a:stretch>
        </p:blipFill>
        <p:spPr>
          <a:xfrm>
            <a:off x="365760" y="1051560"/>
            <a:ext cx="11430000" cy="5120640"/>
          </a:xfrm>
          <a:prstGeom prst="rect">
            <a:avLst/>
          </a:prstGeom>
        </p:spPr>
      </p:pic>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Endoscopic response = &gt;50% SES-CD improvement or SES-CD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High-Bar Endpoints — ≥2 Systemic Therapy-IR Subgroup at Week 48</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718457">
                <a:tc>
                  <a:txBody>
                    <a:bodyPr/>
                    <a:lstStyle/>
                    <a:p>
                      <a:pPr>
                        <a:defRPr sz="1000" b="1">
                          <a:solidFill>
                            <a:srgbClr val="FFFFFF"/>
                          </a:solidFill>
                          <a:latin typeface="Arial"/>
                        </a:defRPr>
                      </a:pPr>
                      <a:r>
                        <a:t>Endpoint</a:t>
                      </a:r>
                    </a:p>
                  </a:txBody>
                  <a:tcPr>
                    <a:solidFill>
                      <a:srgbClr val="E1251B"/>
                    </a:solidFill>
                  </a:tcPr>
                </a:tc>
                <a:tc>
                  <a:txBody>
                    <a:bodyPr/>
                    <a:lstStyle/>
                    <a:p>
                      <a:pPr>
                        <a:defRPr sz="1000" b="1">
                          <a:solidFill>
                            <a:srgbClr val="FFFFFF"/>
                          </a:solidFill>
                          <a:latin typeface="Arial"/>
                        </a:defRPr>
                      </a:pPr>
                      <a:r>
                        <a:t>PBO</a:t>
                      </a:r>
                    </a:p>
                  </a:txBody>
                  <a:tcPr>
                    <a:solidFill>
                      <a:srgbClr val="E1251B"/>
                    </a:solidFill>
                  </a:tcPr>
                </a:tc>
                <a:tc>
                  <a:txBody>
                    <a:bodyPr/>
                    <a:lstStyle/>
                    <a:p>
                      <a:pPr>
                        <a:defRPr sz="1000" b="1">
                          <a:solidFill>
                            <a:srgbClr val="FFFFFF"/>
                          </a:solidFill>
                          <a:latin typeface="Arial"/>
                        </a:defRPr>
                      </a:pPr>
                      <a:r>
                        <a:t>GOL</a:t>
                      </a:r>
                    </a:p>
                  </a:txBody>
                  <a:tcPr>
                    <a:solidFill>
                      <a:srgbClr val="E1251B"/>
                    </a:solidFill>
                  </a:tcPr>
                </a:tc>
                <a:tc>
                  <a:txBody>
                    <a:bodyPr/>
                    <a:lstStyle/>
                    <a:p>
                      <a:pPr>
                        <a:defRPr sz="1000" b="1">
                          <a:solidFill>
                            <a:srgbClr val="FFFFFF"/>
                          </a:solidFill>
                          <a:latin typeface="Arial"/>
                        </a:defRPr>
                      </a:pPr>
                      <a:r>
                        <a:t>GUS</a:t>
                      </a:r>
                    </a:p>
                  </a:txBody>
                  <a:tcPr>
                    <a:solidFill>
                      <a:srgbClr val="E1251B"/>
                    </a:solidFill>
                  </a:tcPr>
                </a:tc>
                <a:tc>
                  <a:txBody>
                    <a:bodyPr/>
                    <a:lstStyle/>
                    <a:p>
                      <a:pPr>
                        <a:defRPr sz="1000" b="1">
                          <a:solidFill>
                            <a:srgbClr val="FFFFFF"/>
                          </a:solidFill>
                          <a:latin typeface="Arial"/>
                        </a:defRPr>
                      </a:pPr>
                      <a:r>
                        <a:t>JNJ-4804 High</a:t>
                      </a:r>
                    </a:p>
                  </a:txBody>
                  <a:tcPr>
                    <a:solidFill>
                      <a:srgbClr val="E1251B"/>
                    </a:solidFill>
                  </a:tcPr>
                </a:tc>
                <a:tc>
                  <a:txBody>
                    <a:bodyPr/>
                    <a:lstStyle/>
                    <a:p>
                      <a:pPr>
                        <a:defRPr sz="1000" b="1">
                          <a:solidFill>
                            <a:srgbClr val="FFFFFF"/>
                          </a:solidFill>
                          <a:latin typeface="Arial"/>
                        </a:defRPr>
                      </a:pPr>
                      <a:r>
                        <a:t>Δ High vs PBO (95% CI)</a:t>
                      </a:r>
                    </a:p>
                  </a:txBody>
                  <a:tcPr>
                    <a:solidFill>
                      <a:srgbClr val="E1251B"/>
                    </a:solidFill>
                  </a:tcPr>
                </a:tc>
              </a:tr>
              <a:tr h="718457">
                <a:tc>
                  <a:txBody>
                    <a:bodyPr/>
                    <a:lstStyle/>
                    <a:p>
                      <a:pPr>
                        <a:defRPr sz="950">
                          <a:solidFill>
                            <a:srgbClr val="212121"/>
                          </a:solidFill>
                          <a:latin typeface="Arial"/>
                        </a:defRPr>
                      </a:pPr>
                      <a:r>
                        <a:t>Clinical Remission</a:t>
                      </a:r>
                    </a:p>
                  </a:txBody>
                  <a:tcPr/>
                </a:tc>
                <a:tc>
                  <a:txBody>
                    <a:bodyPr/>
                    <a:lstStyle/>
                    <a:p>
                      <a:pPr>
                        <a:defRPr sz="950">
                          <a:solidFill>
                            <a:srgbClr val="212121"/>
                          </a:solidFill>
                          <a:latin typeface="Arial"/>
                        </a:defRPr>
                      </a:pPr>
                      <a:r>
                        <a:t>11.4% (4/35)</a:t>
                      </a:r>
                    </a:p>
                  </a:txBody>
                  <a:tcPr/>
                </a:tc>
                <a:tc>
                  <a:txBody>
                    <a:bodyPr/>
                    <a:lstStyle/>
                    <a:p>
                      <a:pPr>
                        <a:defRPr sz="950">
                          <a:solidFill>
                            <a:srgbClr val="212121"/>
                          </a:solidFill>
                          <a:latin typeface="Arial"/>
                        </a:defRPr>
                      </a:pPr>
                      <a:r>
                        <a:t>23.1% (15/65)</a:t>
                      </a:r>
                    </a:p>
                  </a:txBody>
                  <a:tcPr/>
                </a:tc>
                <a:tc>
                  <a:txBody>
                    <a:bodyPr/>
                    <a:lstStyle/>
                    <a:p>
                      <a:pPr>
                        <a:defRPr sz="950">
                          <a:solidFill>
                            <a:srgbClr val="212121"/>
                          </a:solidFill>
                          <a:latin typeface="Arial"/>
                        </a:defRPr>
                      </a:pPr>
                      <a:r>
                        <a:t>27.3% (15/55)</a:t>
                      </a:r>
                    </a:p>
                  </a:txBody>
                  <a:tcPr/>
                </a:tc>
                <a:tc>
                  <a:txBody>
                    <a:bodyPr/>
                    <a:lstStyle/>
                    <a:p>
                      <a:pPr>
                        <a:defRPr sz="950">
                          <a:solidFill>
                            <a:srgbClr val="212121"/>
                          </a:solidFill>
                          <a:latin typeface="Arial"/>
                        </a:defRPr>
                      </a:pPr>
                      <a:r>
                        <a:t>49.2% (31/63)</a:t>
                      </a:r>
                    </a:p>
                  </a:txBody>
                  <a:tcPr/>
                </a:tc>
                <a:tc>
                  <a:txBody>
                    <a:bodyPr/>
                    <a:lstStyle/>
                    <a:p>
                      <a:pPr>
                        <a:defRPr sz="950">
                          <a:solidFill>
                            <a:srgbClr val="212121"/>
                          </a:solidFill>
                          <a:latin typeface="Arial"/>
                        </a:defRPr>
                      </a:pPr>
                      <a:r>
                        <a:t>39.4 (21.6, 57.3)</a:t>
                      </a:r>
                    </a:p>
                  </a:txBody>
                  <a:tcPr/>
                </a:tc>
              </a:tr>
              <a:tr h="718457">
                <a:tc>
                  <a:txBody>
                    <a:bodyPr/>
                    <a:lstStyle/>
                    <a:p>
                      <a:pPr>
                        <a:defRPr sz="950">
                          <a:solidFill>
                            <a:srgbClr val="212121"/>
                          </a:solidFill>
                          <a:latin typeface="Arial"/>
                        </a:defRPr>
                      </a:pPr>
                      <a:r>
                        <a:t>Endoscopic Response</a:t>
                      </a:r>
                    </a:p>
                  </a:txBody>
                  <a:tcPr>
                    <a:solidFill>
                      <a:srgbClr val="F5F5F5"/>
                    </a:solidFill>
                  </a:tcPr>
                </a:tc>
                <a:tc>
                  <a:txBody>
                    <a:bodyPr/>
                    <a:lstStyle/>
                    <a:p>
                      <a:pPr>
                        <a:defRPr sz="950">
                          <a:solidFill>
                            <a:srgbClr val="212121"/>
                          </a:solidFill>
                          <a:latin typeface="Arial"/>
                        </a:defRPr>
                      </a:pPr>
                      <a:r>
                        <a:t>2.9% (1/35)</a:t>
                      </a:r>
                    </a:p>
                  </a:txBody>
                  <a:tcPr>
                    <a:solidFill>
                      <a:srgbClr val="F5F5F5"/>
                    </a:solidFill>
                  </a:tcPr>
                </a:tc>
                <a:tc>
                  <a:txBody>
                    <a:bodyPr/>
                    <a:lstStyle/>
                    <a:p>
                      <a:pPr>
                        <a:defRPr sz="950">
                          <a:solidFill>
                            <a:srgbClr val="212121"/>
                          </a:solidFill>
                          <a:latin typeface="Arial"/>
                        </a:defRPr>
                      </a:pPr>
                      <a:r>
                        <a:t>12.3% (8/65)</a:t>
                      </a:r>
                    </a:p>
                  </a:txBody>
                  <a:tcPr>
                    <a:solidFill>
                      <a:srgbClr val="F5F5F5"/>
                    </a:solidFill>
                  </a:tcPr>
                </a:tc>
                <a:tc>
                  <a:txBody>
                    <a:bodyPr/>
                    <a:lstStyle/>
                    <a:p>
                      <a:pPr>
                        <a:defRPr sz="950">
                          <a:solidFill>
                            <a:srgbClr val="212121"/>
                          </a:solidFill>
                          <a:latin typeface="Arial"/>
                        </a:defRPr>
                      </a:pPr>
                      <a:r>
                        <a:t>20.0% (11/55)</a:t>
                      </a:r>
                    </a:p>
                  </a:txBody>
                  <a:tcPr>
                    <a:solidFill>
                      <a:srgbClr val="F5F5F5"/>
                    </a:solidFill>
                  </a:tcPr>
                </a:tc>
                <a:tc>
                  <a:txBody>
                    <a:bodyPr/>
                    <a:lstStyle/>
                    <a:p>
                      <a:pPr>
                        <a:defRPr sz="950">
                          <a:solidFill>
                            <a:srgbClr val="212121"/>
                          </a:solidFill>
                          <a:latin typeface="Arial"/>
                        </a:defRPr>
                      </a:pPr>
                      <a:r>
                        <a:t>33.3% (21/63)</a:t>
                      </a:r>
                    </a:p>
                  </a:txBody>
                  <a:tcPr>
                    <a:solidFill>
                      <a:srgbClr val="F5F5F5"/>
                    </a:solidFill>
                  </a:tcPr>
                </a:tc>
                <a:tc>
                  <a:txBody>
                    <a:bodyPr/>
                    <a:lstStyle/>
                    <a:p>
                      <a:pPr>
                        <a:defRPr sz="950">
                          <a:solidFill>
                            <a:srgbClr val="212121"/>
                          </a:solidFill>
                          <a:latin typeface="Arial"/>
                        </a:defRPr>
                      </a:pPr>
                      <a:r>
                        <a:t>35.0 (20.2, 49.7)</a:t>
                      </a:r>
                    </a:p>
                  </a:txBody>
                  <a:tcPr>
                    <a:solidFill>
                      <a:srgbClr val="F5F5F5"/>
                    </a:solidFill>
                  </a:tcPr>
                </a:tc>
              </a:tr>
              <a:tr h="718457">
                <a:tc>
                  <a:txBody>
                    <a:bodyPr/>
                    <a:lstStyle/>
                    <a:p>
                      <a:pPr>
                        <a:defRPr sz="950">
                          <a:solidFill>
                            <a:srgbClr val="212121"/>
                          </a:solidFill>
                          <a:latin typeface="Arial"/>
                        </a:defRPr>
                      </a:pPr>
                      <a:r>
                        <a:t>CS-free Clinical Remission</a:t>
                      </a:r>
                    </a:p>
                  </a:txBody>
                  <a:tcPr/>
                </a:tc>
                <a:tc>
                  <a:txBody>
                    <a:bodyPr/>
                    <a:lstStyle/>
                    <a:p>
                      <a:pPr>
                        <a:defRPr sz="950">
                          <a:solidFill>
                            <a:srgbClr val="212121"/>
                          </a:solidFill>
                          <a:latin typeface="Arial"/>
                        </a:defRPr>
                      </a:pPr>
                      <a:r>
                        <a:t>11.4% (4/35)</a:t>
                      </a:r>
                    </a:p>
                  </a:txBody>
                  <a:tcPr/>
                </a:tc>
                <a:tc>
                  <a:txBody>
                    <a:bodyPr/>
                    <a:lstStyle/>
                    <a:p>
                      <a:pPr>
                        <a:defRPr sz="950">
                          <a:solidFill>
                            <a:srgbClr val="212121"/>
                          </a:solidFill>
                          <a:latin typeface="Arial"/>
                        </a:defRPr>
                      </a:pPr>
                      <a:r>
                        <a:t>21.5% (14/65)</a:t>
                      </a:r>
                    </a:p>
                  </a:txBody>
                  <a:tcPr/>
                </a:tc>
                <a:tc>
                  <a:txBody>
                    <a:bodyPr/>
                    <a:lstStyle/>
                    <a:p>
                      <a:pPr>
                        <a:defRPr sz="950">
                          <a:solidFill>
                            <a:srgbClr val="212121"/>
                          </a:solidFill>
                          <a:latin typeface="Arial"/>
                        </a:defRPr>
                      </a:pPr>
                      <a:r>
                        <a:t>27.3% (15/55)</a:t>
                      </a:r>
                    </a:p>
                  </a:txBody>
                  <a:tcPr/>
                </a:tc>
                <a:tc>
                  <a:txBody>
                    <a:bodyPr/>
                    <a:lstStyle/>
                    <a:p>
                      <a:pPr>
                        <a:defRPr sz="950">
                          <a:solidFill>
                            <a:srgbClr val="212121"/>
                          </a:solidFill>
                          <a:latin typeface="Arial"/>
                        </a:defRPr>
                      </a:pPr>
                      <a:r>
                        <a:t>46.0% (29/63)</a:t>
                      </a:r>
                    </a:p>
                  </a:txBody>
                  <a:tcPr/>
                </a:tc>
                <a:tc>
                  <a:txBody>
                    <a:bodyPr/>
                    <a:lstStyle/>
                    <a:p>
                      <a:pPr>
                        <a:defRPr sz="950">
                          <a:solidFill>
                            <a:srgbClr val="212121"/>
                          </a:solidFill>
                          <a:latin typeface="Arial"/>
                        </a:defRPr>
                      </a:pPr>
                      <a:r>
                        <a:t>37.2 (18.5, 55.8)</a:t>
                      </a:r>
                    </a:p>
                  </a:txBody>
                  <a:tcPr/>
                </a:tc>
              </a:tr>
              <a:tr h="718457">
                <a:tc>
                  <a:txBody>
                    <a:bodyPr/>
                    <a:lstStyle/>
                    <a:p>
                      <a:pPr>
                        <a:defRPr sz="950">
                          <a:solidFill>
                            <a:srgbClr val="212121"/>
                          </a:solidFill>
                          <a:latin typeface="Arial"/>
                        </a:defRPr>
                      </a:pPr>
                      <a:r>
                        <a:t>Endoscopic Remission</a:t>
                      </a:r>
                    </a:p>
                  </a:txBody>
                  <a:tcPr>
                    <a:solidFill>
                      <a:srgbClr val="F5F5F5"/>
                    </a:solidFill>
                  </a:tcPr>
                </a:tc>
                <a:tc>
                  <a:txBody>
                    <a:bodyPr/>
                    <a:lstStyle/>
                    <a:p>
                      <a:pPr>
                        <a:defRPr sz="950">
                          <a:solidFill>
                            <a:srgbClr val="212121"/>
                          </a:solidFill>
                          <a:latin typeface="Arial"/>
                        </a:defRPr>
                      </a:pPr>
                      <a:r>
                        <a:t>2.9% (1/35)</a:t>
                      </a:r>
                    </a:p>
                  </a:txBody>
                  <a:tcPr>
                    <a:solidFill>
                      <a:srgbClr val="F5F5F5"/>
                    </a:solidFill>
                  </a:tcPr>
                </a:tc>
                <a:tc>
                  <a:txBody>
                    <a:bodyPr/>
                    <a:lstStyle/>
                    <a:p>
                      <a:pPr>
                        <a:defRPr sz="950">
                          <a:solidFill>
                            <a:srgbClr val="212121"/>
                          </a:solidFill>
                          <a:latin typeface="Arial"/>
                        </a:defRPr>
                      </a:pPr>
                      <a:r>
                        <a:t>7.7% (5/65)</a:t>
                      </a:r>
                    </a:p>
                  </a:txBody>
                  <a:tcPr>
                    <a:solidFill>
                      <a:srgbClr val="F5F5F5"/>
                    </a:solidFill>
                  </a:tcPr>
                </a:tc>
                <a:tc>
                  <a:txBody>
                    <a:bodyPr/>
                    <a:lstStyle/>
                    <a:p>
                      <a:pPr>
                        <a:defRPr sz="950">
                          <a:solidFill>
                            <a:srgbClr val="212121"/>
                          </a:solidFill>
                          <a:latin typeface="Arial"/>
                        </a:defRPr>
                      </a:pPr>
                      <a:r>
                        <a:t>7.3% (4/55)</a:t>
                      </a:r>
                    </a:p>
                  </a:txBody>
                  <a:tcPr>
                    <a:solidFill>
                      <a:srgbClr val="F5F5F5"/>
                    </a:solidFill>
                  </a:tcPr>
                </a:tc>
                <a:tc>
                  <a:txBody>
                    <a:bodyPr/>
                    <a:lstStyle/>
                    <a:p>
                      <a:pPr>
                        <a:defRPr sz="950">
                          <a:solidFill>
                            <a:srgbClr val="212121"/>
                          </a:solidFill>
                          <a:latin typeface="Arial"/>
                        </a:defRPr>
                      </a:pPr>
                      <a:r>
                        <a:t>23.8% (15/63)</a:t>
                      </a:r>
                    </a:p>
                  </a:txBody>
                  <a:tcPr>
                    <a:solidFill>
                      <a:srgbClr val="F5F5F5"/>
                    </a:solidFill>
                  </a:tcPr>
                </a:tc>
                <a:tc>
                  <a:txBody>
                    <a:bodyPr/>
                    <a:lstStyle/>
                    <a:p>
                      <a:pPr>
                        <a:defRPr sz="950">
                          <a:solidFill>
                            <a:srgbClr val="212121"/>
                          </a:solidFill>
                          <a:latin typeface="Arial"/>
                        </a:defRPr>
                      </a:pPr>
                      <a:r>
                        <a:t>21.2 (8.0, 34.3)</a:t>
                      </a:r>
                    </a:p>
                  </a:txBody>
                  <a:tcPr>
                    <a:solidFill>
                      <a:srgbClr val="F5F5F5"/>
                    </a:solidFill>
                  </a:tcPr>
                </a:tc>
              </a:tr>
              <a:tr h="718457">
                <a:tc>
                  <a:txBody>
                    <a:bodyPr/>
                    <a:lstStyle/>
                    <a:p>
                      <a:pPr>
                        <a:defRPr sz="950">
                          <a:solidFill>
                            <a:srgbClr val="212121"/>
                          </a:solidFill>
                          <a:latin typeface="Arial"/>
                        </a:defRPr>
                      </a:pPr>
                      <a:r>
                        <a:t>Deep Remission</a:t>
                      </a:r>
                    </a:p>
                  </a:txBody>
                  <a:tcPr/>
                </a:tc>
                <a:tc>
                  <a:txBody>
                    <a:bodyPr/>
                    <a:lstStyle/>
                    <a:p>
                      <a:pPr>
                        <a:defRPr sz="950">
                          <a:solidFill>
                            <a:srgbClr val="212121"/>
                          </a:solidFill>
                          <a:latin typeface="Arial"/>
                        </a:defRPr>
                      </a:pPr>
                      <a:r>
                        <a:t>0% (0/35)</a:t>
                      </a:r>
                    </a:p>
                  </a:txBody>
                  <a:tcPr/>
                </a:tc>
                <a:tc>
                  <a:txBody>
                    <a:bodyPr/>
                    <a:lstStyle/>
                    <a:p>
                      <a:pPr>
                        <a:defRPr sz="950">
                          <a:solidFill>
                            <a:srgbClr val="212121"/>
                          </a:solidFill>
                          <a:latin typeface="Arial"/>
                        </a:defRPr>
                      </a:pPr>
                      <a:r>
                        <a:t>6.2% (4/65)</a:t>
                      </a:r>
                    </a:p>
                  </a:txBody>
                  <a:tcPr/>
                </a:tc>
                <a:tc>
                  <a:txBody>
                    <a:bodyPr/>
                    <a:lstStyle/>
                    <a:p>
                      <a:pPr>
                        <a:defRPr sz="950">
                          <a:solidFill>
                            <a:srgbClr val="212121"/>
                          </a:solidFill>
                          <a:latin typeface="Arial"/>
                        </a:defRPr>
                      </a:pPr>
                      <a:r>
                        <a:t>5.5% (3/55)</a:t>
                      </a:r>
                    </a:p>
                  </a:txBody>
                  <a:tcPr/>
                </a:tc>
                <a:tc>
                  <a:txBody>
                    <a:bodyPr/>
                    <a:lstStyle/>
                    <a:p>
                      <a:pPr>
                        <a:defRPr sz="950">
                          <a:solidFill>
                            <a:srgbClr val="212121"/>
                          </a:solidFill>
                          <a:latin typeface="Arial"/>
                        </a:defRPr>
                      </a:pPr>
                      <a:r>
                        <a:t>20.6% (13/63)</a:t>
                      </a:r>
                    </a:p>
                  </a:txBody>
                  <a:tcPr/>
                </a:tc>
                <a:tc>
                  <a:txBody>
                    <a:bodyPr/>
                    <a:lstStyle/>
                    <a:p>
                      <a:pPr>
                        <a:defRPr sz="950">
                          <a:solidFill>
                            <a:srgbClr val="212121"/>
                          </a:solidFill>
                          <a:latin typeface="Arial"/>
                        </a:defRPr>
                      </a:pPr>
                      <a:r>
                        <a:t>20.1 (8.8, 31.4)</a:t>
                      </a:r>
                    </a:p>
                  </a:txBody>
                  <a:tcPr/>
                </a:tc>
              </a:tr>
              <a:tr h="718458">
                <a:tc>
                  <a:txBody>
                    <a:bodyPr/>
                    <a:lstStyle/>
                    <a:p>
                      <a:pPr>
                        <a:defRPr sz="950">
                          <a:solidFill>
                            <a:srgbClr val="212121"/>
                          </a:solidFill>
                          <a:latin typeface="Arial"/>
                        </a:defRPr>
                      </a:pPr>
                      <a:r>
                        <a:t>% of remitters CS-free</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93.5% (29/31)</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CS-free = no corticosteroids for ≥60 days. Endoscopic remission = SES-CD ≤4. Deep remission = clinical remission + endoscopic remission.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DUET-CD: Endoscopic &amp; Deep Remission — ≥2 Systemic Therapy-IR at Week 48</a:t>
            </a:r>
          </a:p>
        </p:txBody>
      </p:sp>
      <p:pic>
        <p:nvPicPr>
          <p:cNvPr id="4" name="Picture 3" descr="DUET_CD_DeepRemission_Wk48.png"/>
          <p:cNvPicPr>
            <a:picLocks noChangeAspect="1"/>
          </p:cNvPicPr>
          <p:nvPr/>
        </p:nvPicPr>
        <p:blipFill>
          <a:blip r:embed="rId2"/>
          <a:stretch>
            <a:fillRect/>
          </a:stretch>
        </p:blipFill>
        <p:spPr>
          <a:xfrm>
            <a:off x="365760" y="1051560"/>
            <a:ext cx="11430000" cy="5120640"/>
          </a:xfrm>
          <a:prstGeom prst="rect">
            <a:avLst/>
          </a:prstGeom>
        </p:spPr>
      </p:pic>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 Endoscopic remission = SES-CD ≤4. Deep remission = clinical remission + endoscopic remission.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Safety Summary: DUET-UC &amp; DUET-CD Through Week 48</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335280">
                <a:tc>
                  <a:txBody>
                    <a:bodyPr/>
                    <a:lstStyle/>
                    <a:p>
                      <a:pPr>
                        <a:defRPr sz="1000" b="1">
                          <a:solidFill>
                            <a:srgbClr val="FFFFFF"/>
                          </a:solidFill>
                          <a:latin typeface="Arial"/>
                        </a:defRPr>
                      </a:pPr>
                      <a:r>
                        <a:t>AE Category (per 100 PY)</a:t>
                      </a:r>
                    </a:p>
                  </a:txBody>
                  <a:tcPr>
                    <a:solidFill>
                      <a:srgbClr val="E1251B"/>
                    </a:solidFill>
                  </a:tcPr>
                </a:tc>
                <a:tc>
                  <a:txBody>
                    <a:bodyPr/>
                    <a:lstStyle/>
                    <a:p>
                      <a:pPr>
                        <a:defRPr sz="1000" b="1">
                          <a:solidFill>
                            <a:srgbClr val="FFFFFF"/>
                          </a:solidFill>
                          <a:latin typeface="Arial"/>
                        </a:defRPr>
                      </a:pPr>
                      <a:r>
                        <a:t>PBO</a:t>
                      </a:r>
                    </a:p>
                  </a:txBody>
                  <a:tcPr>
                    <a:solidFill>
                      <a:srgbClr val="E1251B"/>
                    </a:solidFill>
                  </a:tcPr>
                </a:tc>
                <a:tc>
                  <a:txBody>
                    <a:bodyPr/>
                    <a:lstStyle/>
                    <a:p>
                      <a:pPr>
                        <a:defRPr sz="1000" b="1">
                          <a:solidFill>
                            <a:srgbClr val="FFFFFF"/>
                          </a:solidFill>
                          <a:latin typeface="Arial"/>
                        </a:defRPr>
                      </a:pPr>
                      <a:r>
                        <a:t>GOL</a:t>
                      </a:r>
                    </a:p>
                  </a:txBody>
                  <a:tcPr>
                    <a:solidFill>
                      <a:srgbClr val="E1251B"/>
                    </a:solidFill>
                  </a:tcPr>
                </a:tc>
                <a:tc>
                  <a:txBody>
                    <a:bodyPr/>
                    <a:lstStyle/>
                    <a:p>
                      <a:pPr>
                        <a:defRPr sz="1000" b="1">
                          <a:solidFill>
                            <a:srgbClr val="FFFFFF"/>
                          </a:solidFill>
                          <a:latin typeface="Arial"/>
                        </a:defRPr>
                      </a:pPr>
                      <a:r>
                        <a:t>GUS</a:t>
                      </a:r>
                    </a:p>
                  </a:txBody>
                  <a:tcPr>
                    <a:solidFill>
                      <a:srgbClr val="E1251B"/>
                    </a:solidFill>
                  </a:tcPr>
                </a:tc>
                <a:tc>
                  <a:txBody>
                    <a:bodyPr/>
                    <a:lstStyle/>
                    <a:p>
                      <a:pPr>
                        <a:defRPr sz="1000" b="1">
                          <a:solidFill>
                            <a:srgbClr val="FFFFFF"/>
                          </a:solidFill>
                          <a:latin typeface="Arial"/>
                        </a:defRPr>
                      </a:pPr>
                      <a:r>
                        <a:t>JNJ-4804 High</a:t>
                      </a:r>
                    </a:p>
                  </a:txBody>
                  <a:tcPr>
                    <a:solidFill>
                      <a:srgbClr val="E1251B"/>
                    </a:solidFill>
                  </a:tcPr>
                </a:tc>
                <a:tc>
                  <a:txBody>
                    <a:bodyPr/>
                    <a:lstStyle/>
                    <a:p>
                      <a:pPr>
                        <a:defRPr sz="1000" b="1">
                          <a:solidFill>
                            <a:srgbClr val="FFFFFF"/>
                          </a:solidFill>
                          <a:latin typeface="Arial"/>
                        </a:defRPr>
                      </a:pPr>
                      <a:r>
                        <a:t>JNJ-4804 Combined</a:t>
                      </a:r>
                    </a:p>
                  </a:txBody>
                  <a:tcPr>
                    <a:solidFill>
                      <a:srgbClr val="E1251B"/>
                    </a:solidFill>
                  </a:tcPr>
                </a:tc>
              </a:tr>
              <a:tr h="335280">
                <a:tc>
                  <a:txBody>
                    <a:bodyPr/>
                    <a:lstStyle/>
                    <a:p>
                      <a:pPr>
                        <a:defRPr sz="950">
                          <a:solidFill>
                            <a:srgbClr val="212121"/>
                          </a:solidFill>
                          <a:latin typeface="Arial"/>
                        </a:defRPr>
                      </a:pPr>
                      <a:r>
                        <a:t>——— DUET-UC ———</a:t>
                      </a: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c>
                  <a:txBody>
                    <a:bodyPr/>
                    <a:lstStyle/>
                    <a:p>
                      <a:pPr>
                        <a:defRPr sz="950">
                          <a:solidFill>
                            <a:srgbClr val="212121"/>
                          </a:solidFill>
                          <a:latin typeface="Arial"/>
                        </a:defRPr>
                      </a:pPr>
                    </a:p>
                  </a:txBody>
                  <a:tcPr/>
                </a:tc>
              </a:tr>
              <a:tr h="335280">
                <a:tc>
                  <a:txBody>
                    <a:bodyPr/>
                    <a:lstStyle/>
                    <a:p>
                      <a:pPr>
                        <a:defRPr sz="950">
                          <a:solidFill>
                            <a:srgbClr val="212121"/>
                          </a:solidFill>
                          <a:latin typeface="Arial"/>
                        </a:defRPr>
                      </a:pPr>
                      <a:r>
                        <a:t>Safety analysis set (n)</a:t>
                      </a:r>
                    </a:p>
                  </a:txBody>
                  <a:tcPr>
                    <a:solidFill>
                      <a:srgbClr val="F5F5F5"/>
                    </a:solidFill>
                  </a:tcPr>
                </a:tc>
                <a:tc>
                  <a:txBody>
                    <a:bodyPr/>
                    <a:lstStyle/>
                    <a:p>
                      <a:pPr>
                        <a:defRPr sz="950">
                          <a:solidFill>
                            <a:srgbClr val="212121"/>
                          </a:solidFill>
                          <a:latin typeface="Arial"/>
                        </a:defRPr>
                      </a:pPr>
                      <a:r>
                        <a:t>52</a:t>
                      </a:r>
                    </a:p>
                  </a:txBody>
                  <a:tcPr>
                    <a:solidFill>
                      <a:srgbClr val="F5F5F5"/>
                    </a:solidFill>
                  </a:tcPr>
                </a:tc>
                <a:tc>
                  <a:txBody>
                    <a:bodyPr/>
                    <a:lstStyle/>
                    <a:p>
                      <a:pPr>
                        <a:defRPr sz="950">
                          <a:solidFill>
                            <a:srgbClr val="212121"/>
                          </a:solidFill>
                          <a:latin typeface="Arial"/>
                        </a:defRPr>
                      </a:pPr>
                      <a:r>
                        <a:t>104</a:t>
                      </a:r>
                    </a:p>
                  </a:txBody>
                  <a:tcPr>
                    <a:solidFill>
                      <a:srgbClr val="F5F5F5"/>
                    </a:solidFill>
                  </a:tcPr>
                </a:tc>
                <a:tc>
                  <a:txBody>
                    <a:bodyPr/>
                    <a:lstStyle/>
                    <a:p>
                      <a:pPr>
                        <a:defRPr sz="950">
                          <a:solidFill>
                            <a:srgbClr val="212121"/>
                          </a:solidFill>
                          <a:latin typeface="Arial"/>
                        </a:defRPr>
                      </a:pPr>
                      <a:r>
                        <a:t>103</a:t>
                      </a:r>
                    </a:p>
                  </a:txBody>
                  <a:tcPr>
                    <a:solidFill>
                      <a:srgbClr val="F5F5F5"/>
                    </a:solidFill>
                  </a:tcPr>
                </a:tc>
                <a:tc>
                  <a:txBody>
                    <a:bodyPr/>
                    <a:lstStyle/>
                    <a:p>
                      <a:pPr>
                        <a:defRPr sz="950">
                          <a:solidFill>
                            <a:srgbClr val="212121"/>
                          </a:solidFill>
                          <a:latin typeface="Arial"/>
                        </a:defRPr>
                      </a:pPr>
                      <a:r>
                        <a:t>105</a:t>
                      </a:r>
                    </a:p>
                  </a:txBody>
                  <a:tcPr>
                    <a:solidFill>
                      <a:srgbClr val="F5F5F5"/>
                    </a:solidFill>
                  </a:tcPr>
                </a:tc>
                <a:tc>
                  <a:txBody>
                    <a:bodyPr/>
                    <a:lstStyle/>
                    <a:p>
                      <a:pPr>
                        <a:defRPr sz="950">
                          <a:solidFill>
                            <a:srgbClr val="212121"/>
                          </a:solidFill>
                          <a:latin typeface="Arial"/>
                        </a:defRPr>
                      </a:pPr>
                      <a:r>
                        <a:t>313</a:t>
                      </a:r>
                    </a:p>
                  </a:txBody>
                  <a:tcPr>
                    <a:solidFill>
                      <a:srgbClr val="F5F5F5"/>
                    </a:solidFill>
                  </a:tcPr>
                </a:tc>
              </a:tr>
              <a:tr h="335280">
                <a:tc>
                  <a:txBody>
                    <a:bodyPr/>
                    <a:lstStyle/>
                    <a:p>
                      <a:pPr>
                        <a:defRPr sz="950">
                          <a:solidFill>
                            <a:srgbClr val="212121"/>
                          </a:solidFill>
                          <a:latin typeface="Arial"/>
                        </a:defRPr>
                      </a:pPr>
                      <a:r>
                        <a:t>Any AE</a:t>
                      </a:r>
                    </a:p>
                  </a:txBody>
                  <a:tcPr/>
                </a:tc>
                <a:tc>
                  <a:txBody>
                    <a:bodyPr/>
                    <a:lstStyle/>
                    <a:p>
                      <a:pPr>
                        <a:defRPr sz="950">
                          <a:solidFill>
                            <a:srgbClr val="212121"/>
                          </a:solidFill>
                          <a:latin typeface="Arial"/>
                        </a:defRPr>
                      </a:pPr>
                      <a:r>
                        <a:t>490.2</a:t>
                      </a:r>
                    </a:p>
                  </a:txBody>
                  <a:tcPr/>
                </a:tc>
                <a:tc>
                  <a:txBody>
                    <a:bodyPr/>
                    <a:lstStyle/>
                    <a:p>
                      <a:pPr>
                        <a:defRPr sz="950">
                          <a:solidFill>
                            <a:srgbClr val="212121"/>
                          </a:solidFill>
                          <a:latin typeface="Arial"/>
                        </a:defRPr>
                      </a:pPr>
                      <a:r>
                        <a:t>449.2</a:t>
                      </a:r>
                    </a:p>
                  </a:txBody>
                  <a:tcPr/>
                </a:tc>
                <a:tc>
                  <a:txBody>
                    <a:bodyPr/>
                    <a:lstStyle/>
                    <a:p>
                      <a:pPr>
                        <a:defRPr sz="950">
                          <a:solidFill>
                            <a:srgbClr val="212121"/>
                          </a:solidFill>
                          <a:latin typeface="Arial"/>
                        </a:defRPr>
                      </a:pPr>
                      <a:r>
                        <a:t>419.0</a:t>
                      </a:r>
                    </a:p>
                  </a:txBody>
                  <a:tcPr/>
                </a:tc>
                <a:tc>
                  <a:txBody>
                    <a:bodyPr/>
                    <a:lstStyle/>
                    <a:p>
                      <a:pPr>
                        <a:defRPr sz="950">
                          <a:solidFill>
                            <a:srgbClr val="212121"/>
                          </a:solidFill>
                          <a:latin typeface="Arial"/>
                        </a:defRPr>
                      </a:pPr>
                      <a:r>
                        <a:t>490.1</a:t>
                      </a:r>
                    </a:p>
                  </a:txBody>
                  <a:tcPr/>
                </a:tc>
                <a:tc>
                  <a:txBody>
                    <a:bodyPr/>
                    <a:lstStyle/>
                    <a:p>
                      <a:pPr>
                        <a:defRPr sz="950">
                          <a:solidFill>
                            <a:srgbClr val="212121"/>
                          </a:solidFill>
                          <a:latin typeface="Arial"/>
                        </a:defRPr>
                      </a:pPr>
                      <a:r>
                        <a:t>429.7</a:t>
                      </a:r>
                    </a:p>
                  </a:txBody>
                  <a:tcPr/>
                </a:tc>
              </a:tr>
              <a:tr h="335280">
                <a:tc>
                  <a:txBody>
                    <a:bodyPr/>
                    <a:lstStyle/>
                    <a:p>
                      <a:pPr>
                        <a:defRPr sz="950">
                          <a:solidFill>
                            <a:srgbClr val="212121"/>
                          </a:solidFill>
                          <a:latin typeface="Arial"/>
                        </a:defRPr>
                      </a:pPr>
                      <a:r>
                        <a:t>SAEs</a:t>
                      </a:r>
                    </a:p>
                  </a:txBody>
                  <a:tcPr>
                    <a:solidFill>
                      <a:srgbClr val="F5F5F5"/>
                    </a:solidFill>
                  </a:tcPr>
                </a:tc>
                <a:tc>
                  <a:txBody>
                    <a:bodyPr/>
                    <a:lstStyle/>
                    <a:p>
                      <a:pPr>
                        <a:defRPr sz="950">
                          <a:solidFill>
                            <a:srgbClr val="212121"/>
                          </a:solidFill>
                          <a:latin typeface="Arial"/>
                        </a:defRPr>
                      </a:pPr>
                      <a:r>
                        <a:t>27.5</a:t>
                      </a:r>
                    </a:p>
                  </a:txBody>
                  <a:tcPr>
                    <a:solidFill>
                      <a:srgbClr val="F5F5F5"/>
                    </a:solidFill>
                  </a:tcPr>
                </a:tc>
                <a:tc>
                  <a:txBody>
                    <a:bodyPr/>
                    <a:lstStyle/>
                    <a:p>
                      <a:pPr>
                        <a:defRPr sz="950">
                          <a:solidFill>
                            <a:srgbClr val="212121"/>
                          </a:solidFill>
                          <a:latin typeface="Arial"/>
                        </a:defRPr>
                      </a:pPr>
                      <a:r>
                        <a:t>21.5</a:t>
                      </a:r>
                    </a:p>
                  </a:txBody>
                  <a:tcPr>
                    <a:solidFill>
                      <a:srgbClr val="F5F5F5"/>
                    </a:solidFill>
                  </a:tcPr>
                </a:tc>
                <a:tc>
                  <a:txBody>
                    <a:bodyPr/>
                    <a:lstStyle/>
                    <a:p>
                      <a:pPr>
                        <a:defRPr sz="950">
                          <a:solidFill>
                            <a:srgbClr val="212121"/>
                          </a:solidFill>
                          <a:latin typeface="Arial"/>
                        </a:defRPr>
                      </a:pPr>
                      <a:r>
                        <a:t>9.6</a:t>
                      </a:r>
                    </a:p>
                  </a:txBody>
                  <a:tcPr>
                    <a:solidFill>
                      <a:srgbClr val="F5F5F5"/>
                    </a:solidFill>
                  </a:tcPr>
                </a:tc>
                <a:tc>
                  <a:txBody>
                    <a:bodyPr/>
                    <a:lstStyle/>
                    <a:p>
                      <a:pPr>
                        <a:defRPr sz="950">
                          <a:solidFill>
                            <a:srgbClr val="212121"/>
                          </a:solidFill>
                          <a:latin typeface="Arial"/>
                        </a:defRPr>
                      </a:pPr>
                      <a:r>
                        <a:t>10.6</a:t>
                      </a:r>
                    </a:p>
                  </a:txBody>
                  <a:tcPr>
                    <a:solidFill>
                      <a:srgbClr val="F5F5F5"/>
                    </a:solidFill>
                  </a:tcPr>
                </a:tc>
                <a:tc>
                  <a:txBody>
                    <a:bodyPr/>
                    <a:lstStyle/>
                    <a:p>
                      <a:pPr>
                        <a:defRPr sz="950">
                          <a:solidFill>
                            <a:srgbClr val="212121"/>
                          </a:solidFill>
                          <a:latin typeface="Arial"/>
                        </a:defRPr>
                      </a:pPr>
                      <a:r>
                        <a:t>13.7</a:t>
                      </a:r>
                    </a:p>
                  </a:txBody>
                  <a:tcPr>
                    <a:solidFill>
                      <a:srgbClr val="F5F5F5"/>
                    </a:solidFill>
                  </a:tcPr>
                </a:tc>
              </a:tr>
              <a:tr h="335280">
                <a:tc>
                  <a:txBody>
                    <a:bodyPr/>
                    <a:lstStyle/>
                    <a:p>
                      <a:pPr>
                        <a:defRPr sz="950">
                          <a:solidFill>
                            <a:srgbClr val="212121"/>
                          </a:solidFill>
                          <a:latin typeface="Arial"/>
                        </a:defRPr>
                      </a:pPr>
                      <a:r>
                        <a:t>AEs → discontinuation</a:t>
                      </a:r>
                    </a:p>
                  </a:txBody>
                  <a:tcPr/>
                </a:tc>
                <a:tc>
                  <a:txBody>
                    <a:bodyPr/>
                    <a:lstStyle/>
                    <a:p>
                      <a:pPr>
                        <a:defRPr sz="950">
                          <a:solidFill>
                            <a:srgbClr val="212121"/>
                          </a:solidFill>
                          <a:latin typeface="Arial"/>
                        </a:defRPr>
                      </a:pPr>
                      <a:r>
                        <a:t>27.5</a:t>
                      </a:r>
                    </a:p>
                  </a:txBody>
                  <a:tcPr/>
                </a:tc>
                <a:tc>
                  <a:txBody>
                    <a:bodyPr/>
                    <a:lstStyle/>
                    <a:p>
                      <a:pPr>
                        <a:defRPr sz="950">
                          <a:solidFill>
                            <a:srgbClr val="212121"/>
                          </a:solidFill>
                          <a:latin typeface="Arial"/>
                        </a:defRPr>
                      </a:pPr>
                      <a:r>
                        <a:t>18.5</a:t>
                      </a:r>
                    </a:p>
                  </a:txBody>
                  <a:tcPr/>
                </a:tc>
                <a:tc>
                  <a:txBody>
                    <a:bodyPr/>
                    <a:lstStyle/>
                    <a:p>
                      <a:pPr>
                        <a:defRPr sz="950">
                          <a:solidFill>
                            <a:srgbClr val="212121"/>
                          </a:solidFill>
                          <a:latin typeface="Arial"/>
                        </a:defRPr>
                      </a:pPr>
                      <a:r>
                        <a:t>5.5</a:t>
                      </a:r>
                    </a:p>
                  </a:txBody>
                  <a:tcPr/>
                </a:tc>
                <a:tc>
                  <a:txBody>
                    <a:bodyPr/>
                    <a:lstStyle/>
                    <a:p>
                      <a:pPr>
                        <a:defRPr sz="950">
                          <a:solidFill>
                            <a:srgbClr val="212121"/>
                          </a:solidFill>
                          <a:latin typeface="Arial"/>
                        </a:defRPr>
                      </a:pPr>
                      <a:r>
                        <a:t>3.5</a:t>
                      </a:r>
                    </a:p>
                  </a:txBody>
                  <a:tcPr/>
                </a:tc>
                <a:tc>
                  <a:txBody>
                    <a:bodyPr/>
                    <a:lstStyle/>
                    <a:p>
                      <a:pPr>
                        <a:defRPr sz="950">
                          <a:solidFill>
                            <a:srgbClr val="212121"/>
                          </a:solidFill>
                          <a:latin typeface="Arial"/>
                        </a:defRPr>
                      </a:pPr>
                      <a:r>
                        <a:t>7.3</a:t>
                      </a:r>
                    </a:p>
                  </a:txBody>
                  <a:tcPr/>
                </a:tc>
              </a:tr>
              <a:tr h="335280">
                <a:tc>
                  <a:txBody>
                    <a:bodyPr/>
                    <a:lstStyle/>
                    <a:p>
                      <a:pPr>
                        <a:defRPr sz="950">
                          <a:solidFill>
                            <a:srgbClr val="212121"/>
                          </a:solidFill>
                          <a:latin typeface="Arial"/>
                        </a:defRPr>
                      </a:pPr>
                      <a:r>
                        <a:t>Serious infections</a:t>
                      </a:r>
                    </a:p>
                  </a:txBody>
                  <a:tcPr>
                    <a:solidFill>
                      <a:srgbClr val="F5F5F5"/>
                    </a:solidFill>
                  </a:tcPr>
                </a:tc>
                <a:tc>
                  <a:txBody>
                    <a:bodyPr/>
                    <a:lstStyle/>
                    <a:p>
                      <a:pPr>
                        <a:defRPr sz="950">
                          <a:solidFill>
                            <a:srgbClr val="212121"/>
                          </a:solidFill>
                          <a:latin typeface="Arial"/>
                        </a:defRPr>
                      </a:pPr>
                      <a:r>
                        <a:t>3.9</a:t>
                      </a:r>
                    </a:p>
                  </a:txBody>
                  <a:tcPr>
                    <a:solidFill>
                      <a:srgbClr val="F5F5F5"/>
                    </a:solidFill>
                  </a:tcPr>
                </a:tc>
                <a:tc>
                  <a:txBody>
                    <a:bodyPr/>
                    <a:lstStyle/>
                    <a:p>
                      <a:pPr>
                        <a:defRPr sz="950">
                          <a:solidFill>
                            <a:srgbClr val="212121"/>
                          </a:solidFill>
                          <a:latin typeface="Arial"/>
                        </a:defRPr>
                      </a:pPr>
                      <a:r>
                        <a:t>7.7</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tc>
                  <a:txBody>
                    <a:bodyPr/>
                    <a:lstStyle/>
                    <a:p>
                      <a:pPr>
                        <a:defRPr sz="950">
                          <a:solidFill>
                            <a:srgbClr val="212121"/>
                          </a:solidFill>
                          <a:latin typeface="Arial"/>
                        </a:defRPr>
                      </a:pPr>
                      <a:r>
                        <a:t>3.5</a:t>
                      </a:r>
                    </a:p>
                  </a:txBody>
                  <a:tcPr>
                    <a:solidFill>
                      <a:srgbClr val="F5F5F5"/>
                    </a:solidFill>
                  </a:tcPr>
                </a:tc>
                <a:tc>
                  <a:txBody>
                    <a:bodyPr/>
                    <a:lstStyle/>
                    <a:p>
                      <a:pPr>
                        <a:defRPr sz="950">
                          <a:solidFill>
                            <a:srgbClr val="212121"/>
                          </a:solidFill>
                          <a:latin typeface="Arial"/>
                        </a:defRPr>
                      </a:pPr>
                      <a:r>
                        <a:t>3.0</a:t>
                      </a:r>
                    </a:p>
                  </a:txBody>
                  <a:tcPr>
                    <a:solidFill>
                      <a:srgbClr val="F5F5F5"/>
                    </a:solidFill>
                  </a:tcPr>
                </a:tc>
              </a:tr>
              <a:tr h="335280">
                <a:tc>
                  <a:txBody>
                    <a:bodyPr/>
                    <a:lstStyle/>
                    <a:p>
                      <a:pPr>
                        <a:defRPr sz="950">
                          <a:solidFill>
                            <a:srgbClr val="212121"/>
                          </a:solidFill>
                          <a:latin typeface="Arial"/>
                        </a:defRPr>
                      </a:pPr>
                      <a:r>
                        <a:t>Deaths</a:t>
                      </a:r>
                    </a:p>
                  </a:txBody>
                  <a:tcPr/>
                </a:tc>
                <a:tc>
                  <a:txBody>
                    <a:bodyPr/>
                    <a:lstStyle/>
                    <a:p>
                      <a:pPr>
                        <a:defRPr sz="950">
                          <a:solidFill>
                            <a:srgbClr val="212121"/>
                          </a:solidFill>
                          <a:latin typeface="Arial"/>
                        </a:defRPr>
                      </a:pPr>
                      <a:r>
                        <a:t>0</a:t>
                      </a:r>
                    </a:p>
                  </a:txBody>
                  <a:tcPr/>
                </a:tc>
                <a:tc>
                  <a:txBody>
                    <a:bodyPr/>
                    <a:lstStyle/>
                    <a:p>
                      <a:pPr>
                        <a:defRPr sz="950">
                          <a:solidFill>
                            <a:srgbClr val="212121"/>
                          </a:solidFill>
                          <a:latin typeface="Arial"/>
                        </a:defRPr>
                      </a:pPr>
                      <a:r>
                        <a:t>0</a:t>
                      </a:r>
                    </a:p>
                  </a:txBody>
                  <a:tcPr/>
                </a:tc>
                <a:tc>
                  <a:txBody>
                    <a:bodyPr/>
                    <a:lstStyle/>
                    <a:p>
                      <a:pPr>
                        <a:defRPr sz="950">
                          <a:solidFill>
                            <a:srgbClr val="212121"/>
                          </a:solidFill>
                          <a:latin typeface="Arial"/>
                        </a:defRPr>
                      </a:pPr>
                      <a:r>
                        <a:t>0</a:t>
                      </a:r>
                    </a:p>
                  </a:txBody>
                  <a:tcPr/>
                </a:tc>
                <a:tc>
                  <a:txBody>
                    <a:bodyPr/>
                    <a:lstStyle/>
                    <a:p>
                      <a:pPr>
                        <a:defRPr sz="950">
                          <a:solidFill>
                            <a:srgbClr val="212121"/>
                          </a:solidFill>
                          <a:latin typeface="Arial"/>
                        </a:defRPr>
                      </a:pPr>
                      <a:r>
                        <a:t>0</a:t>
                      </a:r>
                    </a:p>
                  </a:txBody>
                  <a:tcPr/>
                </a:tc>
                <a:tc>
                  <a:txBody>
                    <a:bodyPr/>
                    <a:lstStyle/>
                    <a:p>
                      <a:pPr>
                        <a:defRPr sz="950">
                          <a:solidFill>
                            <a:srgbClr val="212121"/>
                          </a:solidFill>
                          <a:latin typeface="Arial"/>
                        </a:defRPr>
                      </a:pPr>
                      <a:r>
                        <a:t>0</a:t>
                      </a:r>
                    </a:p>
                  </a:txBody>
                  <a:tcPr/>
                </a:tc>
              </a:tr>
              <a:tr h="335280">
                <a:tc>
                  <a:txBody>
                    <a:bodyPr/>
                    <a:lstStyle/>
                    <a:p>
                      <a:pPr>
                        <a:defRPr sz="950">
                          <a:solidFill>
                            <a:srgbClr val="212121"/>
                          </a:solidFill>
                          <a:latin typeface="Arial"/>
                        </a:defRPr>
                      </a:pPr>
                      <a:r>
                        <a:t>——— DUET-CD ———</a:t>
                      </a: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c>
                  <a:txBody>
                    <a:bodyPr/>
                    <a:lstStyle/>
                    <a:p>
                      <a:pPr>
                        <a:defRPr sz="950">
                          <a:solidFill>
                            <a:srgbClr val="212121"/>
                          </a:solidFill>
                          <a:latin typeface="Arial"/>
                        </a:defRPr>
                      </a:pPr>
                    </a:p>
                  </a:txBody>
                  <a:tcPr>
                    <a:solidFill>
                      <a:srgbClr val="F5F5F5"/>
                    </a:solidFill>
                  </a:tcPr>
                </a:tc>
              </a:tr>
              <a:tr h="335280">
                <a:tc>
                  <a:txBody>
                    <a:bodyPr/>
                    <a:lstStyle/>
                    <a:p>
                      <a:pPr>
                        <a:defRPr sz="950">
                          <a:solidFill>
                            <a:srgbClr val="212121"/>
                          </a:solidFill>
                          <a:latin typeface="Arial"/>
                        </a:defRPr>
                      </a:pPr>
                      <a:r>
                        <a:t>Safety analysis set (n)</a:t>
                      </a:r>
                    </a:p>
                  </a:txBody>
                  <a:tcPr/>
                </a:tc>
                <a:tc>
                  <a:txBody>
                    <a:bodyPr/>
                    <a:lstStyle/>
                    <a:p>
                      <a:pPr>
                        <a:defRPr sz="950">
                          <a:solidFill>
                            <a:srgbClr val="212121"/>
                          </a:solidFill>
                          <a:latin typeface="Arial"/>
                        </a:defRPr>
                      </a:pPr>
                      <a:r>
                        <a:t>64</a:t>
                      </a:r>
                    </a:p>
                  </a:txBody>
                  <a:tcPr/>
                </a:tc>
                <a:tc>
                  <a:txBody>
                    <a:bodyPr/>
                    <a:lstStyle/>
                    <a:p>
                      <a:pPr>
                        <a:defRPr sz="950">
                          <a:solidFill>
                            <a:srgbClr val="212121"/>
                          </a:solidFill>
                          <a:latin typeface="Arial"/>
                        </a:defRPr>
                      </a:pPr>
                      <a:r>
                        <a:t>126</a:t>
                      </a:r>
                    </a:p>
                  </a:txBody>
                  <a:tcPr/>
                </a:tc>
                <a:tc>
                  <a:txBody>
                    <a:bodyPr/>
                    <a:lstStyle/>
                    <a:p>
                      <a:pPr>
                        <a:defRPr sz="950">
                          <a:solidFill>
                            <a:srgbClr val="212121"/>
                          </a:solidFill>
                          <a:latin typeface="Arial"/>
                        </a:defRPr>
                      </a:pPr>
                      <a:r>
                        <a:t>127</a:t>
                      </a:r>
                    </a:p>
                  </a:txBody>
                  <a:tcPr/>
                </a:tc>
                <a:tc>
                  <a:txBody>
                    <a:bodyPr/>
                    <a:lstStyle/>
                    <a:p>
                      <a:pPr>
                        <a:defRPr sz="950">
                          <a:solidFill>
                            <a:srgbClr val="212121"/>
                          </a:solidFill>
                          <a:latin typeface="Arial"/>
                        </a:defRPr>
                      </a:pPr>
                      <a:r>
                        <a:t>126</a:t>
                      </a:r>
                    </a:p>
                  </a:txBody>
                  <a:tcPr/>
                </a:tc>
                <a:tc>
                  <a:txBody>
                    <a:bodyPr/>
                    <a:lstStyle/>
                    <a:p>
                      <a:pPr>
                        <a:defRPr sz="950">
                          <a:solidFill>
                            <a:srgbClr val="212121"/>
                          </a:solidFill>
                          <a:latin typeface="Arial"/>
                        </a:defRPr>
                      </a:pPr>
                      <a:r>
                        <a:t>376</a:t>
                      </a:r>
                    </a:p>
                  </a:txBody>
                  <a:tcPr/>
                </a:tc>
              </a:tr>
              <a:tr h="335280">
                <a:tc>
                  <a:txBody>
                    <a:bodyPr/>
                    <a:lstStyle/>
                    <a:p>
                      <a:pPr>
                        <a:defRPr sz="950">
                          <a:solidFill>
                            <a:srgbClr val="212121"/>
                          </a:solidFill>
                          <a:latin typeface="Arial"/>
                        </a:defRPr>
                      </a:pPr>
                      <a:r>
                        <a:t>Any AE</a:t>
                      </a:r>
                    </a:p>
                  </a:txBody>
                  <a:tcPr>
                    <a:solidFill>
                      <a:srgbClr val="F5F5F5"/>
                    </a:solidFill>
                  </a:tcPr>
                </a:tc>
                <a:tc>
                  <a:txBody>
                    <a:bodyPr/>
                    <a:lstStyle/>
                    <a:p>
                      <a:pPr>
                        <a:defRPr sz="950">
                          <a:solidFill>
                            <a:srgbClr val="212121"/>
                          </a:solidFill>
                          <a:latin typeface="Arial"/>
                        </a:defRPr>
                      </a:pPr>
                      <a:r>
                        <a:t>646.8</a:t>
                      </a:r>
                    </a:p>
                  </a:txBody>
                  <a:tcPr>
                    <a:solidFill>
                      <a:srgbClr val="F5F5F5"/>
                    </a:solidFill>
                  </a:tcPr>
                </a:tc>
                <a:tc>
                  <a:txBody>
                    <a:bodyPr/>
                    <a:lstStyle/>
                    <a:p>
                      <a:pPr>
                        <a:defRPr sz="950">
                          <a:solidFill>
                            <a:srgbClr val="212121"/>
                          </a:solidFill>
                          <a:latin typeface="Arial"/>
                        </a:defRPr>
                      </a:pPr>
                      <a:r>
                        <a:t>603.2</a:t>
                      </a:r>
                    </a:p>
                  </a:txBody>
                  <a:tcPr>
                    <a:solidFill>
                      <a:srgbClr val="F5F5F5"/>
                    </a:solidFill>
                  </a:tcPr>
                </a:tc>
                <a:tc>
                  <a:txBody>
                    <a:bodyPr/>
                    <a:lstStyle/>
                    <a:p>
                      <a:pPr>
                        <a:defRPr sz="950">
                          <a:solidFill>
                            <a:srgbClr val="212121"/>
                          </a:solidFill>
                          <a:latin typeface="Arial"/>
                        </a:defRPr>
                      </a:pPr>
                      <a:r>
                        <a:t>561.0</a:t>
                      </a:r>
                    </a:p>
                  </a:txBody>
                  <a:tcPr>
                    <a:solidFill>
                      <a:srgbClr val="F5F5F5"/>
                    </a:solidFill>
                  </a:tcPr>
                </a:tc>
                <a:tc>
                  <a:txBody>
                    <a:bodyPr/>
                    <a:lstStyle/>
                    <a:p>
                      <a:pPr>
                        <a:defRPr sz="950">
                          <a:solidFill>
                            <a:srgbClr val="212121"/>
                          </a:solidFill>
                          <a:latin typeface="Arial"/>
                        </a:defRPr>
                      </a:pPr>
                      <a:r>
                        <a:t>496.4</a:t>
                      </a:r>
                    </a:p>
                  </a:txBody>
                  <a:tcPr>
                    <a:solidFill>
                      <a:srgbClr val="F5F5F5"/>
                    </a:solidFill>
                  </a:tcPr>
                </a:tc>
                <a:tc>
                  <a:txBody>
                    <a:bodyPr/>
                    <a:lstStyle/>
                    <a:p>
                      <a:pPr>
                        <a:defRPr sz="950">
                          <a:solidFill>
                            <a:srgbClr val="212121"/>
                          </a:solidFill>
                          <a:latin typeface="Arial"/>
                        </a:defRPr>
                      </a:pPr>
                      <a:r>
                        <a:t>518.7</a:t>
                      </a:r>
                    </a:p>
                  </a:txBody>
                  <a:tcPr>
                    <a:solidFill>
                      <a:srgbClr val="F5F5F5"/>
                    </a:solidFill>
                  </a:tcPr>
                </a:tc>
              </a:tr>
              <a:tr h="335280">
                <a:tc>
                  <a:txBody>
                    <a:bodyPr/>
                    <a:lstStyle/>
                    <a:p>
                      <a:pPr>
                        <a:defRPr sz="950">
                          <a:solidFill>
                            <a:srgbClr val="212121"/>
                          </a:solidFill>
                          <a:latin typeface="Arial"/>
                        </a:defRPr>
                      </a:pPr>
                      <a:r>
                        <a:t>SAEs</a:t>
                      </a:r>
                    </a:p>
                  </a:txBody>
                  <a:tcPr/>
                </a:tc>
                <a:tc>
                  <a:txBody>
                    <a:bodyPr/>
                    <a:lstStyle/>
                    <a:p>
                      <a:pPr>
                        <a:defRPr sz="950">
                          <a:solidFill>
                            <a:srgbClr val="212121"/>
                          </a:solidFill>
                          <a:latin typeface="Arial"/>
                        </a:defRPr>
                      </a:pPr>
                      <a:r>
                        <a:t>31.2</a:t>
                      </a:r>
                    </a:p>
                  </a:txBody>
                  <a:tcPr/>
                </a:tc>
                <a:tc>
                  <a:txBody>
                    <a:bodyPr/>
                    <a:lstStyle/>
                    <a:p>
                      <a:pPr>
                        <a:defRPr sz="950">
                          <a:solidFill>
                            <a:srgbClr val="212121"/>
                          </a:solidFill>
                          <a:latin typeface="Arial"/>
                        </a:defRPr>
                      </a:pPr>
                      <a:r>
                        <a:t>44.2</a:t>
                      </a:r>
                    </a:p>
                  </a:txBody>
                  <a:tcPr/>
                </a:tc>
                <a:tc>
                  <a:txBody>
                    <a:bodyPr/>
                    <a:lstStyle/>
                    <a:p>
                      <a:pPr>
                        <a:defRPr sz="950">
                          <a:solidFill>
                            <a:srgbClr val="212121"/>
                          </a:solidFill>
                          <a:latin typeface="Arial"/>
                        </a:defRPr>
                      </a:pPr>
                      <a:r>
                        <a:t>14.2</a:t>
                      </a:r>
                    </a:p>
                  </a:txBody>
                  <a:tcPr/>
                </a:tc>
                <a:tc>
                  <a:txBody>
                    <a:bodyPr/>
                    <a:lstStyle/>
                    <a:p>
                      <a:pPr>
                        <a:defRPr sz="950">
                          <a:solidFill>
                            <a:srgbClr val="212121"/>
                          </a:solidFill>
                          <a:latin typeface="Arial"/>
                        </a:defRPr>
                      </a:pPr>
                      <a:r>
                        <a:t>18.2</a:t>
                      </a:r>
                    </a:p>
                  </a:txBody>
                  <a:tcPr/>
                </a:tc>
                <a:tc>
                  <a:txBody>
                    <a:bodyPr/>
                    <a:lstStyle/>
                    <a:p>
                      <a:pPr>
                        <a:defRPr sz="950">
                          <a:solidFill>
                            <a:srgbClr val="212121"/>
                          </a:solidFill>
                          <a:latin typeface="Arial"/>
                        </a:defRPr>
                      </a:pPr>
                      <a:r>
                        <a:t>23.3</a:t>
                      </a:r>
                    </a:p>
                  </a:txBody>
                  <a:tcPr/>
                </a:tc>
              </a:tr>
              <a:tr h="335280">
                <a:tc>
                  <a:txBody>
                    <a:bodyPr/>
                    <a:lstStyle/>
                    <a:p>
                      <a:pPr>
                        <a:defRPr sz="950">
                          <a:solidFill>
                            <a:srgbClr val="212121"/>
                          </a:solidFill>
                          <a:latin typeface="Arial"/>
                        </a:defRPr>
                      </a:pPr>
                      <a:r>
                        <a:t>AEs → discontinuation</a:t>
                      </a:r>
                    </a:p>
                  </a:txBody>
                  <a:tcPr>
                    <a:solidFill>
                      <a:srgbClr val="F5F5F5"/>
                    </a:solidFill>
                  </a:tcPr>
                </a:tc>
                <a:tc>
                  <a:txBody>
                    <a:bodyPr/>
                    <a:lstStyle/>
                    <a:p>
                      <a:pPr>
                        <a:defRPr sz="950">
                          <a:solidFill>
                            <a:srgbClr val="212121"/>
                          </a:solidFill>
                          <a:latin typeface="Arial"/>
                        </a:defRPr>
                      </a:pPr>
                      <a:r>
                        <a:t>41.6</a:t>
                      </a:r>
                    </a:p>
                  </a:txBody>
                  <a:tcPr>
                    <a:solidFill>
                      <a:srgbClr val="F5F5F5"/>
                    </a:solidFill>
                  </a:tcPr>
                </a:tc>
                <a:tc>
                  <a:txBody>
                    <a:bodyPr/>
                    <a:lstStyle/>
                    <a:p>
                      <a:pPr>
                        <a:defRPr sz="950">
                          <a:solidFill>
                            <a:srgbClr val="212121"/>
                          </a:solidFill>
                          <a:latin typeface="Arial"/>
                        </a:defRPr>
                      </a:pPr>
                      <a:r>
                        <a:t>23.2</a:t>
                      </a:r>
                    </a:p>
                  </a:txBody>
                  <a:tcPr>
                    <a:solidFill>
                      <a:srgbClr val="F5F5F5"/>
                    </a:solidFill>
                  </a:tcPr>
                </a:tc>
                <a:tc>
                  <a:txBody>
                    <a:bodyPr/>
                    <a:lstStyle/>
                    <a:p>
                      <a:pPr>
                        <a:defRPr sz="950">
                          <a:solidFill>
                            <a:srgbClr val="212121"/>
                          </a:solidFill>
                          <a:latin typeface="Arial"/>
                        </a:defRPr>
                      </a:pPr>
                      <a:r>
                        <a:t>11.2</a:t>
                      </a:r>
                    </a:p>
                  </a:txBody>
                  <a:tcPr>
                    <a:solidFill>
                      <a:srgbClr val="F5F5F5"/>
                    </a:solidFill>
                  </a:tcPr>
                </a:tc>
                <a:tc>
                  <a:txBody>
                    <a:bodyPr/>
                    <a:lstStyle/>
                    <a:p>
                      <a:pPr>
                        <a:defRPr sz="950">
                          <a:solidFill>
                            <a:srgbClr val="212121"/>
                          </a:solidFill>
                          <a:latin typeface="Arial"/>
                        </a:defRPr>
                      </a:pPr>
                      <a:r>
                        <a:t>10.5</a:t>
                      </a:r>
                    </a:p>
                  </a:txBody>
                  <a:tcPr>
                    <a:solidFill>
                      <a:srgbClr val="F5F5F5"/>
                    </a:solidFill>
                  </a:tcPr>
                </a:tc>
                <a:tc>
                  <a:txBody>
                    <a:bodyPr/>
                    <a:lstStyle/>
                    <a:p>
                      <a:pPr>
                        <a:defRPr sz="950">
                          <a:solidFill>
                            <a:srgbClr val="212121"/>
                          </a:solidFill>
                          <a:latin typeface="Arial"/>
                        </a:defRPr>
                      </a:pPr>
                      <a:r>
                        <a:t>9.6</a:t>
                      </a:r>
                    </a:p>
                  </a:txBody>
                  <a:tcPr>
                    <a:solidFill>
                      <a:srgbClr val="F5F5F5"/>
                    </a:solidFill>
                  </a:tcPr>
                </a:tc>
              </a:tr>
              <a:tr h="335280">
                <a:tc>
                  <a:txBody>
                    <a:bodyPr/>
                    <a:lstStyle/>
                    <a:p>
                      <a:pPr>
                        <a:defRPr sz="950">
                          <a:solidFill>
                            <a:srgbClr val="212121"/>
                          </a:solidFill>
                          <a:latin typeface="Arial"/>
                        </a:defRPr>
                      </a:pPr>
                      <a:r>
                        <a:t>Serious infections</a:t>
                      </a:r>
                    </a:p>
                  </a:txBody>
                  <a:tcPr/>
                </a:tc>
                <a:tc>
                  <a:txBody>
                    <a:bodyPr/>
                    <a:lstStyle/>
                    <a:p>
                      <a:pPr>
                        <a:defRPr sz="950">
                          <a:solidFill>
                            <a:srgbClr val="212121"/>
                          </a:solidFill>
                          <a:latin typeface="Arial"/>
                        </a:defRPr>
                      </a:pPr>
                      <a:r>
                        <a:t>2.6</a:t>
                      </a:r>
                    </a:p>
                  </a:txBody>
                  <a:tcPr/>
                </a:tc>
                <a:tc>
                  <a:txBody>
                    <a:bodyPr/>
                    <a:lstStyle/>
                    <a:p>
                      <a:pPr>
                        <a:defRPr sz="950">
                          <a:solidFill>
                            <a:srgbClr val="212121"/>
                          </a:solidFill>
                          <a:latin typeface="Arial"/>
                        </a:defRPr>
                      </a:pPr>
                      <a:r>
                        <a:t>7.0</a:t>
                      </a:r>
                    </a:p>
                  </a:txBody>
                  <a:tcPr/>
                </a:tc>
                <a:tc>
                  <a:txBody>
                    <a:bodyPr/>
                    <a:lstStyle/>
                    <a:p>
                      <a:pPr>
                        <a:defRPr sz="950">
                          <a:solidFill>
                            <a:srgbClr val="212121"/>
                          </a:solidFill>
                          <a:latin typeface="Arial"/>
                        </a:defRPr>
                      </a:pPr>
                      <a:r>
                        <a:t>4.1</a:t>
                      </a:r>
                    </a:p>
                  </a:txBody>
                  <a:tcPr/>
                </a:tc>
                <a:tc>
                  <a:txBody>
                    <a:bodyPr/>
                    <a:lstStyle/>
                    <a:p>
                      <a:pPr>
                        <a:defRPr sz="950">
                          <a:solidFill>
                            <a:srgbClr val="212121"/>
                          </a:solidFill>
                          <a:latin typeface="Arial"/>
                        </a:defRPr>
                      </a:pPr>
                      <a:r>
                        <a:t>2.9</a:t>
                      </a:r>
                    </a:p>
                  </a:txBody>
                  <a:tcPr/>
                </a:tc>
                <a:tc>
                  <a:txBody>
                    <a:bodyPr/>
                    <a:lstStyle/>
                    <a:p>
                      <a:pPr>
                        <a:defRPr sz="950">
                          <a:solidFill>
                            <a:srgbClr val="212121"/>
                          </a:solidFill>
                          <a:latin typeface="Arial"/>
                        </a:defRPr>
                      </a:pPr>
                      <a:r>
                        <a:t>4.7</a:t>
                      </a:r>
                    </a:p>
                  </a:txBody>
                  <a:tcPr/>
                </a:tc>
              </a:tr>
              <a:tr h="335280">
                <a:tc>
                  <a:txBody>
                    <a:bodyPr/>
                    <a:lstStyle/>
                    <a:p>
                      <a:pPr>
                        <a:defRPr sz="950">
                          <a:solidFill>
                            <a:srgbClr val="212121"/>
                          </a:solidFill>
                          <a:latin typeface="Arial"/>
                        </a:defRPr>
                      </a:pPr>
                      <a:r>
                        <a:t>Deaths</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tc>
                  <a:txBody>
                    <a:bodyPr/>
                    <a:lstStyle/>
                    <a:p>
                      <a:pPr>
                        <a:defRPr sz="950">
                          <a:solidFill>
                            <a:srgbClr val="212121"/>
                          </a:solidFill>
                          <a:latin typeface="Arial"/>
                        </a:defRPr>
                      </a:pPr>
                      <a:r>
                        <a:t>1.2 [1]</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DDW 2026 posters. Exposure-adjusted rates (events per 100 patient-years). 1 death in DUET-CD golimumab group (unwitnessed MACE). Most infections were mild/moderate.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Strategic Implications &amp; Phase 3 ENCORE Program</a:t>
            </a:r>
          </a:p>
        </p:txBody>
      </p:sp>
      <p:sp>
        <p:nvSpPr>
          <p:cNvPr id="4" name="TextBox 3"/>
          <p:cNvSpPr txBox="1"/>
          <p:nvPr/>
        </p:nvSpPr>
        <p:spPr>
          <a:xfrm>
            <a:off x="457200" y="1097280"/>
            <a:ext cx="11247120" cy="1828800"/>
          </a:xfrm>
          <a:prstGeom prst="rect">
            <a:avLst/>
          </a:prstGeom>
          <a:noFill/>
        </p:spPr>
        <p:txBody>
          <a:bodyPr wrap="square">
            <a:spAutoFit/>
          </a:bodyPr>
          <a:lstStyle/>
          <a:p>
            <a:pPr>
              <a:spcAft>
                <a:spcPts val="600"/>
              </a:spcAft>
              <a:defRPr sz="1600" b="1">
                <a:solidFill>
                  <a:srgbClr val="C8102E"/>
                </a:solidFill>
                <a:latin typeface="Arial"/>
              </a:defRPr>
            </a:pPr>
            <a:r>
              <a:t>Key Finding: Combo Wins in Refractory, Not Overall</a:t>
            </a:r>
          </a:p>
          <a:p>
            <a:pPr>
              <a:spcAft>
                <a:spcPts val="400"/>
              </a:spcAft>
              <a:defRPr sz="1300">
                <a:solidFill>
                  <a:srgbClr val="212121"/>
                </a:solidFill>
                <a:latin typeface="Arial"/>
              </a:defRPr>
            </a:pPr>
            <a:r>
              <a:t>• JNJ-4804 did NOT significantly beat guselkumab monotherapy in the overall population (UC or CD primary endpoints)</a:t>
            </a:r>
          </a:p>
          <a:p>
            <a:pPr>
              <a:spcAft>
                <a:spcPts val="400"/>
              </a:spcAft>
              <a:defRPr sz="1300">
                <a:solidFill>
                  <a:srgbClr val="212121"/>
                </a:solidFill>
                <a:latin typeface="Arial"/>
              </a:defRPr>
            </a:pPr>
            <a:r>
              <a:t>• Combo advantage concentrated in ≥2 systemic therapy-IR subgroup across clinical, endoscopic, and deep remission</a:t>
            </a:r>
          </a:p>
          <a:p>
            <a:pPr>
              <a:spcAft>
                <a:spcPts val="400"/>
              </a:spcAft>
              <a:defRPr sz="1300">
                <a:solidFill>
                  <a:srgbClr val="212121"/>
                </a:solidFill>
                <a:latin typeface="Arial"/>
              </a:defRPr>
            </a:pPr>
            <a:r>
              <a:t>• Phase 3 ENCORE pivots to refractory population: head-to-head vs guselkumab monotherapy</a:t>
            </a:r>
          </a:p>
        </p:txBody>
      </p:sp>
      <p:sp>
        <p:nvSpPr>
          <p:cNvPr id="5" name="TextBox 4"/>
          <p:cNvSpPr txBox="1"/>
          <p:nvPr/>
        </p:nvSpPr>
        <p:spPr>
          <a:xfrm>
            <a:off x="457200" y="3200400"/>
            <a:ext cx="11247120" cy="2560320"/>
          </a:xfrm>
          <a:prstGeom prst="rect">
            <a:avLst/>
          </a:prstGeom>
          <a:noFill/>
        </p:spPr>
        <p:txBody>
          <a:bodyPr wrap="square">
            <a:spAutoFit/>
          </a:bodyPr>
          <a:lstStyle/>
          <a:p>
            <a:pPr>
              <a:spcAft>
                <a:spcPts val="600"/>
              </a:spcAft>
              <a:defRPr sz="1600" b="1">
                <a:solidFill>
                  <a:srgbClr val="C8102E"/>
                </a:solidFill>
                <a:latin typeface="Arial"/>
              </a:defRPr>
            </a:pPr>
            <a:r>
              <a:t>Phase 3 ENCORE &amp; Competitive Context</a:t>
            </a:r>
          </a:p>
          <a:p>
            <a:pPr>
              <a:spcAft>
                <a:spcPts val="400"/>
              </a:spcAft>
              <a:defRPr sz="1300">
                <a:solidFill>
                  <a:srgbClr val="212121"/>
                </a:solidFill>
                <a:latin typeface="Arial"/>
              </a:defRPr>
            </a:pPr>
            <a:r>
              <a:t>• ENCORE-UC (NCT07577856): ~644 pts, JNJ-4804 vs guselkumab, primary completion Aug 2028</a:t>
            </a:r>
          </a:p>
          <a:p>
            <a:pPr>
              <a:spcAft>
                <a:spcPts val="400"/>
              </a:spcAft>
              <a:defRPr sz="1300">
                <a:solidFill>
                  <a:srgbClr val="212121"/>
                </a:solidFill>
                <a:latin typeface="Arial"/>
              </a:defRPr>
            </a:pPr>
            <a:r>
              <a:t>• ENCORE-CD (NCT07577843): ~460 pts, same design, primary completion Jun 2028</a:t>
            </a:r>
          </a:p>
          <a:p>
            <a:pPr>
              <a:spcAft>
                <a:spcPts val="400"/>
              </a:spcAft>
              <a:defRPr sz="1300">
                <a:solidFill>
                  <a:srgbClr val="212121"/>
                </a:solidFill>
                <a:latin typeface="Arial"/>
              </a:defRPr>
            </a:pPr>
            <a:r>
              <a:t>• $500M Royalty Pharma co-funding; if successful, first combination biologic approved in IBD</a:t>
            </a:r>
          </a:p>
          <a:p>
            <a:pPr>
              <a:spcAft>
                <a:spcPts val="400"/>
              </a:spcAft>
              <a:defRPr sz="1300">
                <a:solidFill>
                  <a:srgbClr val="212121"/>
                </a:solidFill>
                <a:latin typeface="Arial"/>
              </a:defRPr>
            </a:pPr>
            <a:r>
              <a:t>• Risk: Overall population signal modest; success depends on prospective refractory subgroup confirmation</a:t>
            </a:r>
          </a:p>
          <a:p>
            <a:pPr>
              <a:spcAft>
                <a:spcPts val="400"/>
              </a:spcAft>
              <a:defRPr sz="1300">
                <a:solidFill>
                  <a:srgbClr val="212121"/>
                </a:solidFill>
                <a:latin typeface="Arial"/>
              </a:defRPr>
            </a:pPr>
            <a:r>
              <a:t>• Lilly implication: If JNJ-4804 establishes combo paradigm, may pressure mirikizumab toward combination strategies</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Key Takeaways</a:t>
            </a:r>
          </a:p>
        </p:txBody>
      </p:sp>
      <p:sp>
        <p:nvSpPr>
          <p:cNvPr id="4" name="TextBox 3"/>
          <p:cNvSpPr txBox="1"/>
          <p:nvPr/>
        </p:nvSpPr>
        <p:spPr>
          <a:xfrm>
            <a:off x="731520" y="1188720"/>
            <a:ext cx="10515600" cy="2926080"/>
          </a:xfrm>
          <a:prstGeom prst="rect">
            <a:avLst/>
          </a:prstGeom>
          <a:noFill/>
        </p:spPr>
        <p:txBody>
          <a:bodyPr wrap="square" anchor="t">
            <a:spAutoFit/>
          </a:bodyPr>
          <a:lstStyle/>
          <a:p>
            <a:pPr algn="l">
              <a:defRPr sz="1300" b="0" i="0">
                <a:solidFill>
                  <a:srgbClr val="212121"/>
                </a:solidFill>
                <a:latin typeface="Arial"/>
              </a:defRPr>
            </a:pPr>
            <a:r>
              <a:t>• JNJ-4804 (guselkumab + golimumab) met primary/co-primary endpoints vs placebo in both DUET-UC and DUET-CD (p&lt;0.001), demonstrating proof-of-concept for dual IL-23 + TNF blockade in IBD</a:t>
            </a:r>
            <a:br/>
            <a:r>
              <a:t>• In OVERALL populations: JNJ-4804 High was superior to golimumab but NOT statistically significantly better than guselkumab in either UC (41.0% vs 34.0%, p=0.339) or CD (50.8% vs 42.5%, p=0.171)</a:t>
            </a:r>
            <a:br/>
            <a:r>
              <a:t>• In ≥2 SYSTEMIC THERAPY-IR patients (~50%): JNJ-4804 High consistently exceeded both monotherapies — CD clinical remission 49.2% vs GUS 27.3% (Δ 21.2); deep remission 20.6% vs GUS 5.5%; 93.5% of remitters were corticosteroid-free</a:t>
            </a:r>
            <a:br/>
            <a:r>
              <a:t>• Safety was consistent with the established profiles of guselkumab and golimumab, with no new signals; JNJ-4804 High had the lowest discontinuation rates in both trials</a:t>
            </a:r>
            <a:br/>
            <a:r>
              <a:t>• Phase 3 ENCORE program (UC + CD) is head-to-head vs guselkumab monotherapy in refractory patients — primary completion 2028; $500M Royalty Pharma co-funding</a:t>
            </a:r>
          </a:p>
        </p:txBody>
      </p:sp>
      <p:sp>
        <p:nvSpPr>
          <p:cNvPr id="5" name="TextBox 4"/>
          <p:cNvSpPr txBox="1"/>
          <p:nvPr/>
        </p:nvSpPr>
        <p:spPr>
          <a:xfrm>
            <a:off x="731520" y="4297680"/>
            <a:ext cx="10515600" cy="457200"/>
          </a:xfrm>
          <a:prstGeom prst="rect">
            <a:avLst/>
          </a:prstGeom>
          <a:noFill/>
        </p:spPr>
        <p:txBody>
          <a:bodyPr wrap="square" anchor="t">
            <a:spAutoFit/>
          </a:bodyPr>
          <a:lstStyle/>
          <a:p>
            <a:pPr algn="l">
              <a:defRPr sz="1600" b="1" i="0">
                <a:solidFill>
                  <a:srgbClr val="C8102E"/>
                </a:solidFill>
                <a:latin typeface="Arial"/>
              </a:defRPr>
            </a:pPr>
            <a:r>
              <a:t>Recommended Actions</a:t>
            </a:r>
          </a:p>
        </p:txBody>
      </p:sp>
      <p:sp>
        <p:nvSpPr>
          <p:cNvPr id="6" name="TextBox 5"/>
          <p:cNvSpPr txBox="1"/>
          <p:nvPr/>
        </p:nvSpPr>
        <p:spPr>
          <a:xfrm>
            <a:off x="731520" y="4846320"/>
            <a:ext cx="10515600" cy="1645920"/>
          </a:xfrm>
          <a:prstGeom prst="rect">
            <a:avLst/>
          </a:prstGeom>
          <a:noFill/>
        </p:spPr>
        <p:txBody>
          <a:bodyPr wrap="square" anchor="t">
            <a:spAutoFit/>
          </a:bodyPr>
          <a:lstStyle/>
          <a:p>
            <a:pPr algn="l">
              <a:defRPr sz="1300" b="0" i="0">
                <a:solidFill>
                  <a:srgbClr val="212121"/>
                </a:solidFill>
                <a:latin typeface="Arial"/>
              </a:defRPr>
            </a:pPr>
            <a:r>
              <a:t>• Monitor Phase 3 ENCORE-UC (NCT07577856) and ENCORE-CD (NCT07577843) enrollment and timelines</a:t>
            </a:r>
            <a:br/>
            <a:r>
              <a:t>• Assess implications for Lilly's mirikizumab positioning in UC/CD — combination strategies may become the next competitive frontier</a:t>
            </a:r>
            <a:br/>
            <a:r>
              <a:t>• Track regulatory interactions for potential accelerated pathway if ENCORE Phase 3 confirms refractory subgroup benefit</a:t>
            </a:r>
            <a:br/>
            <a:r>
              <a:t>• Evaluate whether the 'refractory-only' label positioning limits or focuses JNJ-4804's commercial opportunity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