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summarizes the zumilokibart (APG777) APEX Phase 2 Part B readout in moderate-to-severe AD from Apogee Therapeutics. Zumilokibart is a next-generation anti-IL-13 mAb designed for extended dosing intervals (Q12W–Q24W). Key question: does it threaten lebrikizumab's positioning as a differentiated IL-13 biologic? The mid dose is the selected Phase 3 dose. Data released May 27,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Apogee Therapeutics was founded to develop extended half-life biologics for chronic diseases. Zumilokibart uses engineered Fc to extend half-life, allowing quarterly dosing. The competitive threat is primarily to lebrikizumab (same target) but also to the broader biologic class if convenience drives switching.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MOA is essentially identical to lebrikizumab — both selectively block IL-13. The differentiation is entirely PK-driven: engineered Fc extends half-life from ~2 weeks (typical IgG1) to estimated 4-6 weeks, enabling quarterly dosing. If anti-IL-13 monotherapy works, the one requiring fewest injections wins on convenience.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APEX Part B enrolled moderate-to-severe AD patients (EASI≥16, vIGA≥3, BSA≥10%). N=346 (mITT) randomized 1:1:1:1. Induction: 4 dosing days (Wk0, 2, 4, 12). Maintenance: High dose Q12W, Mid dose Q24W. Primary endpoint: EASI-75 at Week 16. Rescue medication use/discontinuation = non-response.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commercial differentiator: Zumilokibart induction requires 4 dosing days (Wk 0, 2, 4, 12) vs 9 for Dupixent. Maintenance: 2–4 annual dosing days for zumilokibart (Q12W–Q24W) vs 26 for Dupixent (Q2W). This is the central competitive narrative. For lebrikizumab: induction Q2W × 16 wks (8 doses), then Q4W maintenance (~13/yr). Zumilokibart's dosing advantage applies vs all current AD biologics.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primary and key secondary endpoints were met with high statistical significance. Mid and high doses showed similar activity, while low dose was expectedly lower. IMPORTANT: This is MCMC-MI analysis. In Phase 3 competitor trials using NRI, placebo rates are typically 10-15% for EASI-75 — the 23.4% here likely reflects the more lenient imputation. If the same data were analyzed with NRI, both active and placebo rates would likely be 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EASI-75 time course shows clear dose-response with separation from placebo by Week 2 for all arms. Mid dose (N=85): Wk2 12.2%, Wk4 35.6%, Wk8 52.6%, Wk12 59.7%, Wk16 65.9%. High dose (N=87): 61.6% at Wk16. Low dose (N=86): 50.5% at Wk16. Placebo (N=88): 23.4% at Wk16. All active arms achieved p&lt;0.001 vs placebo. Significance achieved for all treatment arms by Week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Percent change in EASI score from baseline (LS mean). Mid dose at Wk16: −70.6% (vs −34.9% PBO). Week 1: −17.0% vs −7.3% (p&lt;0.01) — significant itch and lesion reduction from the very first week. Continuous improvement seen through Week 16 — plateau not yet reached, suggesting further gains at later timepoints. This continuous measure confirms the categorical EASI-75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IGA 0/1 with ≥2 point reduction time course. Mid dose at Wk16: 46.0% (vs 10.9% PBO, p&lt;0.001). High dose: 33.4%. Low dose: 27.6%. Clear separation by Week 2 (mid dose 7.1% vs PBO ~0%). Note: Zumilokibart assessed vIGA 0/1 (validated IGA) while competitor trials used IGA 0/1. The validated scale is considered slightly more stringent but generally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EASI-90 time course. Mid dose at Wk16: 47.4% (vs 9.3% PBO, p&lt;0.001). High dose: 35.8%. Low dose: 28.2%. Near-complete clearance showing strong response. Significance by Week 2 for mid dose (5.9%, p&lt;0.05).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I-NRS4 (itch reduction ≥4 points from baseline peak ≥4). Mid dose (N=77): Wk2 9.2%, Wk4 19.8%, Wk8 36.2%, Wk12 49.7%, Wk16 50.5%. Placebo (N=84): 13.9% at Wk16. Note: itch significance achieved later than skin endpoints — Wk4 for I-NRS4 vs Wk2 for EASI-75. This is consistent with other anti-IL-13 agents where skin improvement precedes itch relief.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Apogee's own cross-trial comparison: zumilokibart mid dose vs Dupixent across 5 endpoints at Wk16. EASI-75: 65.9% vs 49.5% (Δ from PBO: 41.9 vs 36.8). IGA 0/1: 46.0% vs 34.6% (Δ: 34.8 vs 27.8). EASI-90: 47.4% vs 31.8% (Δ: 37.8 vs 25.8). I-NRS4: 50.5% vs 38.4% (Δ: 36.7 vs 27.5). EASI-100: 16.5% vs 5.6%. CAVEATS: Different trials, different populations, different imputation methods (MCMC-MI vs NRI). PBO rates vary (23.4% vs 12.7%).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Cross-trial landscape for EASI-75 at Week 16 across approved and late-stage competitors. Zumilokibart shows numerically highest response among biologics but caveat: Phase 2 MCMC-MI analysis vs Phase 3 NRI for competitors. JAK inhibitors (oral) show higher rates but carry boxed warning. Nemolizumab+TCS is combo therapy — lower Δ reflects high PBO+TCS rate (29.6%).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EASI-75 cross-trial comparison against 4 approved biologics. Zumilokibart 65.9% (N=85, PBO 23.4%). Dupixent 49.5% (N=521, PBO 12.7%, Δ=36.8). Ebglyss/lebrikizumab 53.0% (N=639, PBO 15.3%, Δ=37.7). Nemluvio+TCS (nemolizumab) 42.8% (N=1142, PBO 29.6%, Δ=13.2 — note: combo with TCS). Adbry/tralokinumab 29.1% (N=1192, PBO 12.1%, Δ=17.0). Higher PBO rate for zumilokibart inflates both active and delta.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IGA 0/1 cross-trial. Zumilokibart 46.0% (PBO 10.9%, Δ=34.8). Dupixent 34.6% (PBO 6.8%, Δ=27.8). Ebglyss 37.0% (PBO 10.4%, Δ=26.6). Nemluvio+TCS 36.7% (PBO 25.3%, Δ=11.4). Adbry 19.0% (PBO 9.0%, Δ=10.0). Zumilokibart assessed vIGA 0/1 vs IGA 0/1 in competitor trials — slightly different scales.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profile appears manageable but limited data. Conjunctivitis is the key signal: dose-dependent (10.6% to 20.7%), all in active arms vs 0% PBO. This is higher than lebrikizumab (~7-8% in ADVOCATE). Higher conjunctivitis could become a differentiator favoring lebrikizumab if it persists in Ph3. Overall TEAE rate for mid dose (60%) was lower than placebo (67%), which is reassuring. No effect of ADAs on PK, clinical activity, or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BNMA normal-model with 79 treatments from Ph2/Ph3 AD trials on the EASI-75 responder rate difference scale. Zumilokibart mid dose posterior mean of 0.429 overlaps substantially with dupilumab (0.400) and lebrikizumab (0.371). The key insight: once between-study heterogeneity is accounted for, zumilokibart is competitive but NOT clearly superior. Tilrekimig (another IL-13 next-gen from Roche) also ranks high with wide CrI reflecting early-phase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IGA 0/1 BNMA from 78-treatment network. Important contrast with cross-trial comparison: lebrikizumab actually ranks #1 for IGA 0/1, despite the press release showing zumilokibart with higher point estimate. This reflects the BNMA's ability to account for heterogeneity in placebo rates. Zumilokibart is competitive but lebrikizumab has a stronger IGA 0/1 signal in the formal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Zumilokibart wins on convenience (dosing interval) and numerically on efficacy in cross-trial bars. Lebrikizumab wins on evidence maturity: approved, Phase 3 data with standard NRI, growing real-world evidence. The BNMA shows overlapping posteriors. Key uncertainty: will Ph3 with NRI confirm Ph2 MCMC-MI numbers?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 line: zumilokibart is the most credible emerging threat to lebrikizumab in the anti-IL-13 space. The convenience story is powerful. However, Lilly has a 2-3 year head start, approved label, robust Ph3 data, and possibly a lower conjunctivitis rate. The BNMA does not support clear superiority. Key question: will Ph3 NRI confirm Ph2 numbers? Monitor closely.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2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645920"/>
            <a:ext cx="97840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Arial"/>
              </a:defRPr>
            </a:pPr>
            <a:r>
              <a:t>Competitor Landscape Update: Zumilokibart (APG777)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56616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 i="0">
                <a:solidFill>
                  <a:srgbClr val="F5D6B0"/>
                </a:solidFill>
                <a:latin typeface="Arial"/>
              </a:defRPr>
            </a:pPr>
            <a:r>
              <a:t>Atopic Dermatitis — APEX Phase 2 Part B 16-Week Data (May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75488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August 30, 2026</a:t>
            </a:r>
            <a:br/>
            <a:r>
              <a:t>CONFIDENTIAL — For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1">
                <a:solidFill>
                  <a:srgbClr val="F5D6B0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Drug Overview: Zumilokibart (APG777)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Profile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Generic: zumilokibart | Code: APG777 | Sponsor: Apogee Therapeutics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Modality: Humanized IgG1 monoclonal antibody (engineered Fc for extended half-life)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Target: IL-13 (high-affinity)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Route: Subcutaneous injection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Dosing: Induction Wk 0, 2, 4, 12 (4 dosing days) → Maintenance Q12W (high) or Q24W (mid = planned Ph3 dose)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Phase: Phase 2 Part B completed; Phase 3 (ADventure) initiation expected 2H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515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Competitive Positioning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Same MOA class as lebrikizumab (anti-IL-13) — direct competitor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Key differentiator: extended dosing (2–4 injections/year vs 26 for Dupixent, 13 for lebrikizumab)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Numerically highest EASI-75 at Wk16 among all anti-IL-13/IL-4 biologics (cross-trial, Ph2 MCMC-MI)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Rapid onset: significance by Week 2 for all dose groups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If confirmed in Phase 3 with NRI, positions as potential best-in-class convenience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Mechanism of Action: Anti-IL-13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Pathway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IL-13 is a key type 2 cytokine driving AD pathophysiology: barrier disruption, inflammation, pruritus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Zumilokibart neutralizes IL-13 with high affinity — prevents binding to IL-13Rα1/IL-4Rα receptor complex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Same target as lebrikizumab and tralokinumab; different from dupilumab (IL-4Rα blocks both IL-4 and IL-13)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Key Differentiators vs Existing IL-13 Therapies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Engineered IgG1 Fc for extended half-life → enables Q12W–Q24W dosing (vs Q2W–Q4W for lebrikizumab/tralokinumab)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Higher binding affinity claimed (prevents dissociation during extended dosing interval)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Same fundamental mechanism — efficacy differentiation likely driven by PK/dosing rather than biology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Potential risk: longer half-life means slower washout if adverse events occur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Study Design: APEX Phase 2 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Design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 2b, randomized, double-blind, placebo-controlled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 = 346 (mITT); 1:1:1:1 to High/Mid/Low dose + Placebo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Population: Moderate-to-severe AD (EASI ≥16, vIGA ≥3, BSA ≥10%)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Monotherapy (no background TCS required)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Primary endpoint: EASI-75 at Week 16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Key secondary: IGA 0/1, EASI-90, EASI-100, I-NRS4 at Week 16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Mid dose = selected Phase 3 dose (N=85 vs N=88 PBO)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Missing data: MCMC-MI (more lenient than NRI in competitor Ph3s)</a:t>
            </a:r>
          </a:p>
        </p:txBody>
      </p:sp>
      <p:pic>
        <p:nvPicPr>
          <p:cNvPr id="5" name="Picture 4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Apogee Therapeutics APEX Part B data presentation, May 27, 2026. Review is required before disclosure.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Dosing Convenience: Zumilokibart vs Dupixent</a:t>
            </a:r>
          </a:p>
        </p:txBody>
      </p:sp>
      <p:pic>
        <p:nvPicPr>
          <p:cNvPr id="4" name="Picture 3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Key Efficacy Results at Week 16 (Primary Analysis)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Zumilokibart Mid Dose (Planned Phase 3 Dose, N=85) vs Placebo (N=88)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EASI-75 (primary endpoint): 65.9% vs 23.4% — Δ = 41.9 pp (p&lt;0.001)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IGA 0/1: 46.0% vs 10.9% — Δ = 34.8 pp (p&lt;0.001)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EASI-90: 47.4% vs 9.3% — Δ = 37.8 pp (p&lt;0.001)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I-NRS ≥4pt reduction: 50.5% vs 13.9% — Δ = 36.7 pp (p&lt;0.001)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EASI-100: 16.5% vs 3.4% — Δ = 12.9 pp (p&lt;0.01)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EASI % change from BL (LS mean): −70.6% vs −34.9% (p&lt;0.001)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515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Dose-Response at Week 16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Mid and high doses showed similar clinical activity across all endpoints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EASI-75: High 61.6%, Mid 65.9%, Low 50.5%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IGA 0/1: High 33.4%, Mid 46.0%, Low 27.6%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EASI-90: High 35.8%, Mid 47.4%, Low 28.2%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I-NRS4: High 43.4%, Mid 50.5%, Low 35.7%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Mid dose selected for Phase 3 based on compelling benefit-risk profile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⚠ MCMC-MI imputation — expect 5–10% lower rates with NRI in Phase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Primary Endpoint: EASI-75 Response Over Time</a:t>
            </a:r>
          </a:p>
        </p:txBody>
      </p:sp>
      <p:pic>
        <p:nvPicPr>
          <p:cNvPr id="4" name="Picture 3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Apogee Therapeutics. Review is required before disclosure.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EASI Change from Baseline (Continuous Endpoint)</a:t>
            </a:r>
          </a:p>
        </p:txBody>
      </p:sp>
      <p:pic>
        <p:nvPicPr>
          <p:cNvPr id="4" name="Picture 3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Apogee Therapeutics. Review is required before disclosure.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IGA 0/1 Response Over Time</a:t>
            </a:r>
          </a:p>
        </p:txBody>
      </p:sp>
      <p:pic>
        <p:nvPicPr>
          <p:cNvPr id="4" name="Picture 3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Apogee Therapeutics. Review is required before disclosure.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EASI-90 Response Over Time</a:t>
            </a:r>
          </a:p>
        </p:txBody>
      </p:sp>
      <p:pic>
        <p:nvPicPr>
          <p:cNvPr id="4" name="Picture 3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Apogee Therapeutics. Review is required before disclosure.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I-NRS ≥4-Point Improvement (Itch Response) Over Time</a:t>
            </a:r>
          </a:p>
        </p:txBody>
      </p:sp>
      <p:pic>
        <p:nvPicPr>
          <p:cNvPr id="4" name="Picture 3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Apogee Therapeutics. Review is required before disclosure.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Competitive Comparison: Zumilokibart vs Dupixent Across Endpoints</a:t>
            </a:r>
          </a:p>
        </p:txBody>
      </p:sp>
      <p:pic>
        <p:nvPicPr>
          <p:cNvPr id="4" name="Picture 3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Cross-trial comparison for illustrative purposes only. Review is required before disclosure.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Broader Competitor Landscape: EASI-75 at Week 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Drug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Sponsor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Route/Freq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EASI-75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Δ vs PBO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Zumilokibart (mid)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Apogee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SC Q12W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65.9%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3 dose; monotherapy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Dupilumab 300mg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Sanofi/Regen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IL-4/IL-13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SC Q2W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49.5%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36.8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SOLO 1&amp;2 avg; monotherapy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Lebrikizumab 250mg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Lilly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SC Q4W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53.0%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ADVOCATE 1&amp;2 avg; monotherapy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Nemolizumab+TCS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Galderma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IL-31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SC Q4W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42.8%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13.2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ARCADIA 1&amp;2 avg; +TCS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Adbry 300mg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IL-13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SC Q2W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ECZTRA 1&amp;2 avg; monotherapy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Upadacitinib 15mg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AbbVie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JAK1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PO QD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~70%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~43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Measure Up 1&amp;2; monotherapy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Abrocitinib 100mg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Pfizer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JAK1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PO QD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JADE MONO-1; Wk12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Cross-trial comparison for illustrative purposes only. Differences in trial design, populations, and endpoints preclude direct comparison. Review is required before disclosure.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Competitive EASI-75 Bar Chart (Sponsor Data)</a:t>
            </a:r>
          </a:p>
        </p:txBody>
      </p:sp>
      <p:pic>
        <p:nvPicPr>
          <p:cNvPr id="4" name="Picture 3" descr="p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Cross-trial comparison for illustrative purposes only. Review is required before disclosure.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Broader Competitive Landscape: IGA 0/1 at Week 16</a:t>
            </a:r>
          </a:p>
        </p:txBody>
      </p:sp>
      <p:pic>
        <p:nvPicPr>
          <p:cNvPr id="4" name="Picture 3" descr="pag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Cross-trial comparison for illustrative purposes only. Review is required before disclosure.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Safety Summary Through Week 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58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Safety Event, n (%)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Low (N=86)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Mid (N=85)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High (N=87)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PBO (N=88)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≥1 TEAE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65 (75.6%)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51 (60.0%)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59 (67.8%)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59 (67.0%)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≥1 Serious TEAE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 (2.3%)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 (1.2%)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 (3.4%)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 (2.3%)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Disc. due to TEAE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 (1.2%)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 (2.4%)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 (3.4%)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 (2.3%)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Nasopharyngitis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22 (25.6%)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12 (14.1%)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10 (11.5%)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19 (21.6%)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Headache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7 (8.1%)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6 (7.1%)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6 (6.9%)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 (3.4%)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Noninfective conjunctivitis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 (4.7%)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5 (5.9%)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10 (11.5%)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0 (0%)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URTI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5 (5.8%)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6 (7.1%)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5 (5.7%)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 (3.4%)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Conjunctivitis (pooled, all PTs)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13 (15.1%)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9 (10.6%)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18 (20.7%)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0 (0%)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Apogee Therapeutics APEX Part B. Review is required before disclosure.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BNMA: EASI-75 — Treatment Effects vs Placebo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Key Findings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Zumilokibart mid dose ranks competitively — posterior mean 0.429 [0.323, 0.533], overlapping with dupilumab (0.400) and lebrikizumab Q2W (0.371)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Upadacitinib 30mg leads (0.580); tilrekimig and abrocitinib 200mg also competitive but with wider CrI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All zumilokibart doses show significant effects vs placebo (CrI excludes 0)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Formal indirect comparison does NOT support clear superiority over established biologics — cross-trial bar charts overstate the difference</a:t>
            </a:r>
          </a:p>
        </p:txBody>
      </p:sp>
      <p:pic>
        <p:nvPicPr>
          <p:cNvPr id="5" name="Picture 4" descr="EASI75_BNMA_ridge_2026-08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71323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Random-effects BNMA; indirect comparison only. Review is required before disclosure.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BNMA: IGA 0/1 — Treatment Effects vs Placebo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Key Findings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Lebrikizumab 250mg Q2W has highest posterior mean (0.290) — ranks #1 for IGA 0/1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Zumilokibart low dose ranks #2 (0.236); mid dose ranks #4 (0.145)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Dupilumab and abrocitinib CrI cross 0 — not significantly different from placebo in this IGA 0/1 network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Lilly can use this to counter the 'best-in-class' narrative on IGA 0/1</a:t>
            </a:r>
          </a:p>
        </p:txBody>
      </p:sp>
      <p:pic>
        <p:nvPicPr>
          <p:cNvPr id="5" name="Picture 4" descr="IGA01_BNMA_ridge_2026-08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71323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Random-effects BNMA; indirect comparison only. Review is required before disclosure.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Head-to-Head vs Lebrikizumab (Lilly)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Similarities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Same target: IL-13 neutralization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Same patient population: moderate-to-severe AD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Same endpoint framework (EASI-75, IGA 0/1)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Both SC injection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Both show rapid onset (separation by Wk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Differences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Dosing: Q24W (zumi) vs Q2W→Q4W (lebri): 2–4 vs 13 injections/yr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Efficacy (cross-trial): EASI-75 65.9% vs 53.0% — MCMC-MI vs NRI caveat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BNMA: overlapping posteriors; no significant separation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Phase: Ph2 Part B (zumi) vs Ph3 + approved (lebri)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Conjunctivitis: 10.6% (zumi mid) vs ~7–8% (lebri Ph3)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Safety database: N=85 (zumi) vs &gt;1000 (lebri)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Label: none (zumi) vs broad AD label (lebri)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Key Takeaways &amp; Implications for Lilly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12121"/>
                </a:solidFill>
                <a:latin typeface="Arial"/>
              </a:defRPr>
            </a:pPr>
            <a:r>
              <a:t>• Zumilokibart achieved numerically best EASI-75 (65.9%) and IGA 0/1 (46.0%) at Wk16 — but Ph2 with MCMC-MI imputation</a:t>
            </a:r>
            <a:br/>
            <a:r>
              <a:t>• Extended dosing (Q24W maintenance, 2–4 injections/year) is a powerful commercial differentiator vs all AD biologics</a:t>
            </a:r>
            <a:br/>
            <a:r>
              <a:t>• BNMA shows competitive but overlapping efficacy with lebrikizumab — no clear statistical separation</a:t>
            </a:r>
            <a:br/>
            <a:r>
              <a:t>• Conjunctivitis rate 10.6–20.7% (dose-dependent) is higher than lebrikizumab (~7–8%) — potential Lilly advantage</a:t>
            </a:r>
            <a:br/>
            <a:r>
              <a:t>• Timeline: ADventure Phase 3 initiation 2H 2026 → readout ~2028 → regulatory filing ~2029 earliest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C8102E"/>
                </a:solidFill>
                <a:latin typeface="Arial"/>
              </a:defRPr>
            </a:pPr>
            <a:r>
              <a:t>Recommended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12121"/>
                </a:solidFill>
                <a:latin typeface="Arial"/>
              </a:defRPr>
            </a:pPr>
            <a:r>
              <a:t>• Monitor ADventure Phase 3 design: NRI vs MCMC-MI, sample size, comparator arm</a:t>
            </a:r>
            <a:br/>
            <a:r>
              <a:t>• Leverage BNMA indirect comparison to counter cross-trial bar chart narrative (show overlapping CrIs)</a:t>
            </a:r>
            <a:br/>
            <a:r>
              <a:t>• Strengthen lebrikizumab positioning on safety (lower conjunctivitis), real-world evidence, and label breadth</a:t>
            </a:r>
            <a:br/>
            <a:r>
              <a:t>• Prepare materials comparing dosing convenience vs certainty of efficacy (Phase 3 data vs Phase 2)</a:t>
            </a:r>
            <a:br/>
            <a:r>
              <a:t>• Assess BNMA update once Phase 3 data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