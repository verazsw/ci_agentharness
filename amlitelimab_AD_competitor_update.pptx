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C8102E"/>
                </a:solidFill>
                <a:latin typeface="Times New Roman"/>
              </a:rPr>
              <a:t>Competitor Update: Amlitelimab (Sanofi)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Arial"/>
              </a:rPr>
              <a:t>Phase 3 Results in Moderate-to-Severe Atopic Dermatitis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Arial"/>
              </a:rPr>
              <a:t>COAST 1 / COAST 2 / SHORE — Anti-OX40L Monoclonal Antibody</a:t>
            </a:r>
          </a:p>
          <a:p>
            <a:r>
              <a:rPr sz="1200">
                <a:solidFill>
                  <a:srgbClr val="999999"/>
                </a:solidFill>
                <a:latin typeface="Arial"/>
              </a:rPr>
              <a:t>
Source: Sanofi Press Release, 28 March 2026</a:t>
            </a:r>
          </a:p>
          <a:p>
            <a:r>
              <a:rPr sz="1200">
                <a:solidFill>
                  <a:srgbClr val="999999"/>
                </a:solidFill>
                <a:latin typeface="Arial"/>
              </a:rPr>
              <a:t>Date Prepared: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Review is required before disclosure.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C8102E"/>
                </a:solidFill>
                <a:latin typeface="Times New Roman"/>
              </a:rPr>
              <a:t>Key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Arial"/>
              </a:rPr>
              <a:t>Amlitelimab Phase 3 — Moderate-to-Severe 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Amlitelimab 250mg Q4W/Q12W met co-primary endpoints (vIGA-AD 0/1 + EASI-75) in all 3 pivotal trials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EASI-75: 36–48% vs 19–32% PBO at Wk24 (all p&lt;0.05, NRI); below dupilumab (~61%) and lebrikizumab (~59%)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Q12W dosing performed comparably to Q4W — best-in-class convenience (~6 injections/year)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Novel MOA (anti-OX40L) offers option for IL-13/IL-4 biologic failures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Safety signal: 2 Kaposi's sarcoma cases across program (both with known risk factors)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• Positioning: Convenience-first niche; not a front-line efficacy threat to class leaders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Review is required before disclosure.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C8102E"/>
                </a:solidFill>
                <a:latin typeface="Times New Roman"/>
              </a:rPr>
              <a:t>Study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Arial"/>
              </a:rPr>
              <a:t>Three Pivotal Phase 3 Trials — Adults &amp; Adolescents ≥12y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COAST 1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COAST 2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SHORE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NCT06130566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NCT06181435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NCT06224348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 (total)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589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643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Q4W / Q12W / PBO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Q4W / Q12W / PBO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Q4W / Q12W / PBO + TCS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Randomization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1:1:1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1:1:1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1:1:1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vIGA ≥3, EASI ≥16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vIGA ≥3, EASI ≥16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vIGA ≥3, EASI ≥16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Co-Primary EP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vIGA 0/1 + EASI-75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vIGA 0/1 + EASI-75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vIGA 0/1 + EASI-75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Key 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PP-NRS ≥4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PP-NRS ≥4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PP-NRS ≥4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Timepoint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Week 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Week 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Week 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Estimand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NRI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99"/>
                </a:solidFill>
                <a:latin typeface="Arial"/>
              </a:rPr>
              <a:t>Dose: 250mg SC (125mg if &lt;40kg) after 500mg IV loading dose. Monotherapy in COAST 1/2; background TCS ± TCI in SHORE.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Review is required before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C8102E"/>
                </a:solidFill>
                <a:latin typeface="Times New Roman"/>
              </a:rPr>
              <a:t>Efficacy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Arial"/>
              </a:rPr>
              <a:t>Co-Primary Endpoints at Week 24 (NRI)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Q4W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Q12W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Placebo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COAST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vIGA-AD 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≤0.01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COAST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EASI-75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COAST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vIGA-AD 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≤0.025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COAST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EASI-75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&lt;0.05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vIGA-AD 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≤0.01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SHORE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EASI-75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48.1%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46.8%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32.3%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≤0.025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333333"/>
                </a:solidFill>
                <a:latin typeface="Arial"/>
              </a:rPr>
              <a:t>EASI-75 Cross-Trial Landscape (Monotherapy, NRI — Illustrative)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Upadacitinib 30mg QD: ~69% (Wk16)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Dupilumab 300mg Q2W: ~61% (Wk16)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Abrocitinib 200mg QD: ~61% (Wk12)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Lebrikizumab 250mg Q2W: ~59% (Wk16)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C8102E"/>
                </a:solidFill>
                <a:latin typeface="Arial"/>
              </a:rPr>
              <a:t>  ▶ Amlitelimab 250mg Q12W: ~40% (Wk24) ← NEW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Tralokinumab 300mg Q2W: ~33% (Wk16)</a:t>
            </a:r>
          </a:p>
          <a:p>
            <a:pPr>
              <a:spcBef>
                <a:spcPts val="800"/>
              </a:spcBef>
            </a:pPr>
            <a:r>
              <a:rPr sz="900" i="1">
                <a:solidFill>
                  <a:srgbClr val="999999"/>
                </a:solidFill>
                <a:latin typeface="Arial"/>
              </a:rPr>
              <a:t>⚠️ Cross-trial comparison for illustrative purposes only. Differences in timepoints, populations, and estimands limit direct comparison.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Review is required before disclosure.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C8102E"/>
                </a:solidFill>
                <a:latin typeface="Times New Roman"/>
              </a:rPr>
              <a:t>Safety &amp; Competitive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C8102E"/>
                </a:solidFill>
                <a:latin typeface="Arial"/>
              </a:rPr>
              <a:t>Safety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2 Kaposi's sarcoma cases (total exposure: 3,778 pts)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Both cases had known risk factors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Novel signal for AD biologics — OX40L = broader immunomod.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Full AE profile not yet disclosed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C8102E"/>
                </a:solidFill>
                <a:latin typeface="Arial"/>
              </a:rPr>
              <a:t>Competitive Positioning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✅ Q12W dosing — best-in-class convenience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✅ Novel MOA — option after IL-13 failure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❌ Efficacy below dupilumab, lebrikizumab, JAKi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❌ Kaposi's sarcoma may limit prescriber confidence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→ Likely niche: convenience-sensitive or bio-IR patients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Review is required before disclosure.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C8102E"/>
                </a:solidFill>
                <a:latin typeface="Times New Roman"/>
              </a:rPr>
              <a:t>Development Program &amp; Implications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NCT06407934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Withdrawal / durability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NCT06241118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Recruiting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Biologic/JAKi-IR + TCS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NCT05492578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Enrolling (OLE)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Long-term safety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NCT05769777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Long-term open-label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C8102E"/>
                </a:solidFill>
                <a:latin typeface="Arial"/>
              </a:rPr>
              <a:t>Implications for Lilly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BLA filing expected H2 2026 → approval est. mid-2027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Low threat to front-line positioning — efficacy below class leaders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Q12W convenience may grow market (undertreated pts) rather than steal share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Monitor bio-IR study (NCT06241118) — may position as late-line salvage therapy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• Kaposi's sarcoma safety signal likely to slow commercial uptake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Review is required before disclosure.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