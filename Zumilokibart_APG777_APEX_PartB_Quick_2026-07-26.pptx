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CONTEXT: Apogee Therapeutics presented APEX Phase 2 Part B 16-week topline data on May 27, 2026. Zumilokibart (APG777) is a next-generation anti-IL-13 mAb with YTE half-life extension enabling Q12W–Q24W dosing.</a:t>
            </a:r>
          </a:p>
          <a:p/>
          <a:p>
            <a:r>
              <a:t>KEY NUMBERS (Mid Dose, N=85):</a:t>
            </a:r>
          </a:p>
          <a:p>
            <a:r>
              <a:t>- EASI-75 (primary): 65.9% vs 23.4% PBO (Δ=41.9; p&lt;0.001)</a:t>
            </a:r>
          </a:p>
          <a:p>
            <a:r>
              <a:t>- IGA 0/1: 46.0% vs 10.9% PBO (Δ=34.8; p&lt;0.001)</a:t>
            </a:r>
          </a:p>
          <a:p>
            <a:r>
              <a:t>- EASI-90: 47.4% vs 9.3% PBO (Δ=37.8; p&lt;0.001)</a:t>
            </a:r>
          </a:p>
          <a:p>
            <a:r>
              <a:t>- I-NRS4: 50.5% vs 13.9% PBO (Δ=36.7; p&lt;0.001)</a:t>
            </a:r>
          </a:p>
          <a:p>
            <a:r>
              <a:t>- EASI-100: 16.5% vs 3.4% PBO (p&lt;0.01)</a:t>
            </a:r>
          </a:p>
          <a:p/>
          <a:p>
            <a:r>
              <a:t>DOSING:</a:t>
            </a:r>
          </a:p>
          <a:p>
            <a:r>
              <a:t>- Induction: SC at W0, W2, W4, W12 (4 injections total)</a:t>
            </a:r>
          </a:p>
          <a:p>
            <a:r>
              <a:t>- Maintenance: Q12W or Q24W (2–4/year vs 26 for dupilumab)</a:t>
            </a:r>
          </a:p>
          <a:p/>
          <a:p>
            <a:r>
              <a:t>BASELINE: mean EASI ~26, age ~37y, ~70% White, AD duration ~26y</a:t>
            </a:r>
          </a:p>
          <a:p/>
          <a:p>
            <a:r>
              <a:t>CAVEATS: Ph2 (N=85/arm), placebo rate (23.4%) higher than historical (~12–15%), MCMC-MI estimand. Treatment difference (Δ) is the most reliable cross-trial comparison metric.</a:t>
            </a:r>
          </a:p>
          <a:p/>
          <a:p>
            <a:r>
              <a:t>SOURCE: Apogee Therapeutics investor presentation, May 27,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 DESIGN (figure directly from Apogee press release):</a:t>
            </a:r>
          </a:p>
          <a:p>
            <a:r>
              <a:t>- 347 patients randomized but 1 not dosed → 346 mITT population</a:t>
            </a:r>
          </a:p>
          <a:p>
            <a:r>
              <a:t>- Arms: Low dose (N=86), Mid dose (N=85), High dose (N=87), Placebo (N=88)</a:t>
            </a:r>
          </a:p>
          <a:p>
            <a:r>
              <a:t>- Randomized 1:1:1:1</a:t>
            </a:r>
          </a:p>
          <a:p>
            <a:r>
              <a:t>- Mid dose is the planned Phase 3 dose (same as Part A)</a:t>
            </a:r>
          </a:p>
          <a:p>
            <a:r>
              <a:t>- SC injection at W0, W2, W4, W12 during induction</a:t>
            </a:r>
          </a:p>
          <a:p>
            <a:r>
              <a:t>- Maintenance: Q12W (every 3 months) or Q24W (every 6 months)</a:t>
            </a:r>
          </a:p>
          <a:p>
            <a:r>
              <a:t>- Primary endpoint: EASI-75 at Week 16</a:t>
            </a:r>
          </a:p>
          <a:p>
            <a:r>
              <a:t>- Primary analysis: MCMC Multiple Imputation</a:t>
            </a:r>
          </a:p>
          <a:p>
            <a:r>
              <a:t>- Rescue medication or discontinuation for lack of efficacy = non-responder</a:t>
            </a:r>
          </a:p>
          <a:p>
            <a:r>
              <a:t>- Population: Moderate-to-severe AD (EASI ≥16, vIGA ≥3, BSA ≥10%)</a:t>
            </a:r>
          </a:p>
          <a:p/>
          <a:p>
            <a:r>
              <a:t>BASELINE CHARACTERISTICS (Mid dose):</a:t>
            </a:r>
          </a:p>
          <a:p>
            <a:r>
              <a:t>- Age: 39.9y, Female 52.9%, Weight 76.4kg</a:t>
            </a:r>
          </a:p>
          <a:p>
            <a:r>
              <a:t>- EASI: 26.0, vIGA(4): 36.5%, I-NRS: 7.0, BSA: 40.0%</a:t>
            </a:r>
          </a:p>
          <a:p>
            <a:r>
              <a:t>- Comparable across all arms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EASI-75:</a:t>
            </a:r>
          </a:p>
          <a:p>
            <a:r>
              <a:t>Ridge plot shows posterior distributions of PBO-adjusted treatment effects from Bayesian NMA (monotherapy, induction period).</a:t>
            </a:r>
          </a:p>
          <a:p/>
          <a:p>
            <a:r>
              <a:t>RANKINGS (by peak posterior density):</a:t>
            </a:r>
          </a:p>
          <a:p>
            <a:r>
              <a:t>1. Zumilokibart high dose (~0.45) — widest distribution</a:t>
            </a:r>
          </a:p>
          <a:p>
            <a:r>
              <a:t>2. Upadacitinib 15mg (~0.40)</a:t>
            </a:r>
          </a:p>
          <a:p>
            <a:r>
              <a:t>3. Zumilokibart mid dose Part A+B (~0.38-0.40)</a:t>
            </a:r>
          </a:p>
          <a:p>
            <a:r>
              <a:t>4. Dupilumab 600/300mg (~0.35)</a:t>
            </a:r>
          </a:p>
          <a:p>
            <a:r>
              <a:t>5. Lebrikizumab 250mg Q2W (~0.33-0.35)</a:t>
            </a:r>
          </a:p>
          <a:p>
            <a:r>
              <a:t>6. Abrocitinib 100mg (~0.28)</a:t>
            </a:r>
          </a:p>
          <a:p>
            <a:r>
              <a:t>7. Amlitelimab (~0.25)</a:t>
            </a:r>
          </a:p>
          <a:p/>
          <a:p>
            <a:r>
              <a:t>CROSS-TRIAL CONTEXT (from press release):</a:t>
            </a:r>
          </a:p>
          <a:p>
            <a:r>
              <a:t>- Zumilokibart: 65.9% (Δ=41.9 from PBO)</a:t>
            </a:r>
          </a:p>
          <a:p>
            <a:r>
              <a:t>- Dupixent: 49.5% (Δ=36.8)</a:t>
            </a:r>
          </a:p>
          <a:p>
            <a:r>
              <a:t>- Ebglyss: 53.0% (Δ=37.7)</a:t>
            </a:r>
          </a:p>
          <a:p>
            <a:r>
              <a:t>- Nemluvio+TCS: 42.8% (Δ=13.2)</a:t>
            </a:r>
          </a:p>
          <a:p>
            <a:r>
              <a:t>- Adbry: 29.1% (Δ=17.0)</a:t>
            </a:r>
          </a:p>
          <a:p/>
          <a:p>
            <a:r>
              <a:t>KEY: Substantial overlap between agents. Phase 3 will tighten distribution.</a:t>
            </a:r>
          </a:p>
          <a:p/>
          <a:p>
            <a:r>
              <a:t>SOURCE: Lilly internal BNMA (random-effects model), monotherapy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DETAILS (from Apogee presentation):</a:t>
            </a:r>
          </a:p>
          <a:p>
            <a:r>
              <a:t>- ≥1 TEAE: Low 75.6%, Mid 60.0%, High 67.8%, PBO 67.0%</a:t>
            </a:r>
          </a:p>
          <a:p>
            <a:r>
              <a:t>- ≥1 Serious TEAE: Low 2.3%, Mid 1.2%, High 3.4%, PBO 2.3%</a:t>
            </a:r>
          </a:p>
          <a:p>
            <a:r>
              <a:t>- D/C due to TEAE: Low 1.2%, Mid 2.4%, High 3.4%, PBO 2.3%</a:t>
            </a:r>
          </a:p>
          <a:p>
            <a:r>
              <a:t>- Noninfective conjunctivitis by arm: Low 4.7%, Mid 5.9%, High 11.5%, PBO 0.0%</a:t>
            </a:r>
          </a:p>
          <a:p>
            <a:r>
              <a:t>- Pooled conjunctivitis (all preferred terms): Mid 10.6%, Low 15.1%, High 20.7%</a:t>
            </a:r>
          </a:p>
          <a:p/>
          <a:p>
            <a:r>
              <a:t>COMPETITIVE CONTEXT:</a:t>
            </a:r>
          </a:p>
          <a:p>
            <a:r>
              <a:t>- Lebrikizumab Ph3 conjunctivitis: ~7-8% (ADVOCATE)</a:t>
            </a:r>
          </a:p>
          <a:p>
            <a:r>
              <a:t>- Dupilumab conjunctivitis: ~8-10% (SOLO/CAFÉ)</a:t>
            </a:r>
          </a:p>
          <a:p>
            <a:r>
              <a:t>- Tralokinumab conjunctivitis: ~7-10% (ECZTRA)</a:t>
            </a:r>
          </a:p>
          <a:p/>
          <a:p>
            <a:r>
              <a:t>Mid dose conjunctivitis is slightly higher but manageable. Dose-dependent (higher at higher doses).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IMPLICATIONS:</a:t>
            </a:r>
          </a:p>
          <a:p/>
          <a:p>
            <a:r>
              <a:t>THREAT LEVEL: MODERATE-HIGH</a:t>
            </a:r>
          </a:p>
          <a:p>
            <a:r>
              <a:t>- If Phase 3 confirms: meaningful long-term threat to lebrikizumab via dosing convenience</a:t>
            </a:r>
          </a:p>
          <a:p>
            <a:r>
              <a:t>- Mitigant: Lebrikizumab already approved and launching; 3+ years market establishment window</a:t>
            </a:r>
          </a:p>
          <a:p>
            <a:r>
              <a:t>- Phase 2→3 attrition is common (~30% efficacy reduction typical)</a:t>
            </a:r>
          </a:p>
          <a:p/>
          <a:p>
            <a:r>
              <a:t>TIMELINES:</a:t>
            </a:r>
          </a:p>
          <a:p>
            <a:r>
              <a:t>- ADventure Phase 3 start: 2H 2026</a:t>
            </a:r>
          </a:p>
          <a:p>
            <a:r>
              <a:t>- Phase 3 readout: ~2028 (est.)</a:t>
            </a:r>
          </a:p>
          <a:p>
            <a:r>
              <a:t>- Regulatory filing: ~2028-2029</a:t>
            </a:r>
          </a:p>
          <a:p>
            <a:r>
              <a:t>- Potential launch: 2029</a:t>
            </a:r>
          </a:p>
          <a:p/>
          <a:p>
            <a:r>
              <a:t>LILLY POSITIONING:</a:t>
            </a:r>
          </a:p>
          <a:p>
            <a:r>
              <a:t>1. Lebrikizumab: established, approved, pediatric expansion, real-world evidence building</a:t>
            </a:r>
          </a:p>
          <a:p>
            <a:r>
              <a:t>2. Rocatinlimab (anti-OX40): differentiated MOA, Phase 3 ongoing</a:t>
            </a:r>
          </a:p>
          <a:p>
            <a:r>
              <a:t>3. Time advantage: build market share and physician loyalty before zumilokibart arrives</a:t>
            </a:r>
          </a:p>
          <a:p/>
          <a:p>
            <a:r>
              <a:t>OPEN QUESTIONS:</a:t>
            </a:r>
          </a:p>
          <a:p>
            <a:r>
              <a:t>- Will Q24W maintenance maintain efficacy long-term?</a:t>
            </a:r>
          </a:p>
          <a:p>
            <a:r>
              <a:t>- How will conjunctivitis profile evolve with longer exposure?</a:t>
            </a:r>
          </a:p>
          <a:p>
            <a:r>
              <a:t>- Can Apogee execute Phase 3→commercialization as small biotech?</a:t>
            </a:r>
          </a:p>
          <a:p/>
          <a:p>
            <a:r>
              <a:t>Review is required before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Compound Overview &amp; Development Timeline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(APG777): Apogee Therapeutics, anti-IL-13 mAb (Monotherapy AtD study)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Part B (dose-finding) induction results disclosed; Mid Dose in Part B is same dose as used in Part A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APEX Part A (proof-of-concept): Wk16 induction (July 2025); Wk52 maintenance (March 2026)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Ph3 AtD studies: 2 Monotherapy + 1 TCS Combination (ADventure) to start 2H 2026; possible approval in 2029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Other indications: Asthma (Ph2b start 1H2027); Eosinophilic Esophagitis (Ph2 start 2H2026)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Phase 2 APEX AtD Part B Induction Results (Dosing at Week 0, 2, 4, and 12); N=346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Dose Zum vs Pbo Wk 16: EASI-75 (65.9% vs 23.4%, Δ=42.5%); IGA0-1 (46% vs 10.9%, Δ=35.1%); Itch NRS (50.5% vs 13.9%, Δ=36.6%)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High Dose Zum efficacy results similar to Mid Dose Zum; Low dose Zum numerically lower than both other doses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Part B results generally similar to Part A; Mid-Dose Zum to be used in Ph3 AtD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Baseline severity in mid-dose Zum appears less severe than Dupi Ph2b (300mg Q2W) and comparable to Lebri Ph2b (250mg Q2W), but less severe than both Lebri and Dupi Ph3, respectively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Safety: Pooled conjunctivitis rate (across all Pref Terms) was 10.6% and 20.7% for mid dose Zum and high dose Zum, respectively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Takeaways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Wk16 EASI-75 and IGA 0-1 results are slightly better than comparable Ph2 Mono studies — vs Dupi (&lt;5%) on both endpoints, vs Lebri ~8% (EASI-75) and &lt;5% (IGA 0-1); similar to Upa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BNMA: mid dose ranks #2–3 for EASI-75 (overlaps upadacitinib 15mg; above lebrikizumab)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Probability of study success is very high (&gt;98%) for both Ph3 studies meeting both co-primary endpoints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 advantage (Q12W–Q24W = 2–4 injections/year) is a major differentiator vs all current AD biologics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comparisons are indirect. 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Study Design — APEX Phase 2 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Trial Overview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2, randomized, double-blind, PBO-controlled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N=346 (mITT): Low (N=86), Mid (N=85), High (N=87), PBO (N=88) — 1:1:1:1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Moderate-to-severe AD (EASI ≥16, vIGA ≥3, BSA ≥10%)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SC at W0, W2, W4, W12 (4 injections induction)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Maintenance: Q12W or Q24W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Primary: EASI-75 at Wk16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secondaries: IGA 0/1, EASI-90, I-NRS ≥4, EASI-100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Estimand: MCMC-MI (rescue/d/c = non-responder)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Baseline: EASI ~26, age ~37y, BSA ~40%</a:t>
            </a:r>
          </a:p>
        </p:txBody>
      </p:sp>
      <p:pic>
        <p:nvPicPr>
          <p:cNvPr id="5" name="Picture 4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 APEX Part B presentation, May 2026. 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Efficacy &amp; BNMA Context — EASI-75 at Week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mid dose peaks ~0.40 (PBO-adjusted effect)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Overlaps upadacitinib 15mg (~0.40) and dupilumab (~0.35)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Above lebrikizumab 250mg Q2W (~0.35)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Wide CrI due to Phase 2 sample (N=85)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Cannot definitively separate from dupilumab or lebrikizumab yet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3 data will narrow credible intervals</a:t>
            </a:r>
          </a:p>
        </p:txBody>
      </p:sp>
      <p:pic>
        <p:nvPicPr>
          <p:cNvPr id="5" name="Picture 4" descr="APG777_EASI75_Wk16_2026-07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Safety Profile &amp; 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Safety (Mid Dose, Week 16)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≥1 TEAE: 60.0% (vs 67.0% PBO) — lower than placebo; Serious TEAE: 1.2% (vs 2.3% PBO)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Discontinued due to TEAE: 2.4% (vs 2.3% PBO)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Conjunctivitis (pooled): 10.6% (dose-dependent; High dose 20.7%)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Most common AEs: nasopharyngitis (14.1%), headache (7.1%)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effect of ADAs on PK, efficacy, or safety; no new safety signals vs IL-13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Competitive Differentiation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2–4 annual injections vs 26 (dupilumab), 13–26 (lebrikizumab)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Highest EASI-75 Δ among IL-13s (41.9 vs 37.7 lebrikizumab, 17.0 tralokinumab)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Rapid onset: significant EASI reduction by Week 1–2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First biologic with Q3M + Q6M maintenance options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Conjunctivitis (10.6%) slightly above lebrikizumab (~7–8%)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Small Ph2 sample (N=85) — awaiting Phase 3 confirmation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Potential 2029 launch — 3+ years for Lilly to build lebrikizumab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for illustrative purposes only. 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Takeaways &amp;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Zumilokibart achieved potentially best-in-class EASI-75 Δ (41.9 vs PBO) with only 4 dosing days in induction</a:t>
            </a:r>
            <a:br/>
            <a:r>
              <a:t>• BNMA ranks mid dose in the top tier (overlapping upadacitinib/dupilumab) — above lebrikizumab for EASI-75</a:t>
            </a:r>
            <a:br/>
            <a:r>
              <a:t>• Q12W–Q24W dosing (2–4 injections/year) is a transformational convenience advantage vs all current AD biologics</a:t>
            </a:r>
            <a:br/>
            <a:r>
              <a:t>• Phase 3 (ADventure) initiation 2H 2026 → potential 2029 launch — Lilly has 3+ year window to build lebrikizumab share</a:t>
            </a:r>
            <a:br/>
            <a:r>
              <a:t>• Key uncertainty: Ph2 N=85 with higher placebo rate (23.4%) — efficacy may attenuate in larger Phase 3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8102E"/>
                </a:solidFill>
                <a:latin typeface="Arial"/>
              </a:defRPr>
            </a:pPr>
            <a: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Monitor ADventure Phase 3 design and enrollment closely (2H 2026 initiation expected)</a:t>
            </a:r>
            <a:br/>
            <a:r>
              <a:t>• Update BNMA with Phase 3 data when available to reassess competitive ranking</a:t>
            </a:r>
            <a:br/>
            <a:r>
              <a:t>• Strengthen lebrikizumab lifecycle: emphasize Q4W data, label breadth, real-world evidence, and safety track 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