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summarizes the Phase 2b Week 48 data for JNJ-4804 (JNJ-78934804), a co-antibody combining guselkumab (anti-IL-23) + golimumab (anti-TNFα) in a single SC injection. Data presented as late-breaking abstracts at DDW 2026 (May 2–5, 2026). JNJ-4804 showed superiority vs golimumab and numerical superiority vs guselkumab monotherapy in refractory UC and CD. Phase 3 DUET ENCORE trials planned. Key implications for Lilly IBD pipeline (mirikizumab/Omvoh).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JNJ-4804 (JNJ-78934804) is a fixed-dose combination of guselkumab (anti-IL-23p19, approved as TREMFYA) and golimumab (anti-TNFα, approved as SIMPONI) delivered as a single SC injection. The concept is 'co-antibody therapy' — simultaneous blockade of two complementary inflammatory pathways (IL-23 and TNF) to achieve molecular synergy.</a:t>
            </a:r>
          </a:p>
          <a:p/>
          <a:p>
            <a:r>
              <a:t>KEY CONTEXT:</a:t>
            </a:r>
          </a:p>
          <a:p>
            <a:r>
              <a:t>- Builds on VEGA Phase 2a proof-of-concept (UEG Week 2022)</a:t>
            </a:r>
          </a:p>
          <a:p>
            <a:r>
              <a:t>- Guselkumab already approved for UC, CD, psoriasis, PsA</a:t>
            </a:r>
          </a:p>
          <a:p>
            <a:r>
              <a:t>- Golimumab approved for UC, RA, PsA, AS</a:t>
            </a:r>
          </a:p>
          <a:p>
            <a:r>
              <a:t>- Also being studied in PsA (AFFINITY Phase 2a)</a:t>
            </a:r>
          </a:p>
          <a:p>
            <a:r>
              <a:t>- NCT05242484 (DUET-UC), NCT05242471 (DUET-CD)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RATIONALE FOR COMBINATION:</a:t>
            </a:r>
          </a:p>
          <a:p>
            <a:r>
              <a:t>IBD involves multiple inflammatory pathways. Many patients lose response to anti-TNF (infliximab, adalimumab, golimumab) or anti-IL-23 (guselkumab, risankizumab, mirikizumab) monotherapy. The VEGA Phase 2a study demonstrated proof of concept that induction with guselkumab + golimumab combination was superior to either alone in UC.</a:t>
            </a:r>
          </a:p>
          <a:p/>
          <a:p>
            <a:r>
              <a:t>VS LILLY (OMVOH/MIRIKIZUMAB):</a:t>
            </a:r>
          </a:p>
          <a:p>
            <a:r>
              <a:t>- Mirikizumab is anti-IL-23p19 monotherapy (same pathway as guselkumab)</a:t>
            </a:r>
          </a:p>
          <a:p>
            <a:r>
              <a:t>- JNJ-4804 adds TNF blockade ON TOP of IL-23 blockade</a:t>
            </a:r>
          </a:p>
          <a:p>
            <a:r>
              <a:t>- This could position JNJ-4804 as the option after IL-23 monotherapy failure</a:t>
            </a:r>
          </a:p>
          <a:p>
            <a:r>
              <a:t>- However, combination carries additive safety risk (infections, malignancy)</a:t>
            </a:r>
          </a:p>
          <a:p/>
          <a:p>
            <a:r>
              <a:t>VS VEDOLIZUMAB, UPADACITINIB, OZANIMOD:</a:t>
            </a:r>
          </a:p>
          <a:p>
            <a:r>
              <a:t>- Different MOAs entirely — JNJ-4804 targets upstream cytokines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 DESIGN DETAILS:</a:t>
            </a:r>
          </a:p>
          <a:p>
            <a:r>
              <a:t>- Both studies are dose-ranging Phase 2b with active comparators (not just placebo)</a:t>
            </a:r>
          </a:p>
          <a:p>
            <a:r>
              <a:t>- Unique design: tests combination vs EACH component monotherapy</a:t>
            </a:r>
          </a:p>
          <a:p>
            <a:r>
              <a:t>- This allows direct assessment of combination benefit over single agents</a:t>
            </a:r>
          </a:p>
          <a:p>
            <a:r>
              <a:t>- Highly refractory subpopulation analysis is the key differentiator</a:t>
            </a:r>
          </a:p>
          <a:p>
            <a:r>
              <a:t>- Week 48 primary endpoint (longer than typical induction-only studies)</a:t>
            </a:r>
          </a:p>
          <a:p/>
          <a:p>
            <a:r>
              <a:t>ENROLLMENT:</a:t>
            </a:r>
          </a:p>
          <a:p>
            <a:r>
              <a:t>- DUET-UC: 577 patients (large for Phase 2b)</a:t>
            </a:r>
          </a:p>
          <a:p>
            <a:r>
              <a:t>- DUET-CD: 703 patients (very large for Phase 2b)</a:t>
            </a:r>
          </a:p>
          <a:p>
            <a:r>
              <a:t>- Total program: N=1,280 — well-powered for signal detection</a:t>
            </a:r>
          </a:p>
          <a:p/>
          <a:p>
            <a:r>
              <a:t>DEFINITIONS:</a:t>
            </a:r>
          </a:p>
          <a:p>
            <a:r>
              <a:t>- UC clinical remission: SFS=0/1, RBS=0, endoscopy subscore 0/1</a:t>
            </a:r>
          </a:p>
          <a:p>
            <a:r>
              <a:t>- CD clinical remission: CDAI &lt;150</a:t>
            </a:r>
          </a:p>
          <a:p>
            <a:r>
              <a:t>- CD endoscopic response: &gt;50% SES-CD improvement or SES-CD ≤2</a:t>
            </a:r>
          </a:p>
          <a:p/>
          <a:p>
            <a:r>
              <a:t>Presented at DDW May 2–5, 2026 (Abstracts 1058d &amp; 979f)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DUET-CD KEY RESULTS (Week 48, JNJ-4804 high dose):</a:t>
            </a:r>
          </a:p>
          <a:p/>
          <a:p>
            <a:r>
              <a:t>OVERALL POPULATION:</a:t>
            </a:r>
          </a:p>
          <a:p>
            <a:r>
              <a:t>- Clinical remission (CDAI &lt;150): 50.8% JNJ-4804 vs 42.5% guselkumab vs 25.4% golimumab</a:t>
            </a:r>
          </a:p>
          <a:p>
            <a:r>
              <a:t>- Endoscopic response: 38.1% JNJ-4804 vs 33.9% guselkumab vs 19.8% golimumab</a:t>
            </a:r>
          </a:p>
          <a:p/>
          <a:p>
            <a:r>
              <a:t>HIGHLY REFRACTORY (failed ≥2 therapy classes, ~50% of enrolled):</a:t>
            </a:r>
          </a:p>
          <a:p>
            <a:r>
              <a:t>- Clinical remission: nearly 2x the highest comparator</a:t>
            </a:r>
          </a:p>
          <a:p>
            <a:r>
              <a:t>- Endoscopic response: &gt;60% higher than highest comparator</a:t>
            </a:r>
          </a:p>
          <a:p>
            <a:r>
              <a:t>- The exact rates were not disclosed in the press release but will be in the DDW abstract</a:t>
            </a:r>
          </a:p>
          <a:p/>
          <a:p>
            <a:r>
              <a:t>INTERPRETATION:</a:t>
            </a:r>
          </a:p>
          <a:p>
            <a:r>
              <a:t>- The overall population results show numerical advantage but the combo does NOT double guselkumab (50.8 vs 42.5)</a:t>
            </a:r>
          </a:p>
          <a:p>
            <a:r>
              <a:t>- The REFRACTORY subpopulation is where the combo truly differentiates</a:t>
            </a:r>
          </a:p>
          <a:p>
            <a:r>
              <a:t>- This makes clinical sense: patients who failed multiple MOAs may benefit most from dual pathway blockade</a:t>
            </a:r>
          </a:p>
          <a:p>
            <a:r>
              <a:t>- Golimumab alone performs poorly (25.4%) — consistent with its known modest CD efficacy</a:t>
            </a:r>
          </a:p>
          <a:p/>
          <a:p>
            <a:r>
              <a:t>KEY QUOTE (Sands): 'Results are particularly promising because they show meaningful clinical and endoscopic improvements in patients who have exhausted existing options.'</a:t>
            </a:r>
          </a:p>
          <a:p/>
          <a:p>
            <a:r>
              <a:t>PRESENTER: Dr. Bruce E. Sands, Icahn School of Medicine / Mount Sinai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DUET-UC KEY RESULTS (Week 48):</a:t>
            </a:r>
          </a:p>
          <a:p/>
          <a:p>
            <a:r>
              <a:t>OVERALL POPULATION:</a:t>
            </a:r>
          </a:p>
          <a:p>
            <a:r>
              <a:t>- Clinical remission: 41.0% JNJ-4804 vs 34.0% guselkumab vs 11.5% golimumab</a:t>
            </a:r>
          </a:p>
          <a:p>
            <a:r>
              <a:t>- SUPERIORITY demonstrated vs golimumab (primary endpoint MET)</a:t>
            </a:r>
          </a:p>
          <a:p>
            <a:r>
              <a:t>- Numerical superiority vs guselkumab (41.0 vs 34.0, Δ=7.0%)</a:t>
            </a:r>
          </a:p>
          <a:p/>
          <a:p>
            <a:r>
              <a:t>HIGHLY REFRACTORY (failed ≥2):</a:t>
            </a:r>
          </a:p>
          <a:p>
            <a:r>
              <a:t>- Clinical remission: ~60% higher than closest comparator</a:t>
            </a:r>
          </a:p>
          <a:p>
            <a:r>
              <a:t>- Assumes if guselkumab = closest comparator at ~25% → JNJ-4804 ~40% (estimated)</a:t>
            </a:r>
          </a:p>
          <a:p/>
          <a:p>
            <a:r>
              <a:t>CONTEXTUAL COMPARISON (other Wk48 UC maintenance data):</a:t>
            </a:r>
          </a:p>
          <a:p>
            <a:r>
              <a:t>- Mirikizumab (LUCENT-2 Wk52): clinical remission 49.9% (responders randomized)</a:t>
            </a:r>
          </a:p>
          <a:p>
            <a:r>
              <a:t>- Upadacitinib (U-ACHIEVE Wk52): clinical remission 42.3% (responders)</a:t>
            </a:r>
          </a:p>
          <a:p>
            <a:r>
              <a:t>- Risankizumab (INSPIRE Wk52): clinical remission 40.2% (responders)</a:t>
            </a:r>
          </a:p>
          <a:p>
            <a:r>
              <a:t>- NOTE: DUET enrolled ALL-COMERS (not re-randomized responders) → rates not directly comparable</a:t>
            </a:r>
          </a:p>
          <a:p/>
          <a:p>
            <a:r>
              <a:t>DEFINITIONS:</a:t>
            </a:r>
          </a:p>
          <a:p>
            <a:r>
              <a:t>- Clinical remission (UC): SFS=0 or 1, RBS=0, endoscopy subscore 0 or 1 (modified Mayo)</a:t>
            </a:r>
          </a:p>
          <a:p/>
          <a:p>
            <a:r>
              <a:t>Golimumab 11.5% is strikingly low — reflects that TNF monotherapy performs poorly in refractory UC patients.</a:t>
            </a:r>
          </a:p>
          <a:p/>
          <a:p>
            <a:r>
              <a:t>PRESENTER: Dr. Maria Abreu, Cedars-Sinai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TABLE — KEY OBSERVATIONS:</a:t>
            </a:r>
          </a:p>
          <a:p/>
          <a:p>
            <a:r>
              <a:t>1. COMBO vs GOLIMUMAB: Dramatic superiority in both diseases</a:t>
            </a:r>
          </a:p>
          <a:p>
            <a:r>
              <a:t>   - CD: +25.4% clinical remission, +18.3% endoscopic response</a:t>
            </a:r>
          </a:p>
          <a:p>
            <a:r>
              <a:t>   - UC: +29.5% clinical remission</a:t>
            </a:r>
          </a:p>
          <a:p>
            <a:r>
              <a:t>   - Golimumab alone performs poorly in this refractory population (25.4% CD, 11.5% UC)</a:t>
            </a:r>
          </a:p>
          <a:p/>
          <a:p>
            <a:r>
              <a:t>2. COMBO vs GUSELKUMAB: Modest numerical advantage in overall population</a:t>
            </a:r>
          </a:p>
          <a:p>
            <a:r>
              <a:t>   - CD: +8.3% clinical remission, +4.2% endoscopic response</a:t>
            </a:r>
          </a:p>
          <a:p>
            <a:r>
              <a:t>   - UC: +7.0% clinical remission</a:t>
            </a:r>
          </a:p>
          <a:p>
            <a:r>
              <a:t>   - The incremental benefit of adding TNF to IL-23 is ~7–8% in overall population</a:t>
            </a:r>
          </a:p>
          <a:p/>
          <a:p>
            <a:r>
              <a:t>3. REFRACTORY SUBGROUP: This is where combo differentiates dramatically</a:t>
            </a:r>
          </a:p>
          <a:p>
            <a:r>
              <a:t>   - Nearly 2× (CD) and ~60% higher (UC) than best comparator</a:t>
            </a:r>
          </a:p>
          <a:p>
            <a:r>
              <a:t>   - Adding TNF blockade provides much greater benefit when patients are refractory</a:t>
            </a:r>
          </a:p>
          <a:p/>
          <a:p>
            <a:r>
              <a:t>IMPLICATION: JNJ-4804 is positioned as a rescue therapy for patients who fail IL-23 or TNF monotherapy. The overall population benefit over guselkumab alone is modest (~7%), but the refractory benefit is substantial.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INTERPRETATION:</a:t>
            </a:r>
          </a:p>
          <a:p/>
          <a:p>
            <a:r>
              <a:t>The press release states safety was 'generally consistent with known profiles' — this is standard language for a positive safety readout. Key considerations:</a:t>
            </a:r>
          </a:p>
          <a:p/>
          <a:p>
            <a:r>
              <a:t>1. GUSELKUMAB SAFETY (known from TREMFYA label):</a:t>
            </a:r>
          </a:p>
          <a:p>
            <a:r>
              <a:t>   - Most common: URI, headache, injection site reactions, arthralgia, diarrhea</a:t>
            </a:r>
          </a:p>
          <a:p>
            <a:r>
              <a:t>   - IBD-specific: hepatic events (liver enzyme elevations, cholestasis) — in UC/CD label</a:t>
            </a:r>
          </a:p>
          <a:p>
            <a:r>
              <a:t>   - Generally favorable safety vs anti-TNF and JAK inhibitors</a:t>
            </a:r>
          </a:p>
          <a:p/>
          <a:p>
            <a:r>
              <a:t>2. GOLIMUMAB SAFETY (known from SIMPONI label):</a:t>
            </a:r>
          </a:p>
          <a:p>
            <a:r>
              <a:t>   - Anti-TNF class risks: serious infections, TB, opportunistic infections</a:t>
            </a:r>
          </a:p>
          <a:p>
            <a:r>
              <a:t>   - Malignancy risk (lymphoma, skin cancer)</a:t>
            </a:r>
          </a:p>
          <a:p>
            <a:r>
              <a:t>   - Demyelinating disorders, heart failure exacerbation</a:t>
            </a:r>
          </a:p>
          <a:p>
            <a:r>
              <a:t>   - Historically well-tolerated in UC (PURSUIT program)</a:t>
            </a:r>
          </a:p>
          <a:p/>
          <a:p>
            <a:r>
              <a:t>3. COMBINATION RISK:</a:t>
            </a:r>
          </a:p>
          <a:p>
            <a:r>
              <a:t>   - Dual immunosuppression concern → theoretical increased infection risk</a:t>
            </a:r>
          </a:p>
          <a:p>
            <a:r>
              <a:t>   - HOWEVER: VEGA Phase 2a showed acceptable safety</a:t>
            </a:r>
          </a:p>
          <a:p>
            <a:r>
              <a:t>   - Long-term extension data will be critical for Phase 3 decisions</a:t>
            </a:r>
          </a:p>
          <a:p/>
          <a:p>
            <a:r>
              <a:t>4. VS LILLY POSITIONING:</a:t>
            </a:r>
          </a:p>
          <a:p>
            <a:r>
              <a:t>   - Mirikizumab (Omvoh) has very clean safety profile (IL-23 monotherapy)</a:t>
            </a:r>
          </a:p>
          <a:p>
            <a:r>
              <a:t>   - JNJ-4804's additive TNF risk may be a differentiating safety concern</a:t>
            </a:r>
          </a:p>
          <a:p>
            <a:r>
              <a:t>   - This could be a Lilly talking point: 'clean IL-23 monotherapy vs combination immunosuppression'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VEGA → DUET PROGRESSION:</a:t>
            </a:r>
          </a:p>
          <a:p/>
          <a:p>
            <a:r>
              <a:t>VEGA (Phase 2a):</a:t>
            </a:r>
          </a:p>
          <a:p>
            <a:r>
              <a:t>- Panés J et al. UEG Week 2022, Abstract OP087</a:t>
            </a:r>
          </a:p>
          <a:p>
            <a:r>
              <a:t>- UC induction only (12 weeks)</a:t>
            </a:r>
          </a:p>
          <a:p>
            <a:r>
              <a:t>- Guselkumab + golimumab combo INDUCTION → guselkumab MONOTHERAPY maintenance</a:t>
            </a:r>
          </a:p>
          <a:p>
            <a:r>
              <a:t>- Showed that combo induction yielded higher rates of clinical response and histo-endoscopic mucosal improvement</a:t>
            </a:r>
          </a:p>
          <a:p>
            <a:r>
              <a:t>- Limitation: only tested combo during induction, not maintenance</a:t>
            </a:r>
          </a:p>
          <a:p/>
          <a:p>
            <a:r>
              <a:t>DUET (Phase 2b):</a:t>
            </a:r>
          </a:p>
          <a:p>
            <a:r>
              <a:t>- Tests the fixed-dose combination (JNJ-4804) throughout the treatment period</a:t>
            </a:r>
          </a:p>
          <a:p>
            <a:r>
              <a:t>- Fixed-dose single injection (not two separate shots)</a:t>
            </a:r>
          </a:p>
          <a:p>
            <a:r>
              <a:t>- Much larger N, dose-ranging, active-controlled</a:t>
            </a:r>
          </a:p>
          <a:p>
            <a:r>
              <a:t>- Includes the critical refractory subpopulation analysis</a:t>
            </a:r>
          </a:p>
          <a:p>
            <a:r>
              <a:t>- Week 48 → assesses durability, not just early response</a:t>
            </a:r>
          </a:p>
          <a:p/>
          <a:p>
            <a:r>
              <a:t>IMPLICATION: DUET answers whether SUSTAINED combination therapy adds value over monotherapy. Answer appears to be YES, particularly in refractory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CAVEAT — CROSS-TRIAL COMPARISON LIMITATIONS:</a:t>
            </a:r>
          </a:p>
          <a:p/>
          <a:p>
            <a:r>
              <a:t>DUET-UC used an ALL-COMERS design (all patients treated from baseline → Week 48). Most other UC maintenance trials use a RESPONDER RE-RANDOMIZATION design where only induction responders continue to maintenance.</a:t>
            </a:r>
          </a:p>
          <a:p/>
          <a:p>
            <a:r>
              <a:t>This means:</a:t>
            </a:r>
          </a:p>
          <a:p>
            <a:r>
              <a:t>- JNJ-4804's 41.0% is an ITT rate from baseline</a:t>
            </a:r>
          </a:p>
          <a:p>
            <a:r>
              <a:t>- Mirikizumab's 49.9% is among INDUCTION RESPONDERS only (selected population)</a:t>
            </a:r>
          </a:p>
          <a:p>
            <a:r>
              <a:t>- Direct comparison would require adjusting for induction response rates</a:t>
            </a:r>
          </a:p>
          <a:p/>
          <a:p>
            <a:r>
              <a:t>IF we assume ~60% induction response → ITT-equivalent maintenance rate:</a:t>
            </a:r>
          </a:p>
          <a:p>
            <a:r>
              <a:t>- Mirikizumab: ~30% ITT-equivalent (0.60 × 0.499)</a:t>
            </a:r>
          </a:p>
          <a:p>
            <a:r>
              <a:t>- Upadacitinib: ~29% ITT-equivalent</a:t>
            </a:r>
          </a:p>
          <a:p>
            <a:r>
              <a:t>- JNJ-4804: 41.0% ITT (as reported)</a:t>
            </a:r>
          </a:p>
          <a:p/>
          <a:p>
            <a:r>
              <a:t>This would actually make JNJ-4804's results IMPRESSIVE, but this is speculative arithmetic.</a:t>
            </a:r>
          </a:p>
          <a:p/>
          <a:p>
            <a:r>
              <a:t>ALSO: DUET population is more refractory (≥1 advanced therapy failure required) vs some registrational trials that included bio-naïve patients.</a:t>
            </a:r>
          </a:p>
          <a:p/>
          <a:p>
            <a:r>
              <a:t>BOTTOM LINE: Cannot directly rank JNJ-4804 vs approved agents without harmonized analysis. But the signal is strong, especially in the refractory subgroup.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 LANDSCAPE CONTEXT:</a:t>
            </a:r>
          </a:p>
          <a:p/>
          <a:p>
            <a:r>
              <a:t>- JNJ-4804 50.8% clinical remission (CDAI &lt;150) is in the same range as risankizumab and upadacitinib</a:t>
            </a:r>
          </a:p>
          <a:p>
            <a:r>
              <a:t>- HOWEVER: same caveat applies — DUET is ITT from baseline, others are responder-rerandomized</a:t>
            </a:r>
          </a:p>
          <a:p>
            <a:r>
              <a:t>- Guselkumab alone in DUET-CD achieved 42.5% — consistent with GALAXI Phase 3 data</a:t>
            </a:r>
          </a:p>
          <a:p>
            <a:r>
              <a:t>- Golimumab alone: 25.4% — confirms TNF monotherapy is suboptimal in refractory CD</a:t>
            </a:r>
          </a:p>
          <a:p/>
          <a:p>
            <a:r>
              <a:t>VS MIRIKIZUMAB IN CD:</a:t>
            </a:r>
          </a:p>
          <a:p>
            <a:r>
              <a:t>- Lilly's mirikizumab Phase 3 in CD (VIVID-1) is ongoing/recently read out</a:t>
            </a:r>
          </a:p>
          <a:p>
            <a:r>
              <a:t>- If mirikizumab achieves ~45-52% maintenance remission (similar to risankizumab), then JNJ-4804's combo would show ~similar overall but differentiate in refractory subgroup</a:t>
            </a:r>
          </a:p>
          <a:p/>
          <a:p>
            <a:r>
              <a:t>ENDOSCOPIC RESPONSE:</a:t>
            </a:r>
          </a:p>
          <a:p>
            <a:r>
              <a:t>- 38.1% (JNJ-4804) vs 33.9% (guselkumab) in overall population</a:t>
            </a:r>
          </a:p>
          <a:p>
            <a:r>
              <a:t>- Small increment (+4.2%) over guselkumab alone</a:t>
            </a:r>
          </a:p>
          <a:p>
            <a:r>
              <a:t>- Refractory subgroup showed &gt;60% higher endoscopic response (dramatic)</a:t>
            </a:r>
          </a:p>
          <a:p/>
          <a:p>
            <a:r>
              <a:t>KEY IMPLICATION: The combination's value proposition is PRIMARILY in the refractory population, not the overall population where incremental benefit over IL-23 monotherapy is modest.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HEAD-TO-HEAD POSITIONING:</a:t>
            </a:r>
          </a:p>
          <a:p/>
          <a:p>
            <a:r>
              <a:t>JNJ-4804 THREAT TO OMVOH:</a:t>
            </a:r>
          </a:p>
          <a:p>
            <a:r>
              <a:t>1. If patients fail Omvoh (anti-IL-23 mono), JNJ-4804 offers next-step combo</a:t>
            </a:r>
          </a:p>
          <a:p>
            <a:r>
              <a:t>2. JNJ-4804's refractory data positions it as THE rescue therapy</a:t>
            </a:r>
          </a:p>
          <a:p>
            <a:r>
              <a:t>3. Physicians may skip IL-23 mono and go straight to combo in severe patients</a:t>
            </a:r>
          </a:p>
          <a:p>
            <a:r>
              <a:t>4. J&amp;J can position as 'the only therapy that blocks two pathways in one shot'</a:t>
            </a:r>
          </a:p>
          <a:p/>
          <a:p>
            <a:r>
              <a:t>OMVOH DEFENSES:</a:t>
            </a:r>
          </a:p>
          <a:p>
            <a:r>
              <a:t>1. Already approved and building market share</a:t>
            </a:r>
          </a:p>
          <a:p>
            <a:r>
              <a:t>2. JNJ-4804 Phase 3 + approval = ~3-4 year runway for Omvoh</a:t>
            </a:r>
          </a:p>
          <a:p>
            <a:r>
              <a:t>3. Safety advantage: no TNF-associated risks (infections, malignancy)</a:t>
            </a:r>
          </a:p>
          <a:p>
            <a:r>
              <a:t>4. Most patients respond to IL-23 monotherapy — combo not needed for majority</a:t>
            </a:r>
          </a:p>
          <a:p>
            <a:r>
              <a:t>5. Cost: combo likely more expensive; payers may require mono failure first</a:t>
            </a:r>
          </a:p>
          <a:p/>
          <a:p>
            <a:r>
              <a:t>LIKELY MARKET SEGMENTATION:</a:t>
            </a:r>
          </a:p>
          <a:p>
            <a:r>
              <a:t>- First-line advanced therapy: IL-23 monotherapy (Omvoh, Tremfya, Skyrizi)</a:t>
            </a:r>
          </a:p>
          <a:p>
            <a:r>
              <a:t>- Second/third-line refractory: JNJ-4804 combo (the 'rescue' position)</a:t>
            </a:r>
          </a:p>
          <a:p>
            <a:r>
              <a:t>- This could actually COMPLEMENT Omvoh if Lilly positions smartly</a:t>
            </a:r>
          </a:p>
          <a:p/>
          <a:p>
            <a:r>
              <a:t>TIMELINE: Phase 3 DUET ENCORE start → ~3 years to data → approval ~2030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ASSESSMENT:</a:t>
            </a:r>
          </a:p>
          <a:p/>
          <a:p>
            <a:r>
              <a:t>THREAT LEVEL: MODERATE (increasing to HIGH if Phase 3 confirms)</a:t>
            </a:r>
          </a:p>
          <a:p/>
          <a:p>
            <a:r>
              <a:t>NEAR-TERM (2026–2029):</a:t>
            </a:r>
          </a:p>
          <a:p>
            <a:r>
              <a:t>- Omvoh continues to build UC market share unimpeded</a:t>
            </a:r>
          </a:p>
          <a:p>
            <a:r>
              <a:t>- Mirikizumab CD approval provides additional growth runway</a:t>
            </a:r>
          </a:p>
          <a:p>
            <a:r>
              <a:t>- JNJ-4804 is in Phase 2b → Phase 3; no commercial impact yet</a:t>
            </a:r>
          </a:p>
          <a:p/>
          <a:p>
            <a:r>
              <a:t>MEDIUM-TERM (2029–2031):</a:t>
            </a:r>
          </a:p>
          <a:p>
            <a:r>
              <a:t>- JNJ-4804 Phase 3 readout expected ~2028-2029</a:t>
            </a:r>
          </a:p>
          <a:p>
            <a:r>
              <a:t>- If positive → regulatory filing → approval ~2030</a:t>
            </a:r>
          </a:p>
          <a:p>
            <a:r>
              <a:t>- Impact on Omvoh depends on label (refractory only? or broad?)</a:t>
            </a:r>
          </a:p>
          <a:p/>
          <a:p>
            <a:r>
              <a:t>LONG-TERM MARKET DYNAMICS:</a:t>
            </a:r>
          </a:p>
          <a:p>
            <a:r>
              <a:t>- IBD market likely to segment by line of therapy</a:t>
            </a:r>
          </a:p>
          <a:p>
            <a:r>
              <a:t>- First-line biologics: IL-23 mono (Omvoh, Tremfya, Skyrizi), JAK (Rinvoq)</a:t>
            </a:r>
          </a:p>
          <a:p>
            <a:r>
              <a:t>- Refractory rescue: JNJ-4804 combo (if approved)</a:t>
            </a:r>
          </a:p>
          <a:p>
            <a:r>
              <a:t>- This actually creates a clean positioning for Omvoh</a:t>
            </a:r>
          </a:p>
          <a:p/>
          <a:p>
            <a:r>
              <a:t>RISKS:</a:t>
            </a:r>
          </a:p>
          <a:p>
            <a:r>
              <a:t>- If JNJ-4804 gets broad label (not restricted to refractory), it could compete directly</a:t>
            </a:r>
          </a:p>
          <a:p>
            <a:r>
              <a:t>- If combo becomes first-line in severe patients, it erodes all monotherapy market share</a:t>
            </a:r>
          </a:p>
          <a:p>
            <a:r>
              <a:t>- J&amp;J has massive commercial reach in GI (TREMFYA + STELARA legacy)</a:t>
            </a:r>
          </a:p>
          <a:p/>
          <a:p>
            <a:r>
              <a:t>OPPORTUNITY:</a:t>
            </a:r>
          </a:p>
          <a:p>
            <a:r>
              <a:t>- Lilly could develop its own combination strategies</a:t>
            </a:r>
          </a:p>
          <a:p>
            <a:r>
              <a:t>- Mirikizumab + vedolizumab? Mirikizumab + JAK? (different combinations)</a:t>
            </a:r>
          </a:p>
          <a:p>
            <a:r>
              <a:t>- Or emphasize safety/convenience advantage of mono for the majority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JNJ-4804 is a credible, differentiated competitor that validates dual-pathway combination therapy in IBD. The key finding is that the combo shines brightest in the REFRACTORY population — patients who have exhausted existing options.</a:t>
            </a:r>
          </a:p>
          <a:p/>
          <a:p>
            <a:r>
              <a:t>For Lilly/Omvoh, this is NOT an existential threat but a market-shaping event:</a:t>
            </a:r>
          </a:p>
          <a:p>
            <a:r>
              <a:t>1. Omvoh has 3–4 years of uncontested growth in its approved indications</a:t>
            </a:r>
          </a:p>
          <a:p>
            <a:r>
              <a:t>2. The modest overall population benefit (+7%) over IL-23 mono suggests most patients won't need combo</a:t>
            </a:r>
          </a:p>
          <a:p>
            <a:r>
              <a:t>3. The refractory segment is real but relatively small (subset of the total market)</a:t>
            </a:r>
          </a:p>
          <a:p>
            <a:r>
              <a:t>4. Safety of combo (dual immunosuppression) may limit broad adoption</a:t>
            </a:r>
          </a:p>
          <a:p/>
          <a:p>
            <a:r>
              <a:t>OPEN QUESTIONS:</a:t>
            </a:r>
          </a:p>
          <a:p>
            <a:r>
              <a:t>1. Will Phase 3 confirm the refractory subgroup finding? (Phase 2 subgroups often don't replicate)</a:t>
            </a:r>
          </a:p>
          <a:p>
            <a:r>
              <a:t>2. What will the label look like? Restricted to refractory? Or broad?</a:t>
            </a:r>
          </a:p>
          <a:p>
            <a:r>
              <a:t>3. Will payers require IL-23 mono failure before approving combo?</a:t>
            </a:r>
          </a:p>
          <a:p>
            <a:r>
              <a:t>4. What is the pricing strategy for a combination product?</a:t>
            </a:r>
          </a:p>
          <a:p>
            <a:r>
              <a:t>5. Should Lilly explore its own combination approaches?</a:t>
            </a:r>
          </a:p>
          <a:p/>
          <a:p>
            <a:r>
              <a:t>Review is required before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Competitor Landscape Update:</a:t>
            </a:r>
            <a:br/>
            <a:r>
              <a:t>JNJ-4804 (Guselkumab + Golimumab)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D6B0"/>
                </a:solidFill>
                <a:latin typeface="Arial"/>
              </a:defRPr>
            </a:pPr>
            <a:r>
              <a:t>DUET-UC &amp; DUET-CD — Phase 2b Week 48 Data</a:t>
            </a:r>
            <a:br/>
            <a:r>
              <a:t>Ulcerative Colitis &amp; Crohn's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July 2026</a:t>
            </a:r>
            <a:br/>
            <a:r>
              <a:t>CONFIDENTIAL — For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1">
                <a:solidFill>
                  <a:srgbClr val="F5D6B0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Drug Overview: JNJ-4804 (JNJ-78934804)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Drug 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Generic: JNJ-4804 | Code: JNJ-78934804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Sponsor: Johnson &amp; Johnson (Janssen)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Modality: Fixed-dose co-antibody (bispecific-like) — single SC injection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Targets: IL-23 (guselkumab/TREMFYA) + TNF-α (golimumab/SIMPONI)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Route: Subcutaneous injection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Rationale: Orthogonal pathway blockade → molecular synergy in IBD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Phase: Phase 2b complete (DUET-UC &amp; DUET-CD); Phase 3 DUET ENCORE planned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First and only fixed-dose co-antibody designed for IBD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Mechanism of Action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Dual Pathway Blockade (IL-23 + TNF-α)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IL-23 pathway: drives Th17/Th22 cells, mucosal inflammation, fibrosis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TNF-α pathway: drives acute inflammation, immune cell recruitment, tissue damage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Orthogonal mechanisms → complementary rather than redundant blockade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Fixed-dose combination in single injection (not separate administrations)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Hypothesis: patients failing monotherapy may benefit from dual blockade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Differentiators vs Current Landscape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First co-antibody therapy designed for IBD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Targets the two most validated IBD pathways simultaneously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Single injection simplicity vs combination regimens of separate drugs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Leverages two well-characterized, approved agents (safety track record)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Specifically designed for refractory patients (failed ≥1 advanced therapy)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3 planned: DUET ENCORE-UC and DUET ENCORE-CD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DUET Study Program — Design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DUET-UC (NCT05242484)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2b, randomized, double-blind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N=577 enrolled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Population: Mod-severe UC, inadequate response/intolerance to ≥1 systemic therapy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~50% had failed ≥2 therapy classes (highly refractory)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Arms: JNJ-4804 (high/mid/low dose) vs Guselkumab vs Golimumab vs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Primary: Clinical remission at Wk48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secondary: CS-free remission, endoscopic improvement, HREI at Wk48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DUET-CD (NCT05242471)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2b, randomized, double-blind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N=703 enrolled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Population: Mod-severe CD, inadequate response/intolerance to ≥1 systemic therapy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~50% had failed ≥2 therapy classes (highly refractory)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Arms: JNJ-4804 (high/mid/low dose) vs Guselkumab vs Golimumab vs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Co-primary: Clinical remission + Endoscopic response at Wk48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secondary: Endoscopic remission, deep remission, CS-free remission at Wk48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ClinicalTrials.gov &amp; J&amp;J DDW 2026 press release (May 5, 2026). 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DUET-CD: Key Efficacy Results at Week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Overall Population — JNJ-4804 High Dose (vs Comparators)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Clinical remission (CDAI &lt;150): JNJ-4804 50.8% vs Golimumab 25.4% vs Guselkumab 42.5%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Endoscopic response (&gt;50% SES-CD improvement or ≤2): JNJ-4804 38.1% vs Golimumab 19.8% vs Guselkumab 33.9%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JNJ-4804 doubled golimumab on clinical remission (50.8% vs 25.4%)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JNJ-4804 numerically superior to guselkumab monotherapy (+8.3% clinical remission, +4.2% endoscopic response)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Highly Refractory Subpopulation (Failed ≥2 Therapy Classes)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Clinical remission: JNJ-4804 nearly DOUBLE the highest comparator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Endoscopic response: JNJ-4804 &gt;60% higher than highest comparator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Clinically meaningful improvements across ALL endpoints vs monotherapies and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This is the key differentiating finding — combo shines in hardest-to-treat patients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Exact percentages for refractory subpopulation not disclosed in press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Data represents JNJ-4804 high dose group. Source: J&amp;J DDW 2026 press release. Review is required before disclosure.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DUET-UC: Key Efficacy Results at Week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Overall Population — JNJ-4804 vs Comparators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Clinical remission (modified Mayo): JNJ-4804 41.0% vs Golimumab 11.5% vs Guselkumab 34.0%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JNJ-4804 demonstrated SUPERIOR clinical remission vs golimumab (41.0% vs 11.5%; p met)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JNJ-4804 numerically higher than guselkumab monotherapy (+7.0% absolute difference)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 endpoint MET for JNJ-4804 vs golimumab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Highly Refractory Subpopulation (Failed ≥2 Therapy Classes)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Clinical remission: JNJ-4804 almost 60% HIGHER than closest comparator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Clinically meaningful improvements across ALL endpoints vs monotherapies and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secondary endpoints (CS-free remission, endoscopic improvement, HREI) all positive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The highly refractory population is where combo delivers greatest incremental benefit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Clinical remission defined as SFS 0/1, RBS 0, endoscopy subscore 0/1. Source: J&amp;J DDW 2026. Review is required before disclosure.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DUET Results Summary — JNJ-4804 vs Monotherapies at Week 48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JNJ-4804 (High)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Guselkumab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Golimumab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Δ vs Guse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Δ vs Goli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Clinical Remission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DUET-CD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+8.3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+25.4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Endoscopic Response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DUET-CD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+4.2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+18.3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Clinical Remission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DUET-UC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+7.0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+29.5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Refr. Clin. Rem.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DUET-CD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~2× highest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Comparator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Refr. Clin. Rem.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DUET-UC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~60% &gt; closest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Data from press release (May 5, 2026). Refractory subgroup exact rates not disclosed. Review is required before disclosure.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Safety Summary — DUET-UC &amp; DUET-CD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Overall Safety Through Week 48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Safety findings 'generally consistent with the known profiles of the component monotherapies'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new safety signals beyond what is known for guselkumab and golimumab individually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disproportionate increase in serious infections or malignancies reported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guselkumab (TREMFYA) and golimumab (SIMPONI) have well-established safety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Known Class Risks (Component Therapies)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Guselkumab (anti-IL-23): infections, hepatic events (UC/CD label), injection site reactions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Golimumab (anti-TNF): serious infections, TB reactivation, malignancy risk, demyelination, heart failure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Combination: theoretical additive immunosuppression risk (dual pathway blockade)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Long-term extension (through 2029) will further characterize combination safety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Full safety data to be presented in DDW abstract and subsequent publications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Detailed safety data pending full publication. Review is required before disclosure.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Context: VEGA Phase 2a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VEGA Study (Phase 2a, Proof of Concept)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Presented at UEG Week 2022 (Abstract OP087)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Induction combination (guselkumab + golimumab) followed by guselkumab maintenance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Demonstrated superiority of combo induction over monotherapies in UC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Provided the scientific rationale for the DUET Phase 2b program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Sequential design: combo induction → mono maintenance (unlike DUET's combo throughout)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DUET Program Advances Beyond VEGA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DUET tests combination therapy throughout (induction + maintenance), not just induction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Larger sample sizes (577 UC + 703 CD vs VEGA's smaller POC)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Includes highly refractory subpopulation (failed ≥2 therapy classes)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Dose-ranging with 3 dose levels (high/mid/low)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Week 48 primary endpoint (long-term assessment)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Active comparators (guselkumab &amp; golimumab alone) — not just placebo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Landscape — UC Advanced Therapies (Maintenance/Wk48+)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Sponsor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MOA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Clin. Rem. (Wk48–52)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JNJ-4804 (high dose)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 + Anti-TNF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All-comers (≥1 failure)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2b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Mirikizumab (Omvoh)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Lilly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Anti-IL-23p19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49.9%*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Responder re-randomized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Guselkumab (Tremfya)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34.0%†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All-comers (≥1 failure)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Upadacitinib (Rinvoq)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JAK1 inhibitor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42.3%*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Responder re-randomized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Risankizumab (Skyrizi)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40.2%*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Responder re-randomized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Vedolizumab (Entyvio)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Takeda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Anti-α4β7 integrin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41.8%*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Responder re-randomized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Ozanimod (Zeposia)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S1P modulator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37.0%*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Responder re-randomized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*Responder re-randomized maintenance designs (rates apply to induction responders only). †From DUET-UC comparator arm. NOT directly comparable due to different designs. Review is required before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Landscape — CD Advanced Therapies (Maintenance/Wk48+)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Sponsor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MOA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Clin. Rem. (Wk48–52)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Endo. Response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JNJ-4804 (high dose)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 + Anti-TNF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2b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Mirikizumab (Omvoh)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Lilly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Anti-IL-23p19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In trials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In trials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Guselkumab (Tremfya)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42.5%†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33.9%†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Risankizumab (Skyrizi)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Anti-IL-23p19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52%*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47%*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Upadacitinib (Rinvoq)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JAK1 inhibitor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52.0%*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~46%*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Vedolizumab (Entyvio)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Takeda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Anti-α4β7 integrin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39.0%*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Adalimumab (Humira)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Anti-TNF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36.0%*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*Responder re-randomized designs (not ITT from baseline). †From DUET-CD comparator arm. NOT directly comparable. Review is required before disclosure.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JNJ-4804 vs Mirikizumab (Omvoh) — Lilly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JNJ-4804 Strengths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Dual pathway (IL-23 + TNF) → broader inflammation control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Single injection convenience (fixed-dose combination)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Strong refractory data (nearly 2× best mono in CD)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Backed by two approved, well-characterized molecules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J&amp;J has GI franchise depth (TREMFYA, STELARA legacy)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3 trials starting (DUET ENCORE)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Mirikizumab (Omvoh) Strengths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Already APPROVED for UC (2023); CD approval anticipated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Clean safety profile (IL-23 monotherapy, no TNF risk)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additive immunosuppression concerns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IV induction → SC maintenance (flexibility)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Strong LUCENT-2 data (49.9% maintenance remission)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Lilly commercial infrastructure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only; no head-to-head data. Review is required before disclosure.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Clinical &amp; Strategic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What This Means for IBD Treatment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First demonstration that a fixed-dose co-antibody outperforms individual components in IBD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Validates dual pathway (IL-23 + TNF) synergy hypothesis from VEGA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Greatest benefit in refractory patients (failed ≥2 classes) — addresses critical unmet need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May establish new treatment paradigm: mono failure → combination rescue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3 DUET ENCORE trials will determine if results hold in registrational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Competitive Threat Assessment for Lilly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MODERATE threat to mirikizumab/Omvoh in the near term (3–4 years to approval)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LOW threat to first-line positioning (most patients don't need combo upfront)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HIGH threat in the refractory segment if confirmed in Phase 3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May position Omvoh as the clean first-line option before combo escalation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Combination approach could trigger broader industry shift toward dual-pathway therapies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Takeaways &amp;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JNJ-4804 (guselkumab + golimumab co-antibody) met primary endpoint in DUET-UC: superior clinical remission vs golimumab (41.0% vs 11.5%) at Week 48</a:t>
            </a:r>
            <a:br/>
            <a:r>
              <a:t>• In DUET-CD: JNJ-4804 achieved 50.8% clinical remission and 38.1% endoscopic response — numerically superior to both monotherapies</a:t>
            </a:r>
            <a:br/>
            <a:r>
              <a:t>• Greatest differentiation in highly refractory patients (failed ≥2 therapy classes): nearly 2× (CD) and ~60% higher (UC) than best monotherapy comparator</a:t>
            </a:r>
            <a:br/>
            <a:r>
              <a:t>• Overall population benefit over guselkumab alone is modest (+7–8% clinical remission) — combo value is primarily in the refractory segment</a:t>
            </a:r>
            <a:br/>
            <a:r>
              <a:t>• Safety consistent with known profiles of component therapies; no new signals through Week 48</a:t>
            </a:r>
            <a:br/>
            <a:r>
              <a:t>• Phase 3 DUET ENCORE trials (UC + CD) planned — potential approval ~2030; JNJ-4804 also being studied in PsA (AFFINITY)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8102E"/>
                </a:solidFill>
                <a:latin typeface="Arial"/>
              </a:defRPr>
            </a:pPr>
            <a: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Monitor DUET ENCORE Phase 3 trial designs and enrollment (initiating soon)</a:t>
            </a:r>
            <a:br/>
            <a:r>
              <a:t>• Track DDW 2026 full abstract data (refractory subgroup exact rates, secondary endpoints)</a:t>
            </a:r>
            <a:br/>
            <a:r>
              <a:t>• Assess implications for Omvoh positioning: emphasize clean IL-23 monotherapy as first-line before combination escalation</a:t>
            </a:r>
            <a:br/>
            <a:r>
              <a:t>• Evaluate Lilly's own combination therapy opportunities in IBD (mirikizumab + partner agent)</a:t>
            </a:r>
            <a:br/>
            <a:r>
              <a:t>• Update IBD competitive model with JNJ-4804 timeline: Phase 3 readout ~2028–2029, potential approval ~2030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